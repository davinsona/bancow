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isión" id="{560befcd-107f-dcec-2172-4e34d73f6ca8}">
          <p14:sldIdLst>
            <p14:sldId id="256"/>
          </p14:sldIdLst>
        </p14:section>
        <p14:section name="Datos" id="{a6f5467d-f737-e4b6-9323-aa6fad9f274a}">
          <p14:sldIdLst>
            <p14:sldId id="257"/>
          </p14:sldIdLst>
        </p14:section>
        <p14:section name="Alternativas" id="{2ec8b1d4-c524-4da4-8154-57194fde2e9b}">
          <p14:sldIdLst>
            <p14:sldId id="258"/>
          </p14:sldIdLst>
        </p14:section>
        <p14:section name="Valor" id="{2f4cdfc6-85ea-ff4b-0b3c-8c638fdf3376}">
          <p14:sldIdLst>
            <p14:sldId id="259"/>
          </p14:sldIdLst>
        </p14:section>
        <p14:section name="Piloto" id="{8fbf6ef6-046b-4503-306a-0806811a7198}">
          <p14:sldIdLst>
            <p14:sldId id="260"/>
          </p14:sldIdLst>
        </p14:section>
        <p14:section name="Recomendación" id="{7c86dc3b-b9f4-e205-0252-129f22db539a}">
          <p14:sldIdLst>
            <p14:sldId id="261"/>
          </p14:sldIdLst>
        </p14:section>
        <p14:section name="Anexo" id="{8b87a50b-c33f-b6f8-6e27-f6ed11eace78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0978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43F5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7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A67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3A1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18 variables ex ante</c:v>
                  </c:pt>
                  <c:pt idx="1">
                    <c:v>+ resultado_gestion_30d</c:v>
                  </c:pt>
                  <c:pt idx="2">
                    <c:v>+ dias_hasta_renovacion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0.82</c:v>
                </c:pt>
                <c:pt idx="1">
                  <c:v>0.95</c:v>
                </c:pt>
                <c:pt idx="2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43F5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43F5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.5"/>
        </c:scaling>
        <c:delete val="0"/>
        <c:axPos val="b"/>
        <c:majorGridlines>
          <c:spPr>
            <a:ln w="6350" cap="flat">
              <a:solidFill>
                <a:srgbClr val="D6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6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 neto</c:v>
                </c:pt>
              </c:strCache>
            </c:strRef>
          </c:tx>
          <c:spPr>
            <a:solidFill>
              <a:srgbClr val="678A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43F5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78A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A67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78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670C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6E8E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Actual</c:v>
                  </c:pt>
                  <c:pt idx="1">
                    <c:v>A XGBoost</c:v>
                  </c:pt>
                  <c:pt idx="2">
                    <c:v>B Logística</c:v>
                  </c:pt>
                  <c:pt idx="3">
                    <c:v>D Uplift</c:v>
                  </c:pt>
                  <c:pt idx="4">
                    <c:v>C (fuga)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94.5</c:v>
                </c:pt>
                <c:pt idx="1">
                  <c:v>218.4</c:v>
                </c:pt>
                <c:pt idx="2">
                  <c:v>237.4</c:v>
                </c:pt>
                <c:pt idx="3">
                  <c:v>207.4</c:v>
                </c:pt>
                <c:pt idx="4">
                  <c:v>360.9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043F5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43F5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</c:scaling>
        <c:delete val="0"/>
        <c:axPos val="l"/>
        <c:majorGridlines>
          <c:spPr>
            <a:ln w="6350" cap="flat">
              <a:solidFill>
                <a:srgbClr val="D6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6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la restricción es la capacidad, así que el problema es decidir a quién contactar, no predecir. KPI incremental neto de riesgo. 12 % sin denominador no es una meta. La pregunta única define si podemos medir causalidad con el histórico.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base sirve para rankear propensión con pocas variables, no para riesgo ni incrementalidad. Dos variables de fuga explican el AUC de C (ver slide 3). Partición temporal con gap; sin remuestreo.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Repliqué con la base: el AUC de C solo se obtiene incluyendo el resultado de gestión. A supera el techo limpio y tiene la peor mora. B es coherente y calibrado. D es el único que mide incrementalidad pero su evidencia es incompleta.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gana por riesgo, no por conversión. El valor no es incremental: por eso el piloto. Capacidad: ranking global sobrecarga tres regionales; cuotas con transferencia por valor marginal.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brazos: champion, challenger (B), holdout. Potencia calculada con 3,6 % base. Riesgo por política, no por piloto. Reglas pre-registradas y monitoreo con acciones.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Pedimos tres decisiones. Ruta 90 días. Gobierno: equidad medida por corte, documentación auditable, SHAP es correlación.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soporte para preguntas técnicas.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A72"/>
                </a:solidFill>
              </a:rPr>
              <a:t>Banco W · Prueba técnica Científico de Datos · Davinson Arteaga · Data Scientist · AI Engineer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043F5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E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E6F2F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1 · Decidir a quién contactar con 8.000 cupos al mes, no solo predecir quién renueva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EN CIFRAS (ENUNCIADO Y ANEXO)</a:t>
            </a:r>
            <a:endParaRPr lang="en-US" sz="1100" dirty="0"/>
          </a:p>
        </p:txBody>
      </p:sp>
      <p:sp>
        <p:nvSpPr>
          <p:cNvPr id="4" name="CAPACIDAD"/>
          <p:cNvSpPr/>
          <p:nvPr/>
        </p:nvSpPr>
        <p:spPr>
          <a:xfrm>
            <a:off x="457200" y="1554480"/>
            <a:ext cx="2697480" cy="1600200"/>
          </a:xfrm>
          <a:prstGeom prst="roundRect">
            <a:avLst>
              <a:gd name="adj" fmla="val 6857"/>
            </a:avLst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68249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38528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8.000 de 25.000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514600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32 % de los elegibles recibe gestión. La restricción es la capacidad, no la demanda.</a:t>
            </a:r>
            <a:endParaRPr lang="en-US" sz="1100" dirty="0"/>
          </a:p>
        </p:txBody>
      </p:sp>
      <p:sp>
        <p:nvSpPr>
          <p:cNvPr id="8" name="HOY"/>
          <p:cNvSpPr/>
          <p:nvPr/>
        </p:nvSpPr>
        <p:spPr>
          <a:xfrm>
            <a:off x="3291840" y="1554480"/>
            <a:ext cx="2697480" cy="1600200"/>
          </a:xfrm>
          <a:prstGeom prst="roundRect">
            <a:avLst>
              <a:gd name="adj" fmla="val 6857"/>
            </a:avLst>
          </a:prstGeom>
          <a:solidFill>
            <a:srgbClr val="EEF8F7"/>
          </a:solidFill>
          <a:ln w="12700">
            <a:solidFill>
              <a:srgbClr val="EEF8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56432" y="168249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1938528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3,6 % = 288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456432" y="2514600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Renovaciones/mes sobre los 8.000 gestionados por la herramienta actual (mora 30+: 5,1 %).</a:t>
            </a:r>
            <a:endParaRPr lang="en-US" sz="1100" dirty="0"/>
          </a:p>
        </p:txBody>
      </p:sp>
      <p:sp>
        <p:nvSpPr>
          <p:cNvPr id="12" name="ASPIRACIÓN 12 %"/>
          <p:cNvSpPr/>
          <p:nvPr/>
        </p:nvSpPr>
        <p:spPr>
          <a:xfrm>
            <a:off x="6126480" y="1554480"/>
            <a:ext cx="2697480" cy="1600200"/>
          </a:xfrm>
          <a:prstGeom prst="roundRect">
            <a:avLst>
              <a:gd name="adj" fmla="val 6857"/>
            </a:avLst>
          </a:prstGeom>
          <a:solidFill>
            <a:srgbClr val="EEF8F7"/>
          </a:solidFill>
          <a:ln w="12700">
            <a:solidFill>
              <a:srgbClr val="EEF8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91072" y="168249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ASPIRACIÓN 12 %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291072" y="1938528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o 3.000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291072" y="2514600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si es sobre 8.000; 3.000 si es sobre 25.000 (exigiría 37,5 % por contacto). El denominador no está definido.</a:t>
            </a:r>
            <a:endParaRPr lang="en-US" sz="1100" dirty="0"/>
          </a:p>
        </p:txBody>
      </p:sp>
      <p:sp>
        <p:nvSpPr>
          <p:cNvPr id="16" name="MORA DE EQUILIBRIO"/>
          <p:cNvSpPr/>
          <p:nvPr/>
        </p:nvSpPr>
        <p:spPr>
          <a:xfrm>
            <a:off x="8961120" y="1554480"/>
            <a:ext cx="2770632" cy="1600200"/>
          </a:xfrm>
          <a:prstGeom prst="roundRect">
            <a:avLst>
              <a:gd name="adj" fmla="val 6857"/>
            </a:avLst>
          </a:prstGeom>
          <a:solidFill>
            <a:srgbClr val="EEF8F7"/>
          </a:solidFill>
          <a:ln w="12700">
            <a:solidFill>
              <a:srgbClr val="EEF8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25712" y="168249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 DE EQUILIBRIO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125712" y="1938528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23,3 %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125712" y="2514600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420.000 / 1.800.000. Cada renovación con mora 30+ borra 4,3 renovaciones sanas.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383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debe resolver Ciencia de Datos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703320"/>
            <a:ext cx="6675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decisión de asignación bajo capacidad,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 modelo de propensión: elegir los 8.000 contactos que maximizan valor incremental neto de riesgo, respetando la capacidad de cada regional.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Combinación: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propensión calibrada × filtro de riesgo (mora 30+) × valor por renovación, optimizados contra la capacidad. La incrementalidad (uplift) es el objetivo de mediano plazo: hoy no hay datos para estimarla con confianza.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validar antes de adoptar el 12 %: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 y ventana, si incluye renovaciones orgánicas (en la base, 2,3 % de los no contactados renovó solo), y si es por contacto, por lista o por elegible.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pregunta al negocio: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eligió hasta hoy a quién contactar y qué pasó con los no contactados? Define si el histórico permite medir efecto del contacto o solo describe la política vigente.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33832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de decisión y guardrails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406640" y="3703320"/>
            <a:ext cx="4325112" cy="777240"/>
          </a:xfrm>
          <a:prstGeom prst="roundRect">
            <a:avLst>
              <a:gd name="adj" fmla="val 11765"/>
            </a:avLst>
          </a:prstGeom>
          <a:solidFill>
            <a:srgbClr val="E2F2FD"/>
          </a:solidFill>
          <a:ln w="12700">
            <a:solidFill>
              <a:srgbClr val="E2F2F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43800" y="3749040"/>
            <a:ext cx="4069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principal: </a:t>
            </a:r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incremental neto por contacto (COP) = renovaciones incrementales vs. control × (420.000 − mora × 1.800.000), medido sobre los 8.000 asignados.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4572000"/>
            <a:ext cx="43251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Riesgo: mora 30+ de renovados por cohorte ≤ 5,1 % + 1 pp (veto).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Experiencia: quejas y opt-out por 1.000 contactos no inferiores al control (veto).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 y cobertura: tasa de selección por regional y grupo ≥ 0,8 de la referencia (alerta).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Operación: ≥ 90 % de la lista ejecutada por regional (alerta).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Confiabilidad: SRM y chequeos de datos del corte (bloqueo).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2 · La base no sirve para medir riesgo ni incrementalidad, y dos variables filtran el resultado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MATERIALES EN BASE_CLIENTES (1.800 FILAS, 8 CORTES) Y DICCIONARIO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80560"/>
                <a:gridCol w="3657600"/>
                <a:gridCol w="103327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Hallazgo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Evidencia en la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implica para la decisión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Fuga de información (dos variables)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resultado_gestion_30d: 78 % de «Acepta» renueva (AUC univariado 0,83). dias_hasta_renovacion: nulo exactamente en los 1.436 no renovados (AUC 1,00).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existen al momento de priorizar. Cualquier modelo que las use infla métricas y es inviable en producción.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base no es el universo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Renovación 20,2 % (364/1.800) frente a 3,6 % declarado; 1.800 filas frente a 25.000/mes. «Top 8k» no es calculable desde esta base.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conversiones de la hoja de modelos vienen de otra población o de otra regla. No se pueden extrapolar sin conocer el origen.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 no modelable aquí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moras 30+ en 364 renovados (0,8 %) frente a 4,6 % a 7,2 % reportados. Mora = 0 en no renovados por construcción.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componente de riesgo debe venir de Riesgos (score o política), no de esta base.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 y temporalidad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duplicado (C01199). max_mora_6m = −4; ahorro −350.000; 25 endeudamientos &gt; 1; 7 scores de buró fuera de 400–850; 1 contacto fechado después del corte (2026-09-15); dias_ultimo_contacto redundante (r = 0,99).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Corregibles con reglas de validación en el pipeline. Muestran que el corte no está garantizado point-in-time.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con sesgo o sin señal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contactabilidad_score no predice el contacto: 32 % de no contactados en todos los cuartiles. recibe_remesas: proxy socioeconómico, sin señal (r = −0,01).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Excluidas del ranking: la primera reproduciría la política pasada; la segunda es un riesgo de uso responsable sin beneficio.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Dónde está la señal real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score_buro (AUC 0,81) y respondio_oferta_previa (0,69). Las otras 18 variables ex ante: AUC &lt; 0,57.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modelo simple y auditable captura casi todo. Verificar permisos y finalidad del uso del score de buró (Ley 1266/2157).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54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Útil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983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tratamiento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285232"/>
            <a:ext cx="11274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Excluidas del modelo: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resultado_gestion_30d y dias_hasta_renovacion (fuga); mora30_post_renovacion (es resultado); cliente_id; contactabilidad_score (sesgo operacional); recibe_remesas (uso responsable); regional se usa para capacidad, no para rankear.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Partición: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rolling-origin por mes_corte (entrenar con cortes &lt; t, validar en t, t = abril a agosto), con gap de 30 a 60 días por maduración del target y de la mora. Un cliente nunca en dos particiones del mismo corte.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Desbalance: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remuestrear (daña la calibración); evaluar en el punto de operación (conversión top-32 %, lift, Brier). Accuracy trivial: 79,8 % en la base y 96,4 % en producción sin acertar un renovador.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3 · De cuatro alternativas, C se descarta por fuga y B es la única lista para piloto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731520"/>
                <a:gridCol w="548640"/>
                <a:gridCol w="777240"/>
                <a:gridCol w="640080"/>
                <a:gridCol w="283464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Conv. top 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 30+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 crítica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Veredicto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 base de la decisión; única con conversión observada en producción.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Champion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«Incluye todas las variables». Replicado: con resultado_gestion_30d el AUC fuera de tiempo es 0,95; sin fuga, 0,80. Inviable en producción.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«supuestamente» disponibles; 0,86 supera el techo limpio (0,82) y su mora es la peor: selección adversa. Mantener solo tras auditoría point-in-time.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Coherente con la réplica limpia fuera de tiempo (0,79–0,85), calibrado, estable, auditable y con la menor mora.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54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Qini 0,12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+3,1 pp*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Único que mide efecto del contacto, pero con unidades mezcladas y campaña «parcialmente» aleatorizada sin detalle. Evaluar en el holdout del piloto.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Aprender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5A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8463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La hoja reporta «+3,1 pp incremental» en la columna de mora y Qini en la de PR-AUC: no es comparable con A, B y C sin aclarar unidades.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1280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Réplica: el AUC de C se explica por la fuga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7276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fuera de tiempo (entrenar &lt; t, probar en t, abril a agosto) sobre la base entregada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680960" y="1874520"/>
          <a:ext cx="4050792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680960" y="4297680"/>
            <a:ext cx="4050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Reportado por C: 0,94. Reportado por B: 0,79. Un k-fold aleatorio da 0,82: no esconde la fuga, la temporalidad sí la revela al comparar con el techo limpio.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5257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más AUC puede ser peor decisión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559552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el orden completo; la decisión usa solo el 32 % superior y pondera igual un renovador sano que uno en mora.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lo inflan variables post-contacto, el ranking real en producción será otro.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Propensión alta no es efecto del contacto: llamar a quien renovaría igual consume cupos sin crear valor.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5257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comparar propensión vs. uplift necesito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5559552"/>
            <a:ext cx="5330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tratamiento y control con la regla de asignación de la campaña de D (fracción aleatorizada, unidad, cumplimiento).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mismo holdout aleatorizado donde se mida uplift@8k de cada modelo, en renovaciones y COP netos de mora, con intervalos.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4 · B genera más valor que A pese a convertir menos, y la capacidad regional decide cómo repartirlo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esperado mensual neto de mora sobre 8.000 contactos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7276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 millones. Renovaciones × (420.000 − mora × 1.800.000). D con mora supuesta 5,1 %. C mostrada solo como referencia: no es confiable.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920240"/>
          <a:ext cx="65836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B vs. actual"/>
          <p:cNvSpPr/>
          <p:nvPr/>
        </p:nvSpPr>
        <p:spPr>
          <a:xfrm>
            <a:off x="7269480" y="1280160"/>
            <a:ext cx="2148840" cy="1463040"/>
          </a:xfrm>
          <a:prstGeom prst="roundRect">
            <a:avLst>
              <a:gd name="adj" fmla="val 7500"/>
            </a:avLst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34072" y="140817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vs. actual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434072" y="1664208"/>
            <a:ext cx="181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+143 M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434072" y="2240280"/>
            <a:ext cx="1819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mes, si las conversiones «top 8k» se sostienen en producción.</a:t>
            </a:r>
            <a:endParaRPr lang="en-US" sz="1100" dirty="0"/>
          </a:p>
        </p:txBody>
      </p:sp>
      <p:sp>
        <p:nvSpPr>
          <p:cNvPr id="10" name="Valor por renovación"/>
          <p:cNvSpPr/>
          <p:nvPr/>
        </p:nvSpPr>
        <p:spPr>
          <a:xfrm>
            <a:off x="9582912" y="1280160"/>
            <a:ext cx="2148840" cy="1463040"/>
          </a:xfrm>
          <a:prstGeom prst="roundRect">
            <a:avLst>
              <a:gd name="adj" fmla="val 7500"/>
            </a:avLst>
          </a:prstGeom>
          <a:solidFill>
            <a:srgbClr val="EEF8F7"/>
          </a:solidFill>
          <a:ln w="12700">
            <a:solidFill>
              <a:srgbClr val="EEF8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47504" y="140817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por renovación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9747504" y="1664208"/>
            <a:ext cx="181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337 k vs 290 k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9747504" y="2240280"/>
            <a:ext cx="1819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frente a A: la mora 4,6 % vs 7,2 % vale más que 0,6 pp de conversión.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269480" y="28803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cálculo no prueba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3200400"/>
            <a:ext cx="4462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incremental: si la mitad de las 704 renovaciones de B ocurriría sin contacto, el valor baja a 119 M.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supera a B solo si su mora real es &lt; 5,8 %; con pérdida de 3,5 M por mora, B 182 M vs. A 126 M.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 costo de contacto, LGD real y el origen de las conversiones «top 8k» (no salen de esta base).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score a lista operativa: cuotas por regional con transferencia por valor marginal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371600"/>
                <a:gridCol w="1463040"/>
                <a:gridCol w="914400"/>
                <a:gridCol w="5148072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ranking global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Exceso / ocio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 hist.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 operativa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Suroccidente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−268 ociosos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Cuota llena con su propio ranking; cede cupos sobrantes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+217 sin gestor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Corte por cuota; lista semanal para evitar saturación de cierre de 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+235 sin gestor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Mayor valor marginal (93 k por último contacto): recibe cupos transferidos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 Cafetero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+148 sin gestor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Corte por cuota; segundo en valor marginal (90 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−331 ociosos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valor marginal (60 k): transfiere hasta 10 % de su cuota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14476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con un modelo logístico limpio sobre los cortes junio a agosto (n = 696), VE = p × (420.000 − mora regional × 1.800.000). Con cuotas, la conversión del top 32 % cae de 43,5 % a 41,9 % en muestra, pero la lista es ejecutable.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5 · Un piloto de dos meses con tres brazos prueba la incrementalidad; el riesgo se controla por política, no por el piloto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Diseño: aleatorización por cliente, estratificada por regional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148840" cy="1325880"/>
          </a:xfrm>
          <a:prstGeom prst="roundRect">
            <a:avLst>
              <a:gd name="adj" fmla="val 8276"/>
            </a:avLst>
          </a:prstGeom>
          <a:solidFill>
            <a:srgbClr val="EEF8F7"/>
          </a:solidFill>
          <a:ln w="12700">
            <a:solidFill>
              <a:srgbClr val="EEF8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78308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0574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actual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3347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4.000 contactos/mes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0" y="1691640"/>
            <a:ext cx="2148840" cy="1325880"/>
          </a:xfrm>
          <a:prstGeom prst="roundRect">
            <a:avLst>
              <a:gd name="adj" fmla="val 8276"/>
            </a:avLst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80360" y="178308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CHALLENGER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20574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+ filtro de riesgo + cuotas regionales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880360" y="263347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4.000 contactos/mes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691640"/>
            <a:ext cx="2148840" cy="1325880"/>
          </a:xfrm>
          <a:prstGeom prst="roundRect">
            <a:avLst>
              <a:gd name="adj" fmla="val 8276"/>
            </a:avLst>
          </a:prstGeom>
          <a:solidFill>
            <a:srgbClr val="D4C8FE"/>
          </a:solidFill>
          <a:ln w="12700">
            <a:solidFill>
              <a:srgbClr val="D4C8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66360" y="178308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20574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contacto comercial (top de B)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263347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800 clientes/mes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54680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Potencia: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 de 3,6 % a 5,4 % se detecta con 2.081 clientes por brazo (un mes); de 3,6 % a 4,5 % exige 7.530 (dos meses). El holdout de 800 detecta un uplift de 2,3 % a 5 %.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Riesgo: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mora 5,1 % vs. 7,2 % exigiría 2.053 renovados por brazo (meses). Por eso el riesgo entra como política dura (corte de score de buró y max_mora acordado con Riesgos) y se vigila por vintage.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Duración: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días de ventana de renovación + 30 a 60 de maduración de mora. Decisión ship/no-ship pre-registrada a los 90 días. Unidad por cliente; un gestor no atiende dos brazos del mismo cliente.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13258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salida (pre-registradas)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691640"/>
          <a:ext cx="432511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2219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 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Uplift challenger vs. champion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 95 % excluye 0 y ≥ +1,5 pp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 30+ de renovados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inferior: ≤ champion + 1 pp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Quejas y opt-out por 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inferiores al champion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ejecutada por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90 % en las 5 regionales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SRM y calidad del corte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χ² p &gt; 0,001; 0 violaciones de esquema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4434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de los primeros tres meses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736592"/>
          <a:ext cx="66751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794760"/>
                <a:gridCol w="146304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 y frecuencia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Esquema, nulos, rangos, fechas posteriores al corte; cada corte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Bloqueo: no se puntúa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 del score y CSI por variable; mensual, umbral por percentil (n ≈ 250)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Investigar; revalidar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AUC, calibración y conversión top-k con labels a 30 a 60 días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Recalibrar o rollback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Vintage de mora 30+ por cohorte y brazo; mensual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Subir corte; pausa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Operación y experiencia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 lista contactada por regional y semana; quejas, opt-out, frecuencia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Reasignar cupos; pausa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406640" y="44348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libero aunque las métricas offline sean buenas si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7406640" y="4736592"/>
            <a:ext cx="43251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Alguna variable no existe point-in-time en producción o el split no fue temporal.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calibración verificada, validación independiente ni plan de rollback.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holdout para medir incrementalidad ni dueño por guardrail.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selección excluye a una regional o grupo sin explicación de negocio.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6 · Recomendación: pilotear B con holdout desde el próximo corte, no liberar C y auditar A y 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DECISIONES QUE PEDIMOS HOY AL COMITÉ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57600" cy="1737360"/>
          </a:xfrm>
          <a:prstGeom prst="roundRect">
            <a:avLst>
              <a:gd name="adj" fmla="val 6316"/>
            </a:avLst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459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916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el piloto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meses, tres brazos, 8.000 contactos/mes. Challenger = B + política de riesgo + cuotas regionales. Dueños: Comercial (ejecución), Riesgos (corte), Datos (medición).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51960" y="1554480"/>
            <a:ext cx="3657600" cy="1737360"/>
          </a:xfrm>
          <a:prstGeom prst="roundRect">
            <a:avLst>
              <a:gd name="adj" fmla="val 6316"/>
            </a:avLst>
          </a:prstGeom>
          <a:solidFill>
            <a:srgbClr val="A1DAFC"/>
          </a:solidFill>
          <a:ln w="12700">
            <a:solidFill>
              <a:srgbClr val="A1DAF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16459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983480" y="16916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liberar C; condicionar A y 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21945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usa el resultado de la gestión: inviable. A pasa a producción solo si supera la auditoría point-in-time. D se reevalúa con los datos del holdout.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554480"/>
            <a:ext cx="3657600" cy="1737360"/>
          </a:xfrm>
          <a:prstGeom prst="roundRect">
            <a:avLst>
              <a:gd name="adj" fmla="val 6316"/>
            </a:avLst>
          </a:prstGeom>
          <a:solidFill>
            <a:srgbClr val="D4C8FE"/>
          </a:solidFill>
          <a:ln w="12700">
            <a:solidFill>
              <a:srgbClr val="D4C8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0" y="16459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0" y="16916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KPI y guardrails con dueño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1945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incremental neto por contacto como KPI; cinco guardrails con umbral, ventana y responsable firmados por Riesgos, Comercial, Tecnología y Datos antes del primer corte.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66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90 días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005072"/>
            <a:ext cx="292608" cy="292608"/>
          </a:xfrm>
          <a:prstGeom prst="ellipse">
            <a:avLst/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005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93192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 a 2  </a:t>
            </a:r>
            <a:pPr indent="0" marL="0"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Aclarar denominador del 12 %, regla histórica de contacto y origen de las conversiones «top 8k». Validar permisos del score de buró (Ley 1266/2157, Ley 1581).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292608" cy="292608"/>
          </a:xfrm>
          <a:prstGeom prst="ellipse">
            <a:avLst/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572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4498848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3 a 4  </a:t>
            </a:r>
            <a:pPr indent="0" marL="0"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point-in-time con validaciones de esquema; reentrenar B con partición temporal; política de riesgo con Riesgos; cuotas y transferencia por regional.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5138928"/>
            <a:ext cx="292608" cy="292608"/>
          </a:xfrm>
          <a:prstGeom prst="ellipse">
            <a:avLst/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5065776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2 a 3  </a:t>
            </a:r>
            <a:pPr indent="0" marL="0"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en producción con holdout; monitoreo semanal; lectura de mora a 60 días; decisión ship/no-ship pre-registrada.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5705856"/>
            <a:ext cx="292608" cy="292608"/>
          </a:xfrm>
          <a:prstGeom prst="ellipse">
            <a:avLst/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5705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5632704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4+  </a:t>
            </a:r>
            <a:pPr indent="0" marL="0"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hay uplift: escalar y reentrenar uplift con los datos aleatorizados del piloto. Si no: mantener champion y revisar la hipótesis de contacto.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406640" y="3566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y uso responsable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06640" y="3886200"/>
            <a:ext cx="432511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Exclusión sistemática: 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tasas de selección y conversión por regional, remesas, contactabilidad y tercil de buró cada corte (regla 0,8). El modelo limpio ya concentra el 80 % de la lista en el tercil alto de buró: la política de riesgo debe fijar ese piso de forma explícita, no el algoritmo.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Auditable: 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card, datasheet de la base, ficha de fuga por variable (timestamp y fuente), partición y semillas, plan de monitoreo con dueños y bitácora de decisiones (RACI).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no es causa: 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qué acompaña la renovación en el histórico, no qué la provoca; el score de buró pesa porque a quien lo tiene alto se le ofrece más. Solo el holdout dice si llamar cambia el resultado.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Anexo · Soporte técnico: réplica, economía, tamaños de muestra y variables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 fuera de tiempo (train &lt; t, test = t, t = abril a agosto)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640080"/>
                <a:gridCol w="868680"/>
                <a:gridCol w="685800"/>
                <a:gridCol w="914400"/>
                <a:gridCol w="54864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 de variables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Conv. top 32 %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ex ante limpias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0,79–0,85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ex ante limpias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0,76–0,83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42,3 %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remesas, contactabilidad,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0,79–0,85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resultado_gestion_30d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0,93–0,97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58,9 %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dias_hasta_renovacion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1,00–1,00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15468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Prevalencia de la base 20,2 %; top 32 % = 8.000/25.000. k-fold aleatorio con variables limpias: 0,82. Coeficientes estandarizados del modelo limpio: score_buro 1,30; max_mora_6m −0,56; respondio_oferta_previa 0,26; el resto &lt; 0,15.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7406640" y="12344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esperado mensual (COP millones, 8.000 contactos)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554480"/>
          <a:ext cx="432511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594360"/>
                <a:gridCol w="594360"/>
                <a:gridCol w="594360"/>
                <a:gridCol w="822960"/>
                <a:gridCol w="121615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Renov.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mora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315,8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295,7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5,1 %*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497,3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360,9 (no confiable)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406640" y="3154680"/>
            <a:ext cx="4325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Mora no reportada para D; se asume la de la herramienta actual. Valor incremental de D si +3,1 pp es uplift de conversión: 248 × 328 k = 81 M/mes. Sensibilidad B vs. A con pérdida por mora de 1,0 / 1,8 / 2,5 / 3,5 M: 263/237/215/182 vs. 262/218/181/126.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por brazo (α 5 %, potencia 80 %)</a:t>
            </a:r>
            <a:endParaRPr lang="en-US" sz="12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0520"/>
          <a:ext cx="475488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por brazo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Conversión 3,6 % a 4,5 % (+25 % relativo)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Conversión 3,6 % a 5,4 % (+50 % relativo)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2.081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Conversión 3,6 % a 7,2 % (×2)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 5,1 % a 7,2 % entre renovados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2.053 renovados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Holdout: orgánico 2,3 % a 5 % con contacto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0" y="3840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excluidas del ranking, por motivo</a:t>
            </a:r>
            <a:endParaRPr lang="en-US" sz="1200" dirty="0"/>
          </a:p>
        </p:txBody>
      </p:sp>
      <p:graphicFrame>
        <p:nvGraphicFramePr>
          <p:cNvPr id="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4160520"/>
          <a:ext cx="624535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200400"/>
                <a:gridCol w="17190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Tratamiento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Fuga / resultado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resultado_gestion_30d, dias_hasta_renovacion, mora30_post_renovacion, renovo_30d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como target o para evaluación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 temporal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fecha_ultimo_contacto (1 fecha &gt; corte), cuotas_pagadas_pct y monto_preaprobado sin timestamp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Reconstruir point-in-time; validar antes de usar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max_mora_6m &lt; 0, saldo_ahorros &lt; 0, endeudamiento &gt; 1, score_buro fuera de rango, duplicado C01199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Reglas de validación; corregir o imputar con registro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responsable y sesgo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recibe_remesas (proxy), contactabilidad_score (política pasada), regional (solo capacidad), cliente_id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Fuera del score; monitoreadas como grupos de equidad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457200" y="57150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y cálculos: work/01_diagnostico.py, work/02_modelos_fuga.py y work/03_economia_capacidad_piloto.py, sobre una copia del anexo. El original no se modificó (hash verificado).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a pastel">
  <a:themeElements>
    <a:clrScheme name="Dia pastel">
      <a:dk1>
        <a:srgbClr val="043F52"/>
      </a:dk1>
      <a:lt1>
        <a:srgbClr val="FFFFFF"/>
      </a:lt1>
      <a:dk2>
        <a:srgbClr val="4A6A72"/>
      </a:dk2>
      <a:lt2>
        <a:srgbClr val="EEF8F7"/>
      </a:lt2>
      <a:accent1>
        <a:srgbClr val="009786"/>
      </a:accent1>
      <a:accent2>
        <a:srgbClr val="8670C0"/>
      </a:accent2>
      <a:accent3>
        <a:srgbClr val="BA673F"/>
      </a:accent3>
      <a:accent4>
        <a:srgbClr val="2B88C0"/>
      </a:accent4>
      <a:accent5>
        <a:srgbClr val="B4608A"/>
      </a:accent5>
      <a:accent6>
        <a:srgbClr val="A28218"/>
      </a:accent6>
      <a:hlink>
        <a:srgbClr val="005477"/>
      </a:hlink>
      <a:folHlink>
        <a:srgbClr val="005477"/>
      </a:folHlink>
    </a:clrScheme>
    <a:fontScheme name="Dia paste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Davinson Arteaga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Banco W - Priorizacion de renovaciones</dc:title>
  <dc:subject>PptxGenJS Presentation</dc:subject>
  <dc:creator>Davinson Arteaga</dc:creator>
  <cp:lastModifiedBy>Davinson Arteaga</cp:lastModifiedBy>
  <cp:revision>1</cp:revision>
  <dcterms:created xsi:type="dcterms:W3CDTF">2026-10-16T21:04:34Z</dcterms:created>
  <dcterms:modified xsi:type="dcterms:W3CDTF">2026-10-16T21:04:34Z</dcterms:modified>
</cp:coreProperties>
</file>