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e4c02c71-ceda-7b49-74e9-8e2f8530038e}">
          <p14:sldIdLst>
            <p14:sldId id="256"/>
          </p14:sldIdLst>
        </p14:section>
        <p14:section name="Datos" id="{ef1c5fd9-f216-731a-5277-e17ab4990be2}">
          <p14:sldIdLst>
            <p14:sldId id="257"/>
          </p14:sldIdLst>
        </p14:section>
        <p14:section name="Alternativas" id="{7b7374ad-2f28-a385-5077-f8b384940cbb}">
          <p14:sldIdLst>
            <p14:sldId id="258"/>
          </p14:sldIdLst>
        </p14:section>
        <p14:section name="Valor" id="{ed4a0ec5-9aef-63dc-471b-782daca6fce7}">
          <p14:sldIdLst>
            <p14:sldId id="259"/>
          </p14:sldIdLst>
        </p14:section>
        <p14:section name="Piloto" id="{e79aa1ad-e39c-6136-15b1-1bb2090ba871}">
          <p14:sldIdLst>
            <p14:sldId id="260"/>
          </p14:sldIdLst>
        </p14:section>
        <p14:section name="Recomendación" id="{4c358d63-ed23-00cf-4b28-344bf50c8a6d}">
          <p14:sldIdLst>
            <p14:sldId id="261"/>
          </p14:sldIdLst>
        </p14:section>
        <p14:section name="Anexo" id="{97888735-91ed-4517-c918-b6d390b0572b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0978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43F5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7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A67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3A1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16 variables ex ante</c:v>
                  </c:pt>
                  <c:pt idx="1">
                    <c:v>+ resultado_gestion_30d</c:v>
                  </c:pt>
                  <c:pt idx="2">
                    <c:v>+ dias_hasta_renovacion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0.82</c:v>
                </c:pt>
                <c:pt idx="1">
                  <c:v>0.94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43F5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43F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5"/>
        </c:scaling>
        <c:delete val="0"/>
        <c:axPos val="b"/>
        <c:majorGridlines>
          <c:spPr>
            <a:ln w="6350" cap="flat">
              <a:solidFill>
                <a:srgbClr val="D6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6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 neto</c:v>
                </c:pt>
              </c:strCache>
            </c:strRef>
          </c:tx>
          <c:spPr>
            <a:solidFill>
              <a:srgbClr val="678A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43F5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78A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A67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78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670C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Actual</c:v>
                  </c:pt>
                  <c:pt idx="1">
                    <c:v>A XGBoost</c:v>
                  </c:pt>
                  <c:pt idx="2">
                    <c:v>B Logística</c:v>
                  </c:pt>
                  <c:pt idx="3">
                    <c:v>D Uplift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94.5</c:v>
                </c:pt>
                <c:pt idx="1">
                  <c:v>218.4</c:v>
                </c:pt>
                <c:pt idx="2">
                  <c:v>237.4</c:v>
                </c:pt>
                <c:pt idx="3">
                  <c:v>207.4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043F5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43F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D6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6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la restricción es la capacidad, así que el problema es decidir a quién contactar, no predecir. KPI incremental neto de riesgo; el proxy mensual (incrementales por 1.000 contactos) sirve mientras madura la mora. 12 % sin denominador no es una meta: 960 si es sobre 8.000, 3.000 si es sobre 25.000 (37,5 % por contacto). Guardrail de riesgo: la mora esperada de la lista (score y política de Riesgos) se verifica antes de ejecutar; el vintage de mora 30+ a 60 días por cohorte confirma (alarma y pausa). La pregunta única define si el histórico permite medir causalidad o solo describe la política vigente.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cada hallazgo en la guía P5 y P6. Fuga: 78 % de «Acepta» renueva; dias_hasta_renovacion es nulo exactamente en los 1.436 no renovados. Calidad: max_mora_6m = −4, ahorro −350.000, contacto fechado 2026-09-15 con corte agosto; score de buró 352–912 está dentro de la escala DataCrédito 150–950 (confirmar central, versión y vigencia). contactabilidad_score no predice el contacto (32 % de no contactados en todos los cuartiles). cuotas_pagadas_pct y monto_preaprobado quedan fuera del set limpio hasta certificar su timestamp: no cuesta señal (AUC 0,52–0,53). Accuracy trivial: 79,8 % en la base, 96,4 % en producción sin acertar un renovador.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Repliqué con la base: el AUC de C (0,94) solo se obtiene incluyendo el resultado de gestión; con dias_hasta_renovacion llega a 1,00. A: 0,86 supera lo que esta base permite replicar (0,82), pero la hoja viene de otra población, así que no es concluyente; su mora 7,2 % es la peor y, de ser real, lo convierte en la alternativa de menor valor; ambas cosas exigen auditoría variable por variable. B: coherente con la réplica, calibrado (pendiente 0,90), estable; pasa a piloto tras la misma ficha de fuga. D: la hoja reporta «+3,1 pp incremental» en la columna de mora y Qini en la de PR-AUC; no es comparable con A, B y C sin aclarar unidades. Las conversiones «top 8k» de la hoja y la conversión top 32 % de la réplica (≈ 45 %) no son comparables: otra población y otra regla de contacto.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gana por riesgo, no por conversión: cada renovación de B vale 337.200 frente a 290.400 de A. Incertidumbre (supuesto 8.000 contactos por alternativa, 752 y 704 renovados): conversión z = 1,32 (p 0,19), mora z = 2,11 (p 0,03); en valor B es al menos equivalente dentro de la incertidumbre. El valor no es incremental: por eso el piloto. Capacidad: un ranking global sobrecarga Centro, Norte y Eje y deja ≈ 400 cupos ociosos en Suroccidente y Oriente; cuotas por regional con transferencia por valor marginal (tope a pactar con Comercial). La conversión en muestra con y sin cuotas es equivalente (43,2 % vs. 42,6 %, dentro del ruido). Sensibilidad a la pérdida por mora de 1,0 / 1,8 / 2,5 / 3,5 M: B 263 / 237 / 215 / 182 vs. A 262 / 218 / 181 / 126.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Mecánica: el universo elegible del mes (filtrado por el mismo piso de riesgo: corte de buró y max_mora pactados con Riesgos) se parte al azar en dos pools por cliente, estratificando por regional y tercil de score. El champion elige sus 4.000 en su pool; el challenger rankea el suyo, toma su top 4.800, retiene 800 al azar como holdout sin contacto y contacta 4.000. Capacidad intacta: 8.000. Dos reglas separadas: calidad de lista (challenger vs. champion) y efecto del contacto (challenger contactado vs. holdout). Potencia del holdout (800 vs. 4.000): uplift +1,2 pp exige 2,4 meses; +1,7 pp, 1,3 meses; +2,2 pp, 0,9. Costo de oportunidad 3,2 / 4,6 / 5,9 / 7,3 M/mes, ≤ 2 % del VE de B. Limitación: sin holdout en el champion no comparamos la incrementalidad de las dos políticas; la opción de 400 de holdout en el champion cuesta ≈ 2,3 M/mes y deja ese brazo en 3.600. Probar mora 5,1 % vs. 7,2 % exigiría 2.053 renovados por brazo: el riesgo entra por política y se vigila por vintage. Duración: dos meses de asignación + 30 días de ventana + 30 a 60 de maduración; decisión a los 90 días. Jerga (SRM, CSI, Brier, CUPED) en el anexo y la guía. Condiciones completas de no liberación en la guía P16.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Pedimos tres decisiones. Ruta de 90 días con la ficha de fuga variable por variable para A y B en las semanas 3 a 4 (fuente, timestamp, disponibilidad al puntuar). Gobierno: sin cuotas, el modelo limpio selecciona 28 % en Oriente frente a 35 % en Centro (AIR ≈ 0,80, en el límite); con cuotas, la selección por regional la fija la capacidad, así que la equidad se vigila en conversión y calibración por grupo dentro de cada regional. El 79 % de la lista cae en el tercil alto de buró: ese piso lo fija la política de riesgo, no el algoritmo. SHAP es correlación: en la base, 37 % del tercil bajo de buró quedó sin contactar frente a 22 % del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soporte para preguntas técnicas. Detalle completo en la guía de sustentación (19 preguntas).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A72"/>
                </a:solidFill>
              </a:rPr>
              <a:t>Banco W · Prueba técnica Científico de Datos · Davinson Arteaga · Data Scientist · AI Engineer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43F5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E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E6F2F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1 · Decidir a quién contactar con 8.000 cupos al mes, no solo predecir quién renueva</a:t>
            </a:r>
            <a:endParaRPr lang="en-US" sz="2400" dirty="0"/>
          </a:p>
        </p:txBody>
      </p:sp>
      <p:sp>
        <p:nvSpPr>
          <p:cNvPr id="3" name="CAPACIDAD"/>
          <p:cNvSpPr/>
          <p:nvPr/>
        </p:nvSpPr>
        <p:spPr>
          <a:xfrm>
            <a:off x="457200" y="1325880"/>
            <a:ext cx="3611880" cy="1554480"/>
          </a:xfrm>
          <a:prstGeom prst="roundRect">
            <a:avLst>
              <a:gd name="adj" fmla="val 7059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4538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09928"/>
            <a:ext cx="3282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8.000 de 25.000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86000"/>
            <a:ext cx="3282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restricción es la capacidad, no la demanda.</a:t>
            </a:r>
            <a:endParaRPr lang="en-US" sz="1100" dirty="0"/>
          </a:p>
        </p:txBody>
      </p:sp>
      <p:sp>
        <p:nvSpPr>
          <p:cNvPr id="7" name="HOY Y META"/>
          <p:cNvSpPr/>
          <p:nvPr/>
        </p:nvSpPr>
        <p:spPr>
          <a:xfrm>
            <a:off x="4288536" y="1325880"/>
            <a:ext cx="3611880" cy="1554480"/>
          </a:xfrm>
          <a:prstGeom prst="roundRect">
            <a:avLst>
              <a:gd name="adj" fmla="val 7059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53128" y="14538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Y META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53128" y="1709928"/>
            <a:ext cx="3282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3,6 % = 288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2286000"/>
            <a:ext cx="3282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12 %: 960 o 3.000 según denominador.</a:t>
            </a:r>
            <a:endParaRPr lang="en-US" sz="1100" dirty="0"/>
          </a:p>
        </p:txBody>
      </p:sp>
      <p:sp>
        <p:nvSpPr>
          <p:cNvPr id="11" name="RIESGO"/>
          <p:cNvSpPr/>
          <p:nvPr/>
        </p:nvSpPr>
        <p:spPr>
          <a:xfrm>
            <a:off x="8119872" y="1325880"/>
            <a:ext cx="3611880" cy="1554480"/>
          </a:xfrm>
          <a:prstGeom prst="roundRect">
            <a:avLst>
              <a:gd name="adj" fmla="val 7059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4464" y="14538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84464" y="1709928"/>
            <a:ext cx="3282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mora = 4,3 sanas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84464" y="2286000"/>
            <a:ext cx="3282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mora 30+ borra 4,3 sanas; equilibrio 23,3 %.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a quién contactar: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8.000 de mayor valor incremental neto.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Combinación: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propensión calibrada × riesgo × valor; uplift a mediano plazo.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12 %: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denominador, ventana, orgánicas (2,3 % renovó solo).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única: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eligió a quién contactar y qué pasó con el resto?</a:t>
            </a:r>
            <a:endParaRPr lang="en-US" sz="1250" dirty="0"/>
          </a:p>
        </p:txBody>
      </p:sp>
      <p:sp>
        <p:nvSpPr>
          <p:cNvPr id="16" name="KPI"/>
          <p:cNvSpPr/>
          <p:nvPr/>
        </p:nvSpPr>
        <p:spPr>
          <a:xfrm>
            <a:off x="6766560" y="3291840"/>
            <a:ext cx="4965192" cy="960120"/>
          </a:xfrm>
          <a:prstGeom prst="roundRect">
            <a:avLst>
              <a:gd name="adj" fmla="val 9524"/>
            </a:avLst>
          </a:prstGeom>
          <a:solidFill>
            <a:srgbClr val="E2F2FD"/>
          </a:solidFill>
          <a:ln w="12700">
            <a:solidFill>
              <a:srgbClr val="E2F2F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3337560"/>
            <a:ext cx="47091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</a:t>
            </a:r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incremental neto por contacto = incrementales vs. control × (420.000 − mora × 1.800.000). </a:t>
            </a:r>
            <a:pPr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Proxy: </a:t>
            </a:r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incrementales por 1.000 contactos.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434840"/>
            <a:ext cx="49651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 esperada de la lista ≤ umbral pactado antes (veto).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quejas y opt-out por 1.000 no peores (veto).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regional y grupo ≥ 0,8 (alerta).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 de lista ejecutada (alerta).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aleatorización y datos válidos (bloqueo).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2 · La base no sirve para medir riesgo ni incrementalidad, y dos variables filtran el resultado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HALLAZGOS EN BASE_CLIENTES (1.800 FILAS, 8 CORTES)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3657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Hallazgo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implica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en dos 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resultado_gestion_30d AUC 0,83; dias_hasta_renovacion AUC 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existen al priorizar; inflan métricas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base no es el universo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Renovación 20,2 % vs. 3,6 %; 1.800 filas vs. 25.000/mes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«Top 8k» no se calcula desde aquí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 no modelable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moras en 364 renovados (0,8 %) vs. 4,6–7,2 % reportado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mora viene de Riesgos, no de esta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y temporalidad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duplicado; 1 contacto posterior al corte; 25 endeudamientos &gt;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Validaciones; corte no garantizado point-in-time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 concentrada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score_buro AUC 0,81; respondio_oferta 0,69; resto &lt; 0,57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modelo simple captura casi todo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54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Útil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tratamiento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57200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Excluidas: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resultado_gestion_30d, dias_hasta_renovacion y mora30 (resultado); contactabilidad y remesas (sesgo); regional solo para capacidad.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rolling-origin con un corte de gap (entrenar ≤ t−2, probar en t, mayo a agosto); deduplicar por cliente.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remuestreo; evaluar en el punto de operación (top 32 %, calibración), no con accuracy.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3 · De cuatro alternativas, C se descarta por fuga y B es la única lista para piloto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0408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77240"/>
                <a:gridCol w="640080"/>
                <a:gridCol w="685800"/>
                <a:gridCol w="594360"/>
                <a:gridCol w="2880360"/>
                <a:gridCol w="914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 crítica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base; única conversión observada en producción.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0,94 solo se replica con resultado_gestion_30d; sin fuga, 0,79–0,82. Inviable.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 lo replicable (0,82) pero es otra población; mora, la peor. Auditar variable a variable.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Coherente con la réplica limpia (0,78–0,85), calibrado, menor mora. Misma ficha de fuga que 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54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F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Qini 0,12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+3,1 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Único que mide efecto del contacto; unidades mezcladas y aleatorización sin detalle.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Aprender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5A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400" y="128016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Réplica: el AUC de C se explica por la fuga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160020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fuera de tiempo: entrenar ≤ t−2, probar en t, mayo a agosto.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0" y="1874520"/>
          <a:ext cx="3959352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72400" y="406908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Reportado: C 0,94 y B 0,79. Un k-fold aleatorio da 0,82: solo la validación temporal revela la fuga.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846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más AUC puede ser peor decisión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5166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el orden completo; la decisión usa solo el 32 % superior y no distingue la mora.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Propensión alta no es efecto del contacto: llamar a quien renovaría igual gasta cupos.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400800" y="4846320"/>
            <a:ext cx="5330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propensión vs. uplift necesito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516636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asignación de la campaña de D: fracción aleatorizada, unidad y cumplimiento.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holdout donde medir uplift@8k de cada modelo en COP netos de mora, con intervalos.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4 · B genera más valor que A pese a convertir menos, y la capacidad regional decide cómo repartirlo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mensual neto de mora (COP millones)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8.000 contactos × conversión × (420.000 − mora × 1.800.000). D con mora 5,1 % supuesta; C descartada por fuga.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011680"/>
          <a:ext cx="6583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 VS. ACTUAL"/>
          <p:cNvSpPr/>
          <p:nvPr/>
        </p:nvSpPr>
        <p:spPr>
          <a:xfrm>
            <a:off x="7269480" y="128016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34072" y="140817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VS. ACTUAL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34072" y="1664208"/>
            <a:ext cx="181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+143 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434072" y="2240280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si el «top 8k» se sostiene.</a:t>
            </a:r>
            <a:endParaRPr lang="en-US" sz="1100" dirty="0"/>
          </a:p>
        </p:txBody>
      </p:sp>
      <p:sp>
        <p:nvSpPr>
          <p:cNvPr id="10" name="POR RENOVACIÓN"/>
          <p:cNvSpPr/>
          <p:nvPr/>
        </p:nvSpPr>
        <p:spPr>
          <a:xfrm>
            <a:off x="9582912" y="128016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47504" y="140817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RENOVACIÓN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747504" y="1664208"/>
            <a:ext cx="181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 k vs 290 k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747504" y="2240280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vs. A: la mora pesa más que 0,6 pp.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cálculo no prueba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3154680"/>
            <a:ext cx="4462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incremental: si la mitad de las 704 renovaciones de B fuera orgánica, baja a 119 M.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vs. A: conversión no distinguible (z ≈ 1,3), mora apenas (z ≈ 2,1); B gana por robustez.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supera a B solo con mora &lt; 5,8 %. Faltan costo de contacto, LGD y origen del «top 8k».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operativa: cuotas por regional con transferencia por valor marginal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1772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371600"/>
                <a:gridCol w="1554480"/>
                <a:gridCol w="914400"/>
                <a:gridCol w="505663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ranking 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Exceso / ocio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hist.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 operativa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Suroccidente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−200 ociosos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Llena su cuota con su ranking; cede sobrantes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+200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 por cuota; lista semanal contra saturación de cierre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+100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Mayor valor marginal (86 k): recibe cupos transferidos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 Cafetero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+100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 por cuota; segundo valor marginal (81 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−200 ociosos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valor marginal (61 k): cede cupos, tope a pactar (10 %)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17220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limpia, junio–agosto (n = 696); proyección a centenas con la mezcla regional de la muestra.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5 · Un piloto de dos meses mide si la lista nueva convierte más y si el contacto crea renovaciones; el riesgo se controla por política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Diseño: dos pools al azar, mismo piso de riesgo</a:t>
            </a:r>
            <a:endParaRPr lang="en-US" sz="1300" dirty="0"/>
          </a:p>
        </p:txBody>
      </p:sp>
      <p:sp>
        <p:nvSpPr>
          <p:cNvPr id="4" name="CHAMPION"/>
          <p:cNvSpPr/>
          <p:nvPr/>
        </p:nvSpPr>
        <p:spPr>
          <a:xfrm>
            <a:off x="45720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737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actual elige sus 4.000 en su pool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contactos/mes</a:t>
            </a:r>
            <a:endParaRPr lang="en-US" sz="1100" dirty="0"/>
          </a:p>
        </p:txBody>
      </p:sp>
      <p:sp>
        <p:nvSpPr>
          <p:cNvPr id="8" name="CHALLENGER"/>
          <p:cNvSpPr/>
          <p:nvPr/>
        </p:nvSpPr>
        <p:spPr>
          <a:xfrm>
            <a:off x="278892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737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rankea su pool con cuotas; toma su top 4.800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contactados/mes</a:t>
            </a:r>
            <a:endParaRPr lang="en-US" sz="1100" dirty="0"/>
          </a:p>
        </p:txBody>
      </p:sp>
      <p:sp>
        <p:nvSpPr>
          <p:cNvPr id="12" name="HOLDOUT"/>
          <p:cNvSpPr/>
          <p:nvPr/>
        </p:nvSpPr>
        <p:spPr>
          <a:xfrm>
            <a:off x="512064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D4C8FE"/>
          </a:solidFill>
          <a:ln w="12700">
            <a:solidFill>
              <a:srgbClr val="D4C8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57800" y="1737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al azar del top 4.800 de B, sin contacto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800 clientes/mes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5468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lista: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→ 5,4 % se detecta con 2.081 por brazo (un mes); 3,6 → 4,5 %, dos meses.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del contacto: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plausible 2,3 → 4,0 % (mitad del +3,1 pp de D) en 1,3 meses; cuesta 4,6 M/mes.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piso en ambos brazos aísla el modelo; mora vigilada por vintage.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holdout en el champion no se compara su incrementalidad; opción, 400 allí (≈ 2,3 M/mes).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128016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salida (pre-registradas)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45920"/>
          <a:ext cx="4142232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84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 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Calidad: challenger −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+1,5 pp, IC 95 % excluye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Efecto: contactado −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0, IC 95 % excluye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30+ de renovados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champion + 1 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Quejas y opt-out por 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peores que el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Ejecución y aleatorización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90 % por regional; sin sesgo de asignación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617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Monitoreo, primeros tres meses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37760"/>
          <a:ext cx="6858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  <a:gridCol w="1920240"/>
              </a:tblGrid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Esquema, rangos y fechas posteriores al corte; cada corte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Bloqueo: no se puntúa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del score sobre el universo (25.000); drift por variable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 investigar; 0,25 revalidar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AUC, calibración y conversión top-k con labels a 30–60 días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Recalibrar o rollback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Vintage de mora 30+ por cohorte, brazo y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 corte; pausa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lista contactada por regional y semana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Reasignar cupos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Quejas y opt-out por 1.000 contactos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589520" y="461772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libero si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7589520" y="4937760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no point-in-time o split no temporal.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calibración verificada, holdout, rollback o dueño.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6 · Recomendación: pilotear B con holdout desde el próximo corte, no liberar C y auditar A y D</a:t>
            </a:r>
            <a:endParaRPr lang="en-US" sz="2400" dirty="0"/>
          </a:p>
        </p:txBody>
      </p:sp>
      <p:sp>
        <p:nvSpPr>
          <p:cNvPr id="3" name="Decisión 1"/>
          <p:cNvSpPr/>
          <p:nvPr/>
        </p:nvSpPr>
        <p:spPr>
          <a:xfrm>
            <a:off x="457200" y="132588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el piloto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meses, tres brazos, 8.000 contactos al mes.</a:t>
            </a:r>
            <a:endParaRPr lang="en-US" sz="1150" dirty="0"/>
          </a:p>
        </p:txBody>
      </p:sp>
      <p:sp>
        <p:nvSpPr>
          <p:cNvPr id="7" name="Decisión 2"/>
          <p:cNvSpPr/>
          <p:nvPr/>
        </p:nvSpPr>
        <p:spPr>
          <a:xfrm>
            <a:off x="4251960" y="132588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A1DAFC"/>
          </a:solidFill>
          <a:ln w="12700">
            <a:solidFill>
              <a:srgbClr val="A1DA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4173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463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liberar C; condicionar A y 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usa el resultado; A tras ficha de fuga; D al holdout.</a:t>
            </a:r>
            <a:endParaRPr lang="en-US" sz="1150" dirty="0"/>
          </a:p>
        </p:txBody>
      </p:sp>
      <p:sp>
        <p:nvSpPr>
          <p:cNvPr id="11" name="Decisión 3"/>
          <p:cNvSpPr/>
          <p:nvPr/>
        </p:nvSpPr>
        <p:spPr>
          <a:xfrm>
            <a:off x="8046720" y="132588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D4C8FE"/>
          </a:solidFill>
          <a:ln w="12700">
            <a:solidFill>
              <a:srgbClr val="D4C8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4173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1463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KPI y guardrails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incremental neto por contacto; guardrails con dueño.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90 días</a:t>
            </a:r>
            <a:endParaRPr lang="en-US" sz="1300" dirty="0"/>
          </a:p>
        </p:txBody>
      </p:sp>
      <p:sp>
        <p:nvSpPr>
          <p:cNvPr id="16" name="Paso 1"/>
          <p:cNvSpPr/>
          <p:nvPr/>
        </p:nvSpPr>
        <p:spPr>
          <a:xfrm>
            <a:off x="457200" y="3657600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 a 2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del 12 %, regla de contacto, permisos del buró.</a:t>
            </a:r>
            <a:endParaRPr lang="en-US" sz="1150" dirty="0"/>
          </a:p>
        </p:txBody>
      </p:sp>
      <p:sp>
        <p:nvSpPr>
          <p:cNvPr id="19" name="Paso 2"/>
          <p:cNvSpPr/>
          <p:nvPr/>
        </p:nvSpPr>
        <p:spPr>
          <a:xfrm>
            <a:off x="457200" y="4315968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4315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22452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 a 4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fuga de A y B; pipeline point-in-time; cuotas.</a:t>
            </a:r>
            <a:endParaRPr lang="en-US" sz="1150" dirty="0"/>
          </a:p>
        </p:txBody>
      </p:sp>
      <p:sp>
        <p:nvSpPr>
          <p:cNvPr id="22" name="Paso 3"/>
          <p:cNvSpPr/>
          <p:nvPr/>
        </p:nvSpPr>
        <p:spPr>
          <a:xfrm>
            <a:off x="457200" y="4974336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48828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2 a 3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con holdout; monitoreo semanal; decisión pre-registrada.</a:t>
            </a:r>
            <a:endParaRPr lang="en-US" sz="1150" dirty="0"/>
          </a:p>
        </p:txBody>
      </p:sp>
      <p:sp>
        <p:nvSpPr>
          <p:cNvPr id="25" name="Paso 4"/>
          <p:cNvSpPr/>
          <p:nvPr/>
        </p:nvSpPr>
        <p:spPr>
          <a:xfrm>
            <a:off x="457200" y="5632704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5632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541264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4+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uplift, escalar; si no, champion.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154680"/>
            <a:ext cx="4325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520440"/>
            <a:ext cx="43251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y conversión por grupo; con cuotas, dentro de cada regional.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card, datasheet, ficha de fuga, monitoreo, RACI.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no es causa: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buró alto se le busca más (37 % vs. 22 %); solo el holdout lo prueba.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Anexo · Soporte técnico: réplica, economía, tamaños de muestra y variables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fuera de tiempo (train ≤ t−2, un corte de gap, test = t, t = mayo a agosto)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640080"/>
                <a:gridCol w="868680"/>
                <a:gridCol w="685800"/>
                <a:gridCol w="1005840"/>
                <a:gridCol w="4572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Calibración (pend.)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ex ante limpias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0,78–0,85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ex ante limpias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0,76–0,81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remesas, contactabilidad,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0,78–0,85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resultado_gestion_30d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0,93–0,96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dias_hasta_renovacion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1,00–1,00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1089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Prevalencia de la base 20,2 %. Calibración: pendiente de observado sobre predicho (1 = perfecta); media predicha 0,197 vs. observada 0,207. Las conversiones «top 8k» de la hoja no son comparables con esta base. Sin gap (train &lt; t, abril a agosto): 0,82 / 0,80; k-fold aleatorio: 0,82. Coeficientes estandarizados del modelo limpio: score_buro 1,30; max_mora_6m −0,56; respondio_oferta_previa 0,27; el resto &lt; 0,15.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1188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mensual (COP millones, 8.000 contactos)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08760"/>
          <a:ext cx="432511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94360"/>
                <a:gridCol w="594360"/>
                <a:gridCol w="594360"/>
                <a:gridCol w="822960"/>
                <a:gridCol w="121615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315,8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295,7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497,3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360,9 (no confiable)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406640" y="3108960"/>
            <a:ext cx="4325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Mora no reportada para D; se asume la de la herramienta actual. Valor incremental de D si +3,1 pp es uplift de conversión: 248 × 328 k = 81 M/mes. Sensibilidad B vs. A con pérdida por mora de 1,0 / 1,8 / 2,5 / 3,5 M: 263/237/215/182 vs. 262/218/181/126.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Tamaños de muestra (α 5 %, potencia 80 %) y costo del holdout</a:t>
            </a:r>
            <a:endParaRPr lang="en-US" sz="12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052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91640"/>
                <a:gridCol w="141732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· costo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3,6 % a 4,5 / 5,4 / 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7.530 / 2.081 / 618 por brazo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 / 1 meses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5,1 % a 7,2 % (renovados)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2.053 renovados por brazo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piloto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2,3 a 3,5 % (800 vs. 4.000)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1.932 en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 meses · 3,2 M/mes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2,3 a 4,0 % (plausible)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1.056 en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 meses · 4,6 M/mes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2,3 a 4,5 / 5,0 %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 / 491 en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 / 0,6 m · 5,9 / 7,3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− B reportada (8.000 c/u)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z 1,32 (p 0,19)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z 2,11 (p 0,03)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943600" y="38404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excluidas del ranking, por motivo</a:t>
            </a:r>
            <a:endParaRPr lang="en-US" sz="120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4160520"/>
          <a:ext cx="578815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108960"/>
                <a:gridCol w="153619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/ resultado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resultado_gestion_30d, dias_hasta_renovacion, mora30_post_renovacion, renovo_30d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como target o evaluación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 temporal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fecha_ultimo_contacto (1 &gt; corte); cuotas_pagadas_pct, monto_preaprobado sin timestamp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set; sin costo (AUC 0,52–0,53); vuelven con timestamp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max_mora_6m &lt; 0, saldo_ahorros &lt; 0, endeudamiento &gt; 1, duplicado; buró dentro de 150–950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y corregir con registro; confirmar central y vigencia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responsable y sesgo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recibe_remesas, contactabilidad_score, regional (solo capacidad), cliente_id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score; grupos de equidad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457200" y="58064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y cálculos: work/01_diagnostico.py, 02_modelos_fuga.py y 03_economia_capacidad_piloto.py sobre una copia del anexo; el original no se modificó (hash verificado). Jerga: SRM = sample ratio mismatch; CSI = índice de estabilidad por variable; CUPED = ajuste por covariable pre-periodo.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 pastel">
  <a:themeElements>
    <a:clrScheme name="Dia pastel">
      <a:dk1>
        <a:srgbClr val="043F52"/>
      </a:dk1>
      <a:lt1>
        <a:srgbClr val="FFFFFF"/>
      </a:lt1>
      <a:dk2>
        <a:srgbClr val="4A6A72"/>
      </a:dk2>
      <a:lt2>
        <a:srgbClr val="EEF8F7"/>
      </a:lt2>
      <a:accent1>
        <a:srgbClr val="009786"/>
      </a:accent1>
      <a:accent2>
        <a:srgbClr val="8670C0"/>
      </a:accent2>
      <a:accent3>
        <a:srgbClr val="BA673F"/>
      </a:accent3>
      <a:accent4>
        <a:srgbClr val="2B88C0"/>
      </a:accent4>
      <a:accent5>
        <a:srgbClr val="B4608A"/>
      </a:accent5>
      <a:accent6>
        <a:srgbClr val="A28218"/>
      </a:accent6>
      <a:hlink>
        <a:srgbClr val="005477"/>
      </a:hlink>
      <a:folHlink>
        <a:srgbClr val="005477"/>
      </a:folHlink>
    </a:clrScheme>
    <a:fontScheme name="Dia paste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Davinson Arteaga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Banco W - Priorizacion de renovaciones</dc:title>
  <dc:subject>PptxGenJS Presentation</dc:subject>
  <dc:creator>Davinson Arteaga</dc:creator>
  <cp:lastModifiedBy>Davinson Arteaga</cp:lastModifiedBy>
  <cp:revision>1</cp:revision>
  <dcterms:created xsi:type="dcterms:W3CDTF">2026-10-18T20:42:20Z</dcterms:created>
  <dcterms:modified xsi:type="dcterms:W3CDTF">2026-10-18T20:42:20Z</dcterms:modified>
</cp:coreProperties>
</file>