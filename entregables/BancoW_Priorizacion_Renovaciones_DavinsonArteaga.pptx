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embeddedFontLst>
    <p:embeddedFont>
      <p:font typeface="Bahnschrift" panose="020B0502040204020203" pitchFamily="34" charset="0"/>
      <p:regular r:id="rId10"/>
      <p:bold r:id="rId11"/>
    </p:embeddedFont>
    <p:embeddedFont>
      <p:font typeface="Segoe UI" panose="020B0502040204020203" pitchFamily="34" charset="0"/>
      <p:regular r:id="rId12"/>
      <p:bold r:id="rId13"/>
      <p:italic r:id="rId14"/>
      <p:boldItalic r:id="rId1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cisión" id="{68ACA854-E014-F8CF-6349-7B29E939711A}">
          <p14:sldIdLst>
            <p14:sldId id="256"/>
          </p14:sldIdLst>
        </p14:section>
        <p14:section name="Datos" id="{C9569D9A-E534-6037-E33A-C2DDE950FB2F}">
          <p14:sldIdLst>
            <p14:sldId id="257"/>
          </p14:sldIdLst>
        </p14:section>
        <p14:section name="Alternativas" id="{BCC98D3B-E568-BAF2-C71C-D59E5723041F}">
          <p14:sldIdLst>
            <p14:sldId id="258"/>
          </p14:sldIdLst>
        </p14:section>
        <p14:section name="Valor" id="{6A769390-7F4D-3EBA-6F4B-6E8C4A8EAA05}">
          <p14:sldIdLst>
            <p14:sldId id="259"/>
          </p14:sldIdLst>
        </p14:section>
        <p14:section name="Piloto" id="{C78D31A6-E73E-E3D1-A4D0-271971CEF880}">
          <p14:sldIdLst>
            <p14:sldId id="260"/>
          </p14:sldIdLst>
        </p14:section>
        <p14:section name="Recomendación" id="{16E00BCB-0D05-629C-C999-64B8B030D7A9}">
          <p14:sldIdLst>
            <p14:sldId id="261"/>
          </p14:sldIdLst>
        </p14:section>
        <p14:section name="Anexo" id="{D39B5254-7828-6C25-F04D-22407AEA539C}">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4.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3.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font" Target="fonts/font6.fntdata"/><Relationship Id="rId10" Type="http://schemas.openxmlformats.org/officeDocument/2006/relationships/font" Target="fonts/font1.fntdata"/><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font" Target="fonts/font5.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AUC</c:v>
                </c:pt>
              </c:strCache>
            </c:strRef>
          </c:tx>
          <c:spPr>
            <a:solidFill>
              <a:srgbClr val="005C63"/>
            </a:solidFill>
            <a:effectLst/>
          </c:spPr>
          <c:invertIfNegative val="0"/>
          <c:dPt>
            <c:idx val="0"/>
            <c:invertIfNegative val="0"/>
            <c:bubble3D val="0"/>
            <c:extLst>
              <c:ext xmlns:c16="http://schemas.microsoft.com/office/drawing/2014/chart" uri="{C3380CC4-5D6E-409C-BE32-E72D297353CC}">
                <c16:uniqueId val="{00000001-C14E-45CD-B3AE-5AB2D8CAD3EE}"/>
              </c:ext>
            </c:extLst>
          </c:dPt>
          <c:dPt>
            <c:idx val="1"/>
            <c:invertIfNegative val="0"/>
            <c:bubble3D val="0"/>
            <c:spPr>
              <a:solidFill>
                <a:srgbClr val="E35A00"/>
              </a:solidFill>
              <a:effectLst/>
            </c:spPr>
            <c:extLst>
              <c:ext xmlns:c16="http://schemas.microsoft.com/office/drawing/2014/chart" uri="{C3380CC4-5D6E-409C-BE32-E72D297353CC}">
                <c16:uniqueId val="{00000003-C14E-45CD-B3AE-5AB2D8CAD3EE}"/>
              </c:ext>
            </c:extLst>
          </c:dPt>
          <c:dPt>
            <c:idx val="2"/>
            <c:invertIfNegative val="0"/>
            <c:bubble3D val="0"/>
            <c:spPr>
              <a:solidFill>
                <a:srgbClr val="E35A00"/>
              </a:solidFill>
              <a:effectLst/>
            </c:spPr>
            <c:extLst>
              <c:ext xmlns:c16="http://schemas.microsoft.com/office/drawing/2014/chart" uri="{C3380CC4-5D6E-409C-BE32-E72D297353CC}">
                <c16:uniqueId val="{00000005-C14E-45CD-B3AE-5AB2D8CAD3EE}"/>
              </c:ext>
            </c:extLst>
          </c:dPt>
          <c:dLbls>
            <c:numFmt formatCode="0.00" sourceLinked="0"/>
            <c:spPr>
              <a:noFill/>
              <a:ln>
                <a:noFill/>
              </a:ln>
              <a:effectLst/>
            </c:spPr>
            <c:txPr>
              <a:bodyPr/>
              <a:lstStyle/>
              <a:p>
                <a:pPr>
                  <a:defRPr sz="1100" b="0" i="0" u="none" strike="noStrike">
                    <a:solidFill>
                      <a:srgbClr val="2E2E2E"/>
                    </a:solidFill>
                    <a:latin typeface="Segoe U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15 variables al corte</c:v>
                </c:pt>
                <c:pt idx="1">
                  <c:v>+ resultado_gestion_30d</c:v>
                </c:pt>
                <c:pt idx="2">
                  <c:v>+ dias_hasta_renovacion</c:v>
                </c:pt>
              </c:strCache>
            </c:strRef>
          </c:cat>
          <c:val>
            <c:numRef>
              <c:f>Sheet1!$B$2:$B$4</c:f>
              <c:numCache>
                <c:formatCode>General</c:formatCode>
                <c:ptCount val="3"/>
                <c:pt idx="0">
                  <c:v>0.82</c:v>
                </c:pt>
                <c:pt idx="1">
                  <c:v>0.94399999999999995</c:v>
                </c:pt>
                <c:pt idx="2">
                  <c:v>0.997</c:v>
                </c:pt>
              </c:numCache>
            </c:numRef>
          </c:val>
          <c:extLst>
            <c:ext xmlns:c16="http://schemas.microsoft.com/office/drawing/2014/chart" uri="{C3380CC4-5D6E-409C-BE32-E72D297353CC}">
              <c16:uniqueId val="{00000006-C14E-45CD-B3AE-5AB2D8CAD3EE}"/>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AD7D2"/>
            </a:solidFill>
            <a:prstDash val="solid"/>
            <a:round/>
          </a:ln>
        </c:spPr>
        <c:txPr>
          <a:bodyPr/>
          <a:lstStyle/>
          <a:p>
            <a:pPr>
              <a:defRPr sz="1000" b="0" i="0" u="none" strike="noStrike">
                <a:solidFill>
                  <a:srgbClr val="2E2E2E"/>
                </a:solidFill>
                <a:latin typeface="Segoe UI"/>
              </a:defRPr>
            </a:pPr>
            <a:endParaRPr lang="en-US"/>
          </a:p>
        </c:txPr>
        <c:crossAx val="2094734552"/>
        <c:crosses val="autoZero"/>
        <c:auto val="1"/>
        <c:lblAlgn val="ctr"/>
        <c:lblOffset val="100"/>
        <c:noMultiLvlLbl val="1"/>
      </c:catAx>
      <c:valAx>
        <c:axId val="2094734552"/>
        <c:scaling>
          <c:orientation val="minMax"/>
          <c:max val="1.1000000000000001"/>
          <c:min val="0.5"/>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VE neto</c:v>
                </c:pt>
              </c:strCache>
            </c:strRef>
          </c:tx>
          <c:spPr>
            <a:solidFill>
              <a:srgbClr val="C9C5BF"/>
            </a:solidFill>
            <a:effectLst/>
          </c:spPr>
          <c:invertIfNegative val="0"/>
          <c:dPt>
            <c:idx val="0"/>
            <c:invertIfNegative val="0"/>
            <c:bubble3D val="0"/>
            <c:extLst>
              <c:ext xmlns:c16="http://schemas.microsoft.com/office/drawing/2014/chart" uri="{C3380CC4-5D6E-409C-BE32-E72D297353CC}">
                <c16:uniqueId val="{00000001-9582-4D68-8F7B-AB142B56DE3D}"/>
              </c:ext>
            </c:extLst>
          </c:dPt>
          <c:dPt>
            <c:idx val="1"/>
            <c:invertIfNegative val="0"/>
            <c:bubble3D val="0"/>
            <c:extLst>
              <c:ext xmlns:c16="http://schemas.microsoft.com/office/drawing/2014/chart" uri="{C3380CC4-5D6E-409C-BE32-E72D297353CC}">
                <c16:uniqueId val="{00000003-9582-4D68-8F7B-AB142B56DE3D}"/>
              </c:ext>
            </c:extLst>
          </c:dPt>
          <c:dPt>
            <c:idx val="2"/>
            <c:invertIfNegative val="0"/>
            <c:bubble3D val="0"/>
            <c:spPr>
              <a:solidFill>
                <a:srgbClr val="005C63"/>
              </a:solidFill>
              <a:effectLst/>
            </c:spPr>
            <c:extLst>
              <c:ext xmlns:c16="http://schemas.microsoft.com/office/drawing/2014/chart" uri="{C3380CC4-5D6E-409C-BE32-E72D297353CC}">
                <c16:uniqueId val="{00000005-9582-4D68-8F7B-AB142B56DE3D}"/>
              </c:ext>
            </c:extLst>
          </c:dPt>
          <c:dPt>
            <c:idx val="3"/>
            <c:invertIfNegative val="0"/>
            <c:bubble3D val="0"/>
            <c:extLst>
              <c:ext xmlns:c16="http://schemas.microsoft.com/office/drawing/2014/chart" uri="{C3380CC4-5D6E-409C-BE32-E72D297353CC}">
                <c16:uniqueId val="{00000007-9582-4D68-8F7B-AB142B56DE3D}"/>
              </c:ext>
            </c:extLst>
          </c:dPt>
          <c:dLbls>
            <c:numFmt formatCode="0" sourceLinked="0"/>
            <c:spPr>
              <a:noFill/>
              <a:ln>
                <a:noFill/>
              </a:ln>
              <a:effectLst/>
            </c:spPr>
            <c:txPr>
              <a:bodyPr/>
              <a:lstStyle/>
              <a:p>
                <a:pPr>
                  <a:defRPr sz="1100" b="0" i="0" u="none" strike="noStrike">
                    <a:solidFill>
                      <a:srgbClr val="2E2E2E"/>
                    </a:solidFill>
                    <a:latin typeface="Segoe U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Actual</c:v>
                </c:pt>
                <c:pt idx="1">
                  <c:v>A XGBoost</c:v>
                </c:pt>
                <c:pt idx="2">
                  <c:v>B Logística</c:v>
                </c:pt>
                <c:pt idx="3">
                  <c:v>D Uplift</c:v>
                </c:pt>
              </c:strCache>
            </c:strRef>
          </c:cat>
          <c:val>
            <c:numRef>
              <c:f>Sheet1!$B$2:$B$5</c:f>
              <c:numCache>
                <c:formatCode>General</c:formatCode>
                <c:ptCount val="4"/>
                <c:pt idx="0">
                  <c:v>94.5</c:v>
                </c:pt>
                <c:pt idx="1">
                  <c:v>218.4</c:v>
                </c:pt>
                <c:pt idx="2">
                  <c:v>237.4</c:v>
                </c:pt>
                <c:pt idx="3">
                  <c:v>207.4</c:v>
                </c:pt>
              </c:numCache>
            </c:numRef>
          </c:val>
          <c:extLst>
            <c:ext xmlns:c16="http://schemas.microsoft.com/office/drawing/2014/chart" uri="{C3380CC4-5D6E-409C-BE32-E72D297353CC}">
              <c16:uniqueId val="{00000008-9582-4D68-8F7B-AB142B56DE3D}"/>
            </c:ext>
          </c:extLst>
        </c:ser>
        <c:dLbls>
          <c:showLegendKey val="0"/>
          <c:showVal val="1"/>
          <c:showCatName val="0"/>
          <c:showSerName val="0"/>
          <c:showPercent val="0"/>
          <c:showBubbleSize val="0"/>
        </c:dLbls>
        <c:gapWidth val="8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AD7D2"/>
            </a:solidFill>
            <a:prstDash val="solid"/>
            <a:round/>
          </a:ln>
        </c:spPr>
        <c:txPr>
          <a:bodyPr/>
          <a:lstStyle/>
          <a:p>
            <a:pPr>
              <a:defRPr sz="1050" b="0" i="0" u="none" strike="noStrike">
                <a:solidFill>
                  <a:srgbClr val="2E2E2E"/>
                </a:solidFill>
                <a:latin typeface="Segoe UI"/>
              </a:defRPr>
            </a:pPr>
            <a:endParaRPr lang="en-US"/>
          </a:p>
        </c:txPr>
        <c:crossAx val="2094734552"/>
        <c:crosses val="autoZero"/>
        <c:auto val="1"/>
        <c:lblAlgn val="ctr"/>
        <c:lblOffset val="100"/>
        <c:noMultiLvlLbl val="1"/>
      </c:catAx>
      <c:valAx>
        <c:axId val="2094734552"/>
        <c:scaling>
          <c:orientation val="minMax"/>
          <c:max val="30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656365"/>
                </a:solidFill>
                <a:latin typeface="Segoe UI"/>
              </a:defRPr>
            </a:pPr>
            <a:endParaRPr lang="en-US"/>
          </a:p>
        </c:txPr>
        <c:crossAx val="2094734554"/>
        <c:crosses val="autoZero"/>
        <c:crossBetween val="between"/>
        <c:majorUnit val="30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5590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decisión debemos tomar y por qué importa? Mensaje: la restricción es la capacidad, así que el problema es decidir a quién contactar, no predecir. KPI incremental neto de riesgo; el proxy mensual (incrementales por 1.000 contactos) sirve mientras madura la mora. 12 % sin denominador no es una meta: 960 si es sobre 8.000, 3.000 si es sobre 25.000 (37,5 % por contacto). Punto de equilibrio: una renovación deja de aportar si la mora supera 23,3 % (420.000 / 1.800.000). Guardrail de riesgo: la mora esperada de la lista (score y política de Riesgos) se verifica antes de ejecutar; el vintage de mora 30+ a 60 días por cohorte confirma (alarma y pausa). La pregunta única define si el histórico permite medir causalidad o solo describe la política vigente; hoy podemos ordenar por propensión, filtrar riesgo con la política de Riesgos y valorar cada renovación.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descubrimos en los datos y qué no deberíamos confiar? Detalle de cada hallazgo en la guía P5 y P6. Fuga: 78 % de «Acepta» renueva; dias_hasta_renovacion es nulo exactamente en los 1.436 no renovados. Calidad: max_mora_6m = −4, ahorro −350.000, contacto fechado 2026-09-15 con corte agosto; score de buró 352–912 está dentro de la escala DataCrédito 150–950 (confirmar central, versión y vigencia). contactabilidad_score no predice el contacto (entre 29 % y 32 % de no contactados en los cuatro cuartiles). cuotas_pagadas_pct, monto_preaprobado y dias_ultimo_contacto quedan fuera del set limpio hasta certificar su timestamp (51 contactos fechados dentro del mes de corte y 1 después): no cuesta señal (AUC univariado 0,50–0,53); en producción se recalcula a la fecha de corte. Partición rolling-origin con un corte de gap (entrenar ≤ t−2, probar en t, mayo a agosto); deduplicar por cliente. Evaluación con probabilidades calibradas. Accuracy trivial: 79,8 % en la base, 96,4 % en producción sin acertar un renovador.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alternativas de modelo tenemos y cuáles sobreviven al análisis? Repliqué con la base: el AUC de C (0,94) solo se obtiene incluyendo el resultado de gestión; con dias_hasta_renovacion llega a 1,00. Validación temporal: entrenar ≤ t−2, probar en t, mayo a agosto; k-fold aleatorio da 0,82 y no revela la fuga. A: 0,86 supera lo que esta base permite replicar (0,82), pero la hoja viene de otra población, así que no es concluyente; su mora 7,2 % es la peor y, de ser real, lo convierte en la alternativa de menor valor; ambas cosas exigen auditoría variable por variable. B: coherente con la réplica, calibrado (pendiente 0,91), estable; pasa a piloto tras la misma ficha de fuga. D: la hoja reporta «+3,1 pp incremental» en la columna de mora y Qini en la de PR-AUC; no es comparable con A, B y C sin aclarar unidades. Las conversiones «top 8k» de la hoja y la conversión top 32 % de la réplica (≈ 45 %) no son comparables: otra población y otra regla de contacto. Para comparar propensión vs. uplift: la regla de asignación de la campaña de D (fracción aleatorizada, unidad, cumplimiento) y un mismo holdout donde medir uplift@8k de cada modelo en COP netos de mora, con intervalos.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¿Cuál genera mayor valor bajo riesgo y capacidad real? B gana por riesgo, no por conversión: 237 M netos al mes frente a 218 M de A; cada renovación de B vale 337.200 frente a 290.400 de A. Incertidumbre (supuesto 8.000 contactos por alternativa, 752 y 704 renovados): conversión z = 1,32 (p 0,19), mora z = 2,11 (p 0,03); en valor B es al menos equivalente dentro de la incertidumbre. El valor no es incremental: el orgánico del tercil alto de buró (de donde sale el top de B) es ≈ 5 % (7 de 129 no contactados renovaron solos; IC 2,7–10,8 %), así que ≈ 57 % de las renovaciones de B serían orgánicas y el valor incremental ≈ 103 M (129 M con orgánico 4 %, 76 M con 6 %). Por eso el piloto. Faltan el costo de contacto, la LGD real y el origen del «top 8k». Capacidad: un ranking global sobrecarga Centro, Norte y Eje y deja ≈ 400 cupos ociosos en Suroccidente y Oriente; cuotas por regional con transferencia por valor marginal (tope a pactar con Comercial, 10 % como referencia). Proyección a centenas con la mezcla regional de la muestra de test. La conversión en muestra con y sin cuotas es equivalente (41,9 % vs. 43,5 %, cuatro renovaciones de diferencia, dentro del ruido). Sensibilidad a la pérdida por mora de 1,0 / 1,8 / 2,5 / 3,5 M: B 263 / 237 / 215 / 182 vs. A 262 / 218 / 181 / 126.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¿Cómo probaríamos que funciona y cómo controlamos el riesgo? Mecánica: el universo elegible del mes (filtrado por el mismo piso de riesgo: corte de buró y max_mora pactados con Riesgos) se parte al azar en dos pools por cliente, estratificando por regional y tercil de score. El champion elige sus 4.000 en su pool; el challenger rankea el suyo con cuotas por regional, toma su top 4.800, retiene 800 al azar como holdout sin contacto y contacta 4.000. Capacidad intacta: 8.000. Dos reglas separadas: calidad de lista (challenger vs. champion) y efecto del contacto (challenger contactado vs. holdout). Calidad: 3,6 % a 5,4 % se detecta con 2.081 por brazo, es decir en un mes con 4.000. Baseline del holdout: no el 2,3 % global, sino el orgánico del tercil alto de buró (≈ 5 %, 7 de 129, IC 2,7–10,8 %), porque el holdout sale del top de B. Potencia (800 vs. 4.000, baseline 5 %): conservador +1,7 pp exige 1.856 en holdout, 2,3 meses, 4,6 M/mes de costo; plausible +3,8 pp (el uplift implícito si B convierte 8,8 % sobre un orgánico de 5 %) exige 444, 0,6 meses, 10,3 M/mes. Dos meses detectan el escenario plausible con margen; el conservador necesita un tercer mes. El costo es cerca del 4 % del VE de B (10,3 de 237 M). Limitación: sin holdout en el champion no comparamos la incrementalidad de las dos políticas; la opción de 400 de holdout en el champion cuesta ≈ 2,3 M/mes y deja ese brazo en 3.600. Probar mora 5,1 % vs. 7,2 % exigiría 2.053 renovados por brazo: el riesgo entra por política y se vigila por vintage. Reglas de salida pre-registradas: calidad ≥ +1,5 pp con IC 95 % que excluye 0; efecto &gt; 0 con IC 95 % que excluye 0; mora ≤ champion + 1 pp. Duración: dos meses de asignación + 30 días de ventana + 30 a 60 de maduración; decisión a los 90 días. Jerga (SRM, CSI, Brier, CUPED) en el anexo y la guía. Condiciones completas de no liberación en la guía P16.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recomienda hacer ahora? Pedimos tres decisiones; A queda condicionada a la verificación de sus variables y D a los datos del piloto. Ruta de 90 días con la ficha de fuga variable por variable para A y B en las semanas 3 a 4 (fuente, timestamp, disponibilidad al puntuar); pipeline point-in-time. Gobierno: sin cuotas, el modelo limpio selecciona 28 % en Oriente frente a 35 % en Centro (AIR ≈ 0,80 puntual, pero con 100 a 200 clientes por regional el intervalo bootstrap es 0,49–0,88: el 0,80 no informa; la regla está pensada para el universo mensual de 25.000, donde el intervalo se estrecha unas seis veces); con cuotas, la selección por regional la fija la capacidad, así que la equidad se vigila en conversión y calibración por grupo dentro de cada regional. El 79 % de la lista cae en el tercil alto de buró: ese piso lo fija la política de riesgo, no el algoritmo. Auditable: model card, datasheet, ficha de fuga, plan de monitoreo, RACI. SHAP es correlación: en la base, 37 % del tercil bajo de buró quedó sin contactar frente a 22 % del alto; solo el holdout prueba causalidad.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soporte para preguntas técnicas. Detalle completo en la guía de sustentación (19 preguntas).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OC">
    <p:bg>
      <p:bgPr>
        <a:solidFill>
          <a:srgbClr val="FFFFFF"/>
        </a:solidFill>
        <a:effectLst/>
      </p:bgPr>
    </p:bg>
    <p:spTree>
      <p:nvGrpSpPr>
        <p:cNvPr id="1" name=""/>
        <p:cNvGrpSpPr/>
        <p:nvPr/>
      </p:nvGrpSpPr>
      <p:grpSpPr>
        <a:xfrm>
          <a:off x="0" y="0"/>
          <a:ext cx="0" cy="0"/>
          <a:chOff x="0" y="0"/>
          <a:chExt cx="0" cy="0"/>
        </a:xfrm>
      </p:grpSpPr>
      <p:pic>
        <p:nvPicPr>
          <p:cNvPr id="2" name="Image 0" descr="Banco W"/>
          <p:cNvPicPr>
            <a:picLocks noChangeAspect="1"/>
          </p:cNvPicPr>
          <p:nvPr/>
        </p:nvPicPr>
        <p:blipFill>
          <a:blip r:embed="rId2"/>
          <a:stretch>
            <a:fillRect/>
          </a:stretch>
        </p:blipFill>
        <p:spPr>
          <a:xfrm>
            <a:off x="457200" y="6437376"/>
            <a:ext cx="266456" cy="283464"/>
          </a:xfrm>
          <a:prstGeom prst="rect">
            <a:avLst/>
          </a:prstGeom>
        </p:spPr>
      </p:pic>
      <p:sp>
        <p:nvSpPr>
          <p:cNvPr id="3" name="Text 0"/>
          <p:cNvSpPr/>
          <p:nvPr/>
        </p:nvSpPr>
        <p:spPr>
          <a:xfrm>
            <a:off x="841248" y="6473952"/>
            <a:ext cx="7315200" cy="228600"/>
          </a:xfrm>
          <a:prstGeom prst="rect">
            <a:avLst/>
          </a:prstGeom>
          <a:noFill/>
          <a:ln/>
        </p:spPr>
        <p:txBody>
          <a:bodyPr wrap="square" lIns="0" tIns="0" rIns="0" bIns="0" rtlCol="0" anchor="ctr"/>
          <a:lstStyle/>
          <a:p>
            <a:pPr marL="0" indent="0">
              <a:buNone/>
            </a:pPr>
            <a:r>
              <a:rPr lang="en-US" sz="900" dirty="0">
                <a:solidFill>
                  <a:srgbClr val="656365"/>
                </a:solidFill>
                <a:latin typeface="Segoe UI" pitchFamily="34" charset="0"/>
                <a:ea typeface="Segoe UI" pitchFamily="34" charset="-122"/>
                <a:cs typeface="Segoe UI" pitchFamily="34" charset="-120"/>
              </a:rPr>
              <a:t>Prueba técnica Científico de Datos · Davinson Arteaga</a:t>
            </a:r>
            <a:endParaRPr lang="en-US" sz="900" dirty="0"/>
          </a:p>
        </p:txBody>
      </p:sp>
      <p:sp>
        <p:nvSpPr>
          <p:cNvPr id="4" name="Text 1"/>
          <p:cNvSpPr>
            <a:spLocks noGrp="1"/>
          </p:cNvSpPr>
          <p:nvPr>
            <p:ph type="title" idx="102" hasCustomPrompt="1"/>
          </p:nvPr>
        </p:nvSpPr>
        <p:spPr>
          <a:xfrm>
            <a:off x="457200" y="347472"/>
            <a:ext cx="11277295" cy="438912"/>
          </a:xfrm>
          <a:prstGeom prst="rect">
            <a:avLst/>
          </a:prstGeom>
          <a:noFill/>
          <a:ln/>
        </p:spPr>
        <p:txBody>
          <a:bodyPr wrap="square" rtlCol="0"/>
          <a:lstStyle>
            <a:lvl1pPr marL="0" indent="0" algn="l">
              <a:buNone/>
              <a:defRPr lang="en-US" sz="2400" dirty="0">
                <a:solidFill>
                  <a:srgbClr val="2E2E2E"/>
                </a:solidFill>
                <a:latin typeface="Bahnschrift" pitchFamily="34" charset="0"/>
                <a:ea typeface="Bahnschrift" pitchFamily="34" charset="-122"/>
                <a:cs typeface="Bahnschrift" pitchFamily="34" charset="-120"/>
              </a:defRPr>
            </a:lvl1pPr>
          </a:lstStyle>
          <a:p>
            <a:pPr marL="0" indent="0" algn="l">
              <a:buNone/>
            </a:pPr>
            <a:endParaRPr lang="en-US" sz="24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Contactar a los 8.000 que más valor dejan, netos de riesgo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Debemos elegir cada mes a cuáles 8.000 de los 25.000 elegibles contactar, por valor neto de riesgo y no por probabilidad de renovar. Importa porque una renovación que cae en mora 30+ borra lo que aportan 4,3 sanas.</a:t>
            </a:r>
            <a:endParaRPr lang="en-US" sz="1250" dirty="0"/>
          </a:p>
        </p:txBody>
      </p:sp>
      <p:sp>
        <p:nvSpPr>
          <p:cNvPr id="5" name="Text 3"/>
          <p:cNvSpPr txBox="1"/>
          <p:nvPr/>
        </p:nvSpPr>
        <p:spPr>
          <a:xfrm>
            <a:off x="457200" y="1828800"/>
            <a:ext cx="3637117" cy="502920"/>
          </a:xfrm>
          <a:prstGeom prst="rect">
            <a:avLst/>
          </a:prstGeom>
          <a:noFill/>
          <a:ln/>
        </p:spPr>
        <p:txBody>
          <a:bodyPr wrap="square" lIns="0" tIns="0" rIns="0" bIns="0" rtlCol="0" anchor="b"/>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8.000 de 25.000</a:t>
            </a:r>
            <a:endParaRPr lang="en-US" sz="3200" dirty="0"/>
          </a:p>
        </p:txBody>
      </p:sp>
      <p:sp>
        <p:nvSpPr>
          <p:cNvPr id="6" name="Text 4"/>
          <p:cNvSpPr txBox="1"/>
          <p:nvPr/>
        </p:nvSpPr>
        <p:spPr>
          <a:xfrm>
            <a:off x="457200" y="2377440"/>
            <a:ext cx="3637117" cy="54864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La restricción es la capacidad, no la demanda.</a:t>
            </a:r>
            <a:endParaRPr lang="en-US" sz="1100" dirty="0"/>
          </a:p>
        </p:txBody>
      </p:sp>
      <p:sp>
        <p:nvSpPr>
          <p:cNvPr id="7" name="Text 5"/>
          <p:cNvSpPr txBox="1"/>
          <p:nvPr/>
        </p:nvSpPr>
        <p:spPr>
          <a:xfrm>
            <a:off x="4277197" y="1828800"/>
            <a:ext cx="3637117" cy="502920"/>
          </a:xfrm>
          <a:prstGeom prst="rect">
            <a:avLst/>
          </a:prstGeom>
          <a:noFill/>
          <a:ln/>
        </p:spPr>
        <p:txBody>
          <a:bodyPr wrap="square" lIns="0" tIns="0" rIns="0" bIns="0" rtlCol="0" anchor="b"/>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3,6 % = 288</a:t>
            </a:r>
            <a:endParaRPr lang="en-US" sz="3200" dirty="0"/>
          </a:p>
        </p:txBody>
      </p:sp>
      <p:sp>
        <p:nvSpPr>
          <p:cNvPr id="8" name="Text 6"/>
          <p:cNvSpPr txBox="1"/>
          <p:nvPr/>
        </p:nvSpPr>
        <p:spPr>
          <a:xfrm>
            <a:off x="4277197" y="2377440"/>
            <a:ext cx="3637117" cy="54864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Meta 12 %: 960 renovaciones sobre contactados o 3.000 sobre elegibles.</a:t>
            </a:r>
            <a:endParaRPr lang="en-US" sz="1100" dirty="0"/>
          </a:p>
        </p:txBody>
      </p:sp>
      <p:sp>
        <p:nvSpPr>
          <p:cNvPr id="9" name="Text 7"/>
          <p:cNvSpPr txBox="1"/>
          <p:nvPr/>
        </p:nvSpPr>
        <p:spPr>
          <a:xfrm>
            <a:off x="8097195" y="1828800"/>
            <a:ext cx="3637117" cy="502920"/>
          </a:xfrm>
          <a:prstGeom prst="rect">
            <a:avLst/>
          </a:prstGeom>
          <a:noFill/>
          <a:ln/>
        </p:spPr>
        <p:txBody>
          <a:bodyPr wrap="square" lIns="0" tIns="0" rIns="0" bIns="0" rtlCol="0" anchor="b"/>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1 mora = 4,3 sanas</a:t>
            </a:r>
            <a:endParaRPr lang="en-US" sz="3200" dirty="0"/>
          </a:p>
        </p:txBody>
      </p:sp>
      <p:sp>
        <p:nvSpPr>
          <p:cNvPr id="10" name="Text 8"/>
          <p:cNvSpPr txBox="1"/>
          <p:nvPr/>
        </p:nvSpPr>
        <p:spPr>
          <a:xfrm>
            <a:off x="8097195" y="2377440"/>
            <a:ext cx="3637117" cy="54864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Una renovación sana aporta 420.000; una en mora 30+ cuesta 1.800.000.</a:t>
            </a:r>
            <a:endParaRPr lang="en-US" sz="1100" dirty="0"/>
          </a:p>
        </p:txBody>
      </p:sp>
      <p:sp>
        <p:nvSpPr>
          <p:cNvPr id="11" name="Shape 9"/>
          <p:cNvSpPr/>
          <p:nvPr/>
        </p:nvSpPr>
        <p:spPr>
          <a:xfrm>
            <a:off x="457200" y="3063240"/>
            <a:ext cx="11277295" cy="0"/>
          </a:xfrm>
          <a:prstGeom prst="line">
            <a:avLst/>
          </a:prstGeom>
          <a:noFill/>
          <a:ln w="9525">
            <a:solidFill>
              <a:srgbClr val="DAD7D2"/>
            </a:solidFill>
            <a:prstDash val="solid"/>
          </a:ln>
        </p:spPr>
      </p:sp>
      <p:sp>
        <p:nvSpPr>
          <p:cNvPr id="12" name="Text 10"/>
          <p:cNvSpPr txBox="1"/>
          <p:nvPr/>
        </p:nvSpPr>
        <p:spPr>
          <a:xfrm>
            <a:off x="457200" y="3246120"/>
            <a:ext cx="4592117"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Qué falta antes de escalar</a:t>
            </a:r>
            <a:endParaRPr lang="en-US" sz="1200" dirty="0"/>
          </a:p>
        </p:txBody>
      </p:sp>
      <p:sp>
        <p:nvSpPr>
          <p:cNvPr id="13" name="Text 11"/>
          <p:cNvSpPr txBox="1"/>
          <p:nvPr/>
        </p:nvSpPr>
        <p:spPr>
          <a:xfrm>
            <a:off x="457200" y="3557016"/>
            <a:ext cx="4592117" cy="15544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Medir el efecto del contacto exige un grupo de control que hoy no existe: 2,3 % de los no contactados renovó solo.</a:t>
            </a:r>
            <a:endParaRPr lang="en-US" sz="1100" dirty="0"/>
          </a:p>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El 12 % se adopta solo cuando se fije sobre qué se mide y en qué ventana.</a:t>
            </a:r>
            <a:endParaRPr lang="en-US" sz="1100" dirty="0"/>
          </a:p>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Pregunta clave al negocio: ¿cómo se elige hoy a quién contactar?</a:t>
            </a:r>
            <a:endParaRPr lang="en-US" sz="1100" dirty="0"/>
          </a:p>
        </p:txBody>
      </p:sp>
      <p:sp>
        <p:nvSpPr>
          <p:cNvPr id="14" name="Text 12"/>
          <p:cNvSpPr txBox="1"/>
          <p:nvPr/>
        </p:nvSpPr>
        <p:spPr>
          <a:xfrm>
            <a:off x="457200" y="5138928"/>
            <a:ext cx="4592117"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KPI</a:t>
            </a:r>
            <a:endParaRPr lang="en-US" sz="1200" dirty="0"/>
          </a:p>
        </p:txBody>
      </p:sp>
      <p:sp>
        <p:nvSpPr>
          <p:cNvPr id="15" name="Text 13"/>
          <p:cNvSpPr txBox="1"/>
          <p:nvPr/>
        </p:nvSpPr>
        <p:spPr>
          <a:xfrm>
            <a:off x="457200" y="5413248"/>
            <a:ext cx="4592117" cy="82296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Pesos ganados por contacto, netos de mora, frente a un grupo de control. Mientras no exista: renovaciones por cada 1.000 contactos.</a:t>
            </a:r>
            <a:endParaRPr lang="en-US" sz="1100" dirty="0"/>
          </a:p>
        </p:txBody>
      </p:sp>
      <p:sp>
        <p:nvSpPr>
          <p:cNvPr id="16" name="Text 14"/>
          <p:cNvSpPr txBox="1"/>
          <p:nvPr/>
        </p:nvSpPr>
        <p:spPr>
          <a:xfrm>
            <a:off x="5232197" y="324612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Guardrails: cinco límites que la lista debe respetar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232197" y="3557016"/>
          <a:ext cx="6502116"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712464">
                  <a:extLst>
                    <a:ext uri="{9D8B030D-6E8A-4147-A177-3AD203B41FA5}">
                      <a16:colId xmlns:a16="http://schemas.microsoft.com/office/drawing/2014/main" val="20001"/>
                    </a:ext>
                  </a:extLst>
                </a:gridCol>
                <a:gridCol w="1555212">
                  <a:extLst>
                    <a:ext uri="{9D8B030D-6E8A-4147-A177-3AD203B41FA5}">
                      <a16:colId xmlns:a16="http://schemas.microsoft.com/office/drawing/2014/main" val="20002"/>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Guardrail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Límite</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Si se rompe</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Riesgo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mora esperada de la lista no supera el umbral de Riesgos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se ejecuta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Experiencia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 contactos no peores que hoy</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detiene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Equidad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Ninguna regional ni grupo bajo el 80 % de la tasa de selección de los demás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revisa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Operación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90 % de la lista ejecutada en cada regional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reasignan cupos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Confiabilidad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Datos y aleatorización válidos en cada corte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se puntúa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Los datos sirven para ordenar clientes, no para medir riesgo ni efecto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La base sirve para ordenar clientes por propensión, pero no para medir riesgo ni el efecto del contacto. No deberíamos confiar en dos variables que ya contienen el resultado, ni en las conversiones de la hoja de modelos como si salieran de esta base.</a:t>
            </a:r>
            <a:endParaRPr lang="en-US" sz="1250" dirty="0"/>
          </a:p>
        </p:txBody>
      </p:sp>
      <p:sp>
        <p:nvSpPr>
          <p:cNvPr id="5" name="Text 3"/>
          <p:cNvSpPr txBox="1"/>
          <p:nvPr/>
        </p:nvSpPr>
        <p:spPr>
          <a:xfrm>
            <a:off x="457200" y="1828800"/>
            <a:ext cx="11277295"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Cinco hallazgos en la base de clientes (1.800 filas, 8 cortes mensuales)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18745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gridCol w="4144975">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Hallazgo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Cifra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Qué implica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Nivel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Fuga en dos variables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resultado_gestion_30d AUC 0,83; dias_hasta_renovacion AUC 1,00</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conocen después de gestionar; cualquier modelo que las use se verá mejor de lo que será.</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La base no es el universo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Renovación 20,2 % vs. 3,6 %; 1.800 filas vs. 25.000 al mes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Las conversiones de la hoja vienen de otra población y no se comparan con esta base.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Riesgo no modelable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3 moras en 364 renovados (0,8 %) vs. 4,6–7,2 % reportado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Hay 3 moras: el riesgo tiene que venir de la política de Riesgos.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Calidad y fechas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1 duplicado; 1 contacto posterior al corte; 25 endeudamientos &gt; 1</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base no garantiza que cada dato existiera en la fecha de corte; hacen falta reglas de validación.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Moderado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Señal concentrada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score_buro AUC 0,81; respondio_oferta 0,69; resto &lt; 0,57</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Dos variables explican casi toda la señal; un modelo simple basta.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00A2A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Útil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4"/>
          <p:cNvSpPr txBox="1"/>
          <p:nvPr/>
        </p:nvSpPr>
        <p:spPr>
          <a:xfrm>
            <a:off x="457200" y="4617720"/>
            <a:ext cx="11277295"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Qué decidimos hacer con los datos</a:t>
            </a:r>
            <a:endParaRPr lang="en-US" sz="1200" dirty="0"/>
          </a:p>
        </p:txBody>
      </p:sp>
      <p:sp>
        <p:nvSpPr>
          <p:cNvPr id="8" name="Text 5"/>
          <p:cNvSpPr txBox="1"/>
          <p:nvPr/>
        </p:nvSpPr>
        <p:spPr>
          <a:xfrm>
            <a:off x="457200" y="4919472"/>
            <a:ext cx="11277295" cy="1463040"/>
          </a:xfrm>
          <a:prstGeom prst="rect">
            <a:avLst/>
          </a:prstGeom>
          <a:noFill/>
          <a:ln/>
        </p:spPr>
        <p:txBody>
          <a:bodyPr wrap="square" lIns="0" tIns="0" rIns="0" bIns="0" rtlCol="0" anchor="t"/>
          <a:lstStyle/>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Variables: </a:t>
            </a:r>
            <a:r>
              <a:rPr lang="en-US" sz="1100" dirty="0">
                <a:solidFill>
                  <a:srgbClr val="2E2E2E"/>
                </a:solidFill>
                <a:latin typeface="Segoe UI" pitchFamily="34" charset="0"/>
                <a:ea typeface="Segoe UI" pitchFamily="34" charset="-122"/>
                <a:cs typeface="Segoe UI" pitchFamily="34" charset="-120"/>
              </a:rPr>
              <a:t>quedan 15. Fuera las que contienen el resultado, las de contacto sin fecha certificada, y la contactabilidad y las remesas, que reproducirían la política pasada.</a:t>
            </a:r>
            <a:endParaRPr lang="en-US" sz="1100" dirty="0"/>
          </a:p>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Validación: </a:t>
            </a:r>
            <a:r>
              <a:rPr lang="en-US" sz="1100" dirty="0">
                <a:solidFill>
                  <a:srgbClr val="2E2E2E"/>
                </a:solidFill>
                <a:latin typeface="Segoe UI" pitchFamily="34" charset="0"/>
                <a:ea typeface="Segoe UI" pitchFamily="34" charset="-122"/>
                <a:cs typeface="Segoe UI" pitchFamily="34" charset="-120"/>
              </a:rPr>
              <a:t>como se va a usar. Entrenamos con meses cuyo resultado ya maduró, dejamos un mes de espera y probamos en el siguiente, cuatro veces.</a:t>
            </a:r>
            <a:endParaRPr lang="en-US" sz="1100" dirty="0"/>
          </a:p>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Desbalance: </a:t>
            </a:r>
            <a:r>
              <a:rPr lang="en-US" sz="1100" dirty="0">
                <a:solidFill>
                  <a:srgbClr val="2E2E2E"/>
                </a:solidFill>
                <a:latin typeface="Segoe UI" pitchFamily="34" charset="0"/>
                <a:ea typeface="Segoe UI" pitchFamily="34" charset="-122"/>
                <a:cs typeface="Segoe UI" pitchFamily="34" charset="-120"/>
              </a:rPr>
              <a:t>sin remuestreo. Evaluamos en el 32 % superior, lo que cabe en la capacidad; el accuracy engaña (79,8 % sin acertar un renovador).</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B pasa a piloto, A se verifica antes y C se descarta</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Sobreviven dos: B, que va a piloto, y A, solo si pasa una verificación variable por variable. C no sobrevive porque su AUC viene de información que no existe al priorizar. D se evalúa en el piloto.</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7457115" cy="914400"/>
        </p:xfrm>
        <a:graphic>
          <a:graphicData uri="http://schemas.openxmlformats.org/drawingml/2006/table">
            <a:tbl>
              <a:tblPr/>
              <a:tblGrid>
                <a:gridCol w="5486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2519172">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384048">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Alt.</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Tipo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AUC</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Conversión reportada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Mora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Lectura crítica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Veredicto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Regla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3,6 %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5,1 %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Es la referencia: la única conversión observada en producción.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Referencia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LightGBM</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0,94</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14,8 %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6,4 %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Repliqué su 0,94: solo aparece con el resultado de la gestión; con variables legítimas da 0,82.</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Descartar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XGBoost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0,86</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9,4 %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7,2 %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Su 0,86 no se confirma con esta base y su mora es la más alta: verificar cada variable antes.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Verificar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B</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Logística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0,79</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8,8 %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4,6 %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Su 0,79 coincide con la réplica, está calibrado y tiene la menor mora; también se verifica antes.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00A2A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Piloto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Uplift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Qini 0,12</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7,9 %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+3,1 pp</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Único que mide el efecto del contacto, pero sus cifras no son comparables y no se sabe cómo se aleatorizó.</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Evaluar en piloto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8097195" y="1828800"/>
            <a:ext cx="3637117"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Réplica: el 0,94 de C solo aparece con la fuga</a:t>
            </a:r>
            <a:endParaRPr lang="en-US" sz="1200" dirty="0"/>
          </a:p>
        </p:txBody>
      </p:sp>
      <p:sp>
        <p:nvSpPr>
          <p:cNvPr id="7" name="Text 4"/>
          <p:cNvSpPr txBox="1"/>
          <p:nvPr/>
        </p:nvSpPr>
        <p:spPr>
          <a:xfrm>
            <a:off x="8097195" y="2121408"/>
            <a:ext cx="3637117" cy="41148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Validación en el tiempo: entrenar con meses pasados, esperar un mes y probar en el siguiente.</a:t>
            </a:r>
            <a:endParaRPr lang="en-US" sz="1100" dirty="0"/>
          </a:p>
        </p:txBody>
      </p:sp>
      <p:graphicFrame>
        <p:nvGraphicFramePr>
          <p:cNvPr id="8" name="Chart 0"/>
          <p:cNvGraphicFramePr/>
          <p:nvPr/>
        </p:nvGraphicFramePr>
        <p:xfrm>
          <a:off x="8051475" y="2606040"/>
          <a:ext cx="3682837"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txBox="1"/>
          <p:nvPr/>
        </p:nvSpPr>
        <p:spPr>
          <a:xfrm>
            <a:off x="8097195" y="4279392"/>
            <a:ext cx="3637117" cy="41148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Una validación aleatoria (0,82) no habría revelado la fuga; la temporal sí.</a:t>
            </a:r>
            <a:endParaRPr lang="en-US" sz="1100" dirty="0"/>
          </a:p>
        </p:txBody>
      </p:sp>
      <p:sp>
        <p:nvSpPr>
          <p:cNvPr id="10" name="Shape 6"/>
          <p:cNvSpPr/>
          <p:nvPr/>
        </p:nvSpPr>
        <p:spPr>
          <a:xfrm>
            <a:off x="457200" y="4937760"/>
            <a:ext cx="11277295" cy="0"/>
          </a:xfrm>
          <a:prstGeom prst="line">
            <a:avLst/>
          </a:prstGeom>
          <a:noFill/>
          <a:ln w="9525">
            <a:solidFill>
              <a:srgbClr val="DAD7D2"/>
            </a:solidFill>
            <a:prstDash val="solid"/>
          </a:ln>
        </p:spPr>
      </p:sp>
      <p:sp>
        <p:nvSpPr>
          <p:cNvPr id="11" name="Text 7"/>
          <p:cNvSpPr txBox="1"/>
          <p:nvPr/>
        </p:nvSpPr>
        <p:spPr>
          <a:xfrm>
            <a:off x="457200" y="5074920"/>
            <a:ext cx="5547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Por qué más AUC puede ser peor decisión</a:t>
            </a:r>
            <a:endParaRPr lang="en-US" sz="1200" dirty="0"/>
          </a:p>
        </p:txBody>
      </p:sp>
      <p:sp>
        <p:nvSpPr>
          <p:cNvPr id="12" name="Text 8"/>
          <p:cNvSpPr txBox="1"/>
          <p:nvPr/>
        </p:nvSpPr>
        <p:spPr>
          <a:xfrm>
            <a:off x="457200"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El AUC ordena a todos, pero solo contactamos el 32 % superior, y no distingue una renovación sana de una en mora.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Propensión alta no es efecto: llamar a quien renovaría igual gasta cupos.</a:t>
            </a:r>
            <a:endParaRPr lang="en-US" sz="1100" dirty="0"/>
          </a:p>
        </p:txBody>
      </p:sp>
      <p:sp>
        <p:nvSpPr>
          <p:cNvPr id="13" name="Text 9"/>
          <p:cNvSpPr txBox="1"/>
          <p:nvPr/>
        </p:nvSpPr>
        <p:spPr>
          <a:xfrm>
            <a:off x="6187196" y="5074920"/>
            <a:ext cx="5547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Para comparar D con A y B hace falta</a:t>
            </a:r>
            <a:endParaRPr lang="en-US" sz="1200" dirty="0"/>
          </a:p>
        </p:txBody>
      </p:sp>
      <p:sp>
        <p:nvSpPr>
          <p:cNvPr id="14" name="Text 10"/>
          <p:cNvSpPr txBox="1"/>
          <p:nvPr/>
        </p:nvSpPr>
        <p:spPr>
          <a:xfrm>
            <a:off x="6187196"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Saber qué parte de la campaña de D fue al azar y cómo se cumplió.</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Medir los tres en un mismo grupo de control, en pesos netos de mora.</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B deja más valor que A: 237 frente a 218 millones al mes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B gana por riesgo, no por conversión: cada renovación de B vale 337.200 y una de A, 290.400. Ese valor solo se captura si la lista respeta la capacidad de cada regional, y cerca de la mitad podría ocurrir sin contacto.</a:t>
            </a:r>
            <a:endParaRPr lang="en-US" sz="1250" dirty="0"/>
          </a:p>
        </p:txBody>
      </p:sp>
      <p:sp>
        <p:nvSpPr>
          <p:cNvPr id="5" name="Text 3"/>
          <p:cNvSpPr txBox="1"/>
          <p:nvPr/>
        </p:nvSpPr>
        <p:spPr>
          <a:xfrm>
            <a:off x="457200" y="1828800"/>
            <a:ext cx="4592117"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Valor esperado mensual neto de mora (COP millones)</a:t>
            </a:r>
            <a:endParaRPr lang="en-US" sz="1200" dirty="0"/>
          </a:p>
        </p:txBody>
      </p:sp>
      <p:sp>
        <p:nvSpPr>
          <p:cNvPr id="6" name="Text 4"/>
          <p:cNvSpPr txBox="1"/>
          <p:nvPr/>
        </p:nvSpPr>
        <p:spPr>
          <a:xfrm>
            <a:off x="457200" y="2103120"/>
            <a:ext cx="4592117" cy="41148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8.000 contactos × conversión × (420.000 − mora × 1.800.000). D con la mora actual; C fuera por la fuga.</a:t>
            </a:r>
            <a:endParaRPr lang="en-US" sz="1100" dirty="0"/>
          </a:p>
        </p:txBody>
      </p:sp>
      <p:graphicFrame>
        <p:nvGraphicFramePr>
          <p:cNvPr id="7" name="Chart 0"/>
          <p:cNvGraphicFramePr/>
          <p:nvPr/>
        </p:nvGraphicFramePr>
        <p:xfrm>
          <a:off x="384048" y="2606040"/>
          <a:ext cx="4665269" cy="173736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5232197" y="1828800"/>
            <a:ext cx="2682118" cy="502920"/>
          </a:xfrm>
          <a:prstGeom prst="rect">
            <a:avLst/>
          </a:prstGeom>
          <a:noFill/>
          <a:ln/>
        </p:spPr>
        <p:txBody>
          <a:bodyPr wrap="square" lIns="0" tIns="0" rIns="0" bIns="0" rtlCol="0" anchor="b"/>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+143 M</a:t>
            </a:r>
            <a:endParaRPr lang="en-US" sz="3200" dirty="0"/>
          </a:p>
        </p:txBody>
      </p:sp>
      <p:sp>
        <p:nvSpPr>
          <p:cNvPr id="9" name="Text 6"/>
          <p:cNvSpPr txBox="1"/>
          <p:nvPr/>
        </p:nvSpPr>
        <p:spPr>
          <a:xfrm>
            <a:off x="5232197" y="2377440"/>
            <a:ext cx="2682118" cy="54864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al mes frente a hoy, si las conversiones reportadas se cumplen.</a:t>
            </a:r>
            <a:endParaRPr lang="en-US" sz="1100" dirty="0"/>
          </a:p>
        </p:txBody>
      </p:sp>
      <p:sp>
        <p:nvSpPr>
          <p:cNvPr id="10" name="Text 7"/>
          <p:cNvSpPr txBox="1"/>
          <p:nvPr/>
        </p:nvSpPr>
        <p:spPr>
          <a:xfrm>
            <a:off x="8097195" y="1828800"/>
            <a:ext cx="3637117" cy="502920"/>
          </a:xfrm>
          <a:prstGeom prst="rect">
            <a:avLst/>
          </a:prstGeom>
          <a:noFill/>
          <a:ln/>
        </p:spPr>
        <p:txBody>
          <a:bodyPr wrap="square" lIns="0" tIns="0" rIns="0" bIns="0" rtlCol="0" anchor="b"/>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 103 M</a:t>
            </a:r>
            <a:endParaRPr lang="en-US" sz="3200" dirty="0"/>
          </a:p>
        </p:txBody>
      </p:sp>
      <p:sp>
        <p:nvSpPr>
          <p:cNvPr id="11" name="Text 8"/>
          <p:cNvSpPr txBox="1"/>
          <p:nvPr/>
        </p:nvSpPr>
        <p:spPr>
          <a:xfrm>
            <a:off x="8097195" y="2377440"/>
            <a:ext cx="3637117" cy="54864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valor creado por el contacto si, como sugiere la base, el 57 % de las renovaciones de B ocurriría igual.</a:t>
            </a:r>
            <a:endParaRPr lang="en-US" sz="1100" dirty="0"/>
          </a:p>
        </p:txBody>
      </p:sp>
      <p:sp>
        <p:nvSpPr>
          <p:cNvPr id="12" name="Text 9"/>
          <p:cNvSpPr txBox="1"/>
          <p:nvPr/>
        </p:nvSpPr>
        <p:spPr>
          <a:xfrm>
            <a:off x="5232197" y="301752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Lo que el cálculo no prueba</a:t>
            </a:r>
            <a:endParaRPr lang="en-US" sz="1200" dirty="0"/>
          </a:p>
        </p:txBody>
      </p:sp>
      <p:sp>
        <p:nvSpPr>
          <p:cNvPr id="13" name="Text 10"/>
          <p:cNvSpPr txBox="1"/>
          <p:nvPr/>
        </p:nvSpPr>
        <p:spPr>
          <a:xfrm>
            <a:off x="5232197" y="3310128"/>
            <a:ext cx="6502116" cy="1005840"/>
          </a:xfrm>
          <a:prstGeom prst="rect">
            <a:avLst/>
          </a:prstGeom>
          <a:noFill/>
          <a:ln/>
        </p:spPr>
        <p:txBody>
          <a:bodyPr wrap="square" lIns="0" tIns="0" rIns="0" bIns="0" rtlCol="0" anchor="t"/>
          <a:lstStyle/>
          <a:p>
            <a:pPr marL="152400" indent="-152400">
              <a:lnSpc>
                <a:spcPct val="115000"/>
              </a:lnSpc>
              <a:spcAft>
                <a:spcPts val="400"/>
              </a:spcAft>
              <a:buSzPct val="100000"/>
              <a:buChar char="▪"/>
            </a:pPr>
            <a:r>
              <a:rPr lang="en-US" sz="1100" dirty="0">
                <a:solidFill>
                  <a:srgbClr val="2E2E2E"/>
                </a:solidFill>
                <a:latin typeface="Segoe UI" pitchFamily="34" charset="0"/>
                <a:ea typeface="Segoe UI" pitchFamily="34" charset="-122"/>
                <a:cs typeface="Segoe UI" pitchFamily="34" charset="-120"/>
              </a:rPr>
              <a:t>En conversión, la ventaja de B no se distingue del azar; en mora, apenas. B gana por ser más seguro y auditable.</a:t>
            </a:r>
            <a:endParaRPr lang="en-US" sz="1100" dirty="0"/>
          </a:p>
          <a:p>
            <a:pPr marL="152400" indent="-152400">
              <a:lnSpc>
                <a:spcPct val="115000"/>
              </a:lnSpc>
              <a:spcAft>
                <a:spcPts val="400"/>
              </a:spcAft>
              <a:buSzPct val="100000"/>
              <a:buChar char="▪"/>
            </a:pPr>
            <a:r>
              <a:rPr lang="en-US" sz="1100" dirty="0">
                <a:solidFill>
                  <a:srgbClr val="2E2E2E"/>
                </a:solidFill>
                <a:latin typeface="Segoe UI" pitchFamily="34" charset="0"/>
                <a:ea typeface="Segoe UI" pitchFamily="34" charset="-122"/>
                <a:cs typeface="Segoe UI" pitchFamily="34" charset="-120"/>
              </a:rPr>
              <a:t>A superaría a B solo con mora real menor que 5,8 %; faltan costo de contacto y pérdida real por mora.</a:t>
            </a:r>
            <a:endParaRPr lang="en-US" sz="1100" dirty="0"/>
          </a:p>
        </p:txBody>
      </p:sp>
      <p:sp>
        <p:nvSpPr>
          <p:cNvPr id="14" name="Text 11"/>
          <p:cNvSpPr txBox="1"/>
          <p:nvPr/>
        </p:nvSpPr>
        <p:spPr>
          <a:xfrm>
            <a:off x="457200" y="4480560"/>
            <a:ext cx="11277295"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Cada regional llena su cuota y los cupos sobrantes van donde más valen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4773168"/>
          <a:ext cx="11277295" cy="914400"/>
        </p:xfrm>
        <a:graphic>
          <a:graphicData uri="http://schemas.openxmlformats.org/drawingml/2006/table">
            <a:tbl>
              <a:tblPr/>
              <a:tblGrid>
                <a:gridCol w="11887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4236415">
                  <a:extLst>
                    <a:ext uri="{9D8B030D-6E8A-4147-A177-3AD203B41FA5}">
                      <a16:colId xmlns:a16="http://schemas.microsoft.com/office/drawing/2014/main" val="20005"/>
                    </a:ext>
                  </a:extLst>
                </a:gridCol>
              </a:tblGrid>
              <a:tr h="196596">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Regional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Capacidad</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Con un ranking único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Frente a la capacidad</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Mora histórica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Regla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Suroccidente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2.600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2.400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 200 cupos sin usar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5,4 %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Llena su cuota con su propio ranking y cede los cupos que no use.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Centro</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1.900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2.100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200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4,7 %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Lista semanal para evitar la saturación de fin de mes.</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Norte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1.200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1.300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100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6,8 %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El último contacto vale 85 k: recibe los cupos transferidos.</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Eje Cafetero</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1.000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100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4,9 %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Segundo en valor del último contacto (82 k).</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Oriente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1.300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 200 cupos sin usar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5,5 %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El último contacto vale 65 k: cede cupos, con un tope a pactar.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6" name="Text 12"/>
          <p:cNvSpPr txBox="1"/>
          <p:nvPr/>
        </p:nvSpPr>
        <p:spPr>
          <a:xfrm>
            <a:off x="457200" y="6089904"/>
            <a:ext cx="11277295" cy="22860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Modelo simple, junio a agosto (696 clientes); proyección aproximada.</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Un piloto de dos meses mide si llamar crea renovaciones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Partimos el universo al azar: la herramienta actual elige en una mitad y B en la otra; 800 clientes del top de B no se llaman. El riesgo no se prueba aquí: mismo corte de Riesgos en ambos brazos y mora vigilada por cosecha.</a:t>
            </a:r>
            <a:endParaRPr lang="en-US" sz="1250" dirty="0"/>
          </a:p>
        </p:txBody>
      </p:sp>
      <p:sp>
        <p:nvSpPr>
          <p:cNvPr id="5" name="Text 3"/>
          <p:cNvSpPr txBox="1"/>
          <p:nvPr/>
        </p:nvSpPr>
        <p:spPr>
          <a:xfrm>
            <a:off x="457200" y="182880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Clientes al mes en cada brazo</a:t>
            </a:r>
            <a:endParaRPr lang="en-US" sz="1200" dirty="0"/>
          </a:p>
        </p:txBody>
      </p:sp>
      <p:sp>
        <p:nvSpPr>
          <p:cNvPr id="6" name="Lista actual"/>
          <p:cNvSpPr/>
          <p:nvPr/>
        </p:nvSpPr>
        <p:spPr>
          <a:xfrm>
            <a:off x="457200" y="2139696"/>
            <a:ext cx="2930569" cy="420624"/>
          </a:xfrm>
          <a:prstGeom prst="rect">
            <a:avLst/>
          </a:prstGeom>
          <a:solidFill>
            <a:srgbClr val="FFF1EA"/>
          </a:solidFill>
          <a:ln w="9525">
            <a:solidFill>
              <a:srgbClr val="C9C5BF"/>
            </a:solidFill>
            <a:prstDash val="solid"/>
          </a:ln>
        </p:spPr>
      </p:sp>
      <p:sp>
        <p:nvSpPr>
          <p:cNvPr id="7" name="Lista nueva"/>
          <p:cNvSpPr/>
          <p:nvPr/>
        </p:nvSpPr>
        <p:spPr>
          <a:xfrm>
            <a:off x="3442633" y="2139696"/>
            <a:ext cx="2930569" cy="420624"/>
          </a:xfrm>
          <a:prstGeom prst="rect">
            <a:avLst/>
          </a:prstGeom>
          <a:solidFill>
            <a:srgbClr val="005C63"/>
          </a:solidFill>
          <a:ln/>
        </p:spPr>
      </p:sp>
      <p:sp>
        <p:nvSpPr>
          <p:cNvPr id="8" name="Grupo de control"/>
          <p:cNvSpPr/>
          <p:nvPr/>
        </p:nvSpPr>
        <p:spPr>
          <a:xfrm>
            <a:off x="6373202" y="2139696"/>
            <a:ext cx="586114" cy="420624"/>
          </a:xfrm>
          <a:prstGeom prst="rect">
            <a:avLst/>
          </a:prstGeom>
          <a:solidFill>
            <a:srgbClr val="FE6A00"/>
          </a:solidFill>
          <a:ln/>
        </p:spPr>
      </p:sp>
      <p:sp>
        <p:nvSpPr>
          <p:cNvPr id="9" name="Text 7"/>
          <p:cNvSpPr txBox="1"/>
          <p:nvPr/>
        </p:nvSpPr>
        <p:spPr>
          <a:xfrm>
            <a:off x="566928" y="2139696"/>
            <a:ext cx="2747689" cy="420624"/>
          </a:xfrm>
          <a:prstGeom prst="rect">
            <a:avLst/>
          </a:prstGeom>
          <a:noFill/>
          <a:ln/>
        </p:spPr>
        <p:txBody>
          <a:bodyPr wrap="square" lIns="0" tIns="0" rIns="0" bIns="0" rtlCol="0" anchor="ctr"/>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Lista actual (champion) · 4.000 llamados</a:t>
            </a:r>
            <a:endParaRPr lang="en-US" sz="1100" dirty="0"/>
          </a:p>
        </p:txBody>
      </p:sp>
      <p:sp>
        <p:nvSpPr>
          <p:cNvPr id="10" name="Text 8"/>
          <p:cNvSpPr txBox="1"/>
          <p:nvPr/>
        </p:nvSpPr>
        <p:spPr>
          <a:xfrm>
            <a:off x="3552361" y="2139696"/>
            <a:ext cx="2747689" cy="420624"/>
          </a:xfrm>
          <a:prstGeom prst="rect">
            <a:avLst/>
          </a:prstGeom>
          <a:noFill/>
          <a:ln/>
        </p:spPr>
        <p:txBody>
          <a:bodyPr wrap="square" lIns="0" tIns="0" rIns="0" bIns="0" rtlCol="0" anchor="ctr"/>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Lista nueva (B) · 4.000 llamados</a:t>
            </a:r>
            <a:endParaRPr lang="en-US" sz="1100" dirty="0"/>
          </a:p>
        </p:txBody>
      </p:sp>
      <p:sp>
        <p:nvSpPr>
          <p:cNvPr id="11" name="Text 9"/>
          <p:cNvSpPr txBox="1"/>
          <p:nvPr/>
        </p:nvSpPr>
        <p:spPr>
          <a:xfrm>
            <a:off x="6373202" y="2139696"/>
            <a:ext cx="586114" cy="420624"/>
          </a:xfrm>
          <a:prstGeom prst="rect">
            <a:avLst/>
          </a:prstGeom>
          <a:noFill/>
          <a:ln/>
        </p:spPr>
        <p:txBody>
          <a:bodyPr wrap="square" lIns="0" tIns="0" rIns="0" bIns="0" rtlCol="0" anchor="ctr"/>
          <a:lstStyle/>
          <a:p>
            <a:pPr marL="0" indent="0" algn="ctr">
              <a:lnSpc>
                <a:spcPct val="115000"/>
              </a:lnSpc>
              <a:buNone/>
            </a:pPr>
            <a:r>
              <a:rPr lang="en-US" sz="1100" b="1" dirty="0">
                <a:solidFill>
                  <a:srgbClr val="2E2E2E"/>
                </a:solidFill>
                <a:latin typeface="Segoe UI" pitchFamily="34" charset="0"/>
                <a:ea typeface="Segoe UI" pitchFamily="34" charset="-122"/>
                <a:cs typeface="Segoe UI" pitchFamily="34" charset="-120"/>
              </a:rPr>
              <a:t>800</a:t>
            </a:r>
            <a:endParaRPr lang="en-US" sz="1100" dirty="0"/>
          </a:p>
        </p:txBody>
      </p:sp>
      <p:sp>
        <p:nvSpPr>
          <p:cNvPr id="12" name="Text 10"/>
          <p:cNvSpPr txBox="1"/>
          <p:nvPr/>
        </p:nvSpPr>
        <p:spPr>
          <a:xfrm>
            <a:off x="457200" y="2761488"/>
            <a:ext cx="6502116" cy="109728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Calidad de la lista: </a:t>
            </a:r>
            <a:r>
              <a:rPr lang="en-US" sz="1100" dirty="0">
                <a:solidFill>
                  <a:srgbClr val="2E2E2E"/>
                </a:solidFill>
                <a:latin typeface="Segoe UI" pitchFamily="34" charset="0"/>
                <a:ea typeface="Segoe UI" pitchFamily="34" charset="-122"/>
                <a:cs typeface="Segoe UI" pitchFamily="34" charset="-120"/>
              </a:rPr>
              <a:t>una mejora de 3,6 % a 5,4 % se detecta en un mes.</a:t>
            </a:r>
            <a:endParaRPr lang="en-US" sz="1100" dirty="0"/>
          </a:p>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Efecto del contacto: </a:t>
            </a:r>
            <a:r>
              <a:rPr lang="en-US" sz="1100" dirty="0">
                <a:solidFill>
                  <a:srgbClr val="2E2E2E"/>
                </a:solidFill>
                <a:latin typeface="Segoe UI" pitchFamily="34" charset="0"/>
                <a:ea typeface="Segoe UI" pitchFamily="34" charset="-122"/>
                <a:cs typeface="Segoe UI" pitchFamily="34" charset="-120"/>
              </a:rPr>
              <a:t>+3,8 puntos sobre el 5 % que renueva solo se ven en menos de un mes; +1,7, en poco más de dos.</a:t>
            </a:r>
            <a:endParaRPr lang="en-US" sz="1100" dirty="0"/>
          </a:p>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Límite: </a:t>
            </a:r>
            <a:r>
              <a:rPr lang="en-US" sz="1100" dirty="0">
                <a:solidFill>
                  <a:srgbClr val="2E2E2E"/>
                </a:solidFill>
                <a:latin typeface="Segoe UI" pitchFamily="34" charset="0"/>
                <a:ea typeface="Segoe UI" pitchFamily="34" charset="-122"/>
                <a:cs typeface="Segoe UI" pitchFamily="34" charset="-120"/>
              </a:rPr>
              <a:t>la herramienta actual queda sin grupo de control.</a:t>
            </a:r>
            <a:endParaRPr lang="en-US" sz="1100" dirty="0"/>
          </a:p>
        </p:txBody>
      </p:sp>
      <p:sp>
        <p:nvSpPr>
          <p:cNvPr id="13" name="Text 11"/>
          <p:cNvSpPr txBox="1"/>
          <p:nvPr/>
        </p:nvSpPr>
        <p:spPr>
          <a:xfrm>
            <a:off x="457200" y="393192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Monitoreo durante los tres meses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224528"/>
          <a:ext cx="6502116" cy="914400"/>
        </p:xfrm>
        <a:graphic>
          <a:graphicData uri="http://schemas.openxmlformats.org/drawingml/2006/table">
            <a:tbl>
              <a:tblPr/>
              <a:tblGrid>
                <a:gridCol w="9601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2021556">
                  <a:extLst>
                    <a:ext uri="{9D8B030D-6E8A-4147-A177-3AD203B41FA5}">
                      <a16:colId xmlns:a16="http://schemas.microsoft.com/office/drawing/2014/main" val="20002"/>
                    </a:ext>
                  </a:extLst>
                </a:gridCol>
              </a:tblGrid>
              <a:tr h="219456">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Dimensión</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Qué se vigila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Acción</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Datos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Validación de cada corte: formatos, rangos y fechas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Si falla, no se puntúa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Población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Cambios en la población (PSI del score y de cada variable)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Investigar desde 0,10; revalidar desde 0,25</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Desempeño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Resultado real del modelo cuando el dato madura (30 a 60 días)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Recalibrar o volver a la herramienta 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Riesgo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Mora 30+ de cada cosecha mensual, por brazo y regional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Endurecer el corte o pausar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Operación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Lista contactada por regional y semana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Reasignar cupos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Experiencia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 contactos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Pausar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5" name="Text 12"/>
          <p:cNvSpPr txBox="1"/>
          <p:nvPr/>
        </p:nvSpPr>
        <p:spPr>
          <a:xfrm>
            <a:off x="7325076" y="1828800"/>
            <a:ext cx="4409420"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Reglas de decisión, escritas antes del piloto</a:t>
            </a:r>
            <a:endParaRPr lang="en-US" sz="1200" dirty="0"/>
          </a:p>
        </p:txBody>
      </p:sp>
      <p:graphicFrame>
        <p:nvGraphicFramePr>
          <p:cNvPr id="16" name="Table 1"/>
          <p:cNvGraphicFramePr>
            <a:graphicFrameLocks noGrp="1"/>
          </p:cNvGraphicFramePr>
          <p:nvPr>
            <p:extLst>
              <p:ext uri="{D42A27DB-BD31-4B8C-83A1-F6EECF244321}">
                <p14:modId xmlns:p14="http://schemas.microsoft.com/office/powerpoint/2010/main" val="1579011935"/>
              </p:ext>
            </p:extLst>
          </p:nvPr>
        </p:nvGraphicFramePr>
        <p:xfrm>
          <a:off x="7325076" y="2121408"/>
          <a:ext cx="4409420" cy="914400"/>
        </p:xfrm>
        <a:graphic>
          <a:graphicData uri="http://schemas.openxmlformats.org/drawingml/2006/table">
            <a:tbl>
              <a:tblPr/>
              <a:tblGrid>
                <a:gridCol w="2212848">
                  <a:extLst>
                    <a:ext uri="{9D8B030D-6E8A-4147-A177-3AD203B41FA5}">
                      <a16:colId xmlns:a16="http://schemas.microsoft.com/office/drawing/2014/main" val="20000"/>
                    </a:ext>
                  </a:extLst>
                </a:gridCol>
                <a:gridCol w="2196572">
                  <a:extLst>
                    <a:ext uri="{9D8B030D-6E8A-4147-A177-3AD203B41FA5}">
                      <a16:colId xmlns:a16="http://schemas.microsoft.com/office/drawing/2014/main" val="20001"/>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Criterio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Se adopta si</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lista nueva convierte más que la 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1,5 puntos más, con diferencia estadísticamente clara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Contactar crea renovaciones frente al grupo de control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diferencia estadísticamente clara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Mora 30+ de renovados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supera la actual en más de 1 punto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peores que hoy</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lista se ejecutó y la asignación al azar se cumplió</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90 % por regional; sin sesgo de asignación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7" name="Text 13"/>
          <p:cNvSpPr txBox="1"/>
          <p:nvPr/>
        </p:nvSpPr>
        <p:spPr>
          <a:xfrm>
            <a:off x="7325076" y="4480560"/>
            <a:ext cx="4409420"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No se libera si</a:t>
            </a:r>
            <a:endParaRPr lang="en-US" sz="1200" dirty="0"/>
          </a:p>
        </p:txBody>
      </p:sp>
      <p:sp>
        <p:nvSpPr>
          <p:cNvPr id="18" name="Text 14"/>
          <p:cNvSpPr txBox="1"/>
          <p:nvPr/>
        </p:nvSpPr>
        <p:spPr>
          <a:xfrm>
            <a:off x="7325076" y="4773168"/>
            <a:ext cx="4409420" cy="160020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Alguna variable no existe al puntuar o la validación no respetó el tiempo.</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Falta calibración, control, plan de vuelta atrás o dueño de cada alerta.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Se ejecuta menos del 90 % de la lista.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Se excluye un grupo o regional sin razón de negocio.</a:t>
            </a:r>
            <a:endParaRPr lang="en-US" sz="1100" dirty="0"/>
          </a:p>
        </p:txBody>
      </p:sp>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Aprobar hoy el piloto de B y no liberar C</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Pedimos tres decisiones hoy: aprobar desde el próximo corte el piloto de B con grupo de control, no liberar C y fijar el KPI y los guardrails con su responsable.</a:t>
            </a:r>
            <a:endParaRPr lang="en-US" sz="1250" dirty="0"/>
          </a:p>
        </p:txBody>
      </p:sp>
      <p:sp>
        <p:nvSpPr>
          <p:cNvPr id="5" name="Text 3"/>
          <p:cNvSpPr txBox="1"/>
          <p:nvPr/>
        </p:nvSpPr>
        <p:spPr>
          <a:xfrm>
            <a:off x="457200" y="182880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Tres decisiones para hoy</a:t>
            </a:r>
            <a:endParaRPr lang="en-US" sz="1200" dirty="0"/>
          </a:p>
        </p:txBody>
      </p:sp>
      <p:sp>
        <p:nvSpPr>
          <p:cNvPr id="6" name="Text 4"/>
          <p:cNvSpPr txBox="1"/>
          <p:nvPr/>
        </p:nvSpPr>
        <p:spPr>
          <a:xfrm>
            <a:off x="457200" y="2157984"/>
            <a:ext cx="457200" cy="548640"/>
          </a:xfrm>
          <a:prstGeom prst="rect">
            <a:avLst/>
          </a:prstGeom>
          <a:noFill/>
          <a:ln/>
        </p:spPr>
        <p:txBody>
          <a:bodyPr wrap="square" lIns="0" tIns="0" rIns="0" bIns="0" rtlCol="0" anchor="t"/>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1</a:t>
            </a:r>
            <a:endParaRPr lang="en-US" sz="3200" dirty="0"/>
          </a:p>
        </p:txBody>
      </p:sp>
      <p:sp>
        <p:nvSpPr>
          <p:cNvPr id="7" name="Text 5"/>
          <p:cNvSpPr txBox="1"/>
          <p:nvPr/>
        </p:nvSpPr>
        <p:spPr>
          <a:xfrm>
            <a:off x="1005840" y="2212848"/>
            <a:ext cx="5953476" cy="603504"/>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Aprobar el piloto</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Dos meses, tres brazos, 8.000 contactos al mes.</a:t>
            </a:r>
            <a:endParaRPr lang="en-US" sz="1100" dirty="0"/>
          </a:p>
        </p:txBody>
      </p:sp>
      <p:sp>
        <p:nvSpPr>
          <p:cNvPr id="8" name="Shape 6"/>
          <p:cNvSpPr/>
          <p:nvPr/>
        </p:nvSpPr>
        <p:spPr>
          <a:xfrm>
            <a:off x="457200" y="2852928"/>
            <a:ext cx="6502116" cy="0"/>
          </a:xfrm>
          <a:prstGeom prst="line">
            <a:avLst/>
          </a:prstGeom>
          <a:noFill/>
          <a:ln w="9525">
            <a:solidFill>
              <a:srgbClr val="DAD7D2"/>
            </a:solidFill>
            <a:prstDash val="solid"/>
          </a:ln>
        </p:spPr>
      </p:sp>
      <p:sp>
        <p:nvSpPr>
          <p:cNvPr id="9" name="Text 7"/>
          <p:cNvSpPr txBox="1"/>
          <p:nvPr/>
        </p:nvSpPr>
        <p:spPr>
          <a:xfrm>
            <a:off x="457200" y="2871216"/>
            <a:ext cx="457200" cy="548640"/>
          </a:xfrm>
          <a:prstGeom prst="rect">
            <a:avLst/>
          </a:prstGeom>
          <a:noFill/>
          <a:ln/>
        </p:spPr>
        <p:txBody>
          <a:bodyPr wrap="square" lIns="0" tIns="0" rIns="0" bIns="0" rtlCol="0" anchor="t"/>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2</a:t>
            </a:r>
            <a:endParaRPr lang="en-US" sz="3200" dirty="0"/>
          </a:p>
        </p:txBody>
      </p:sp>
      <p:sp>
        <p:nvSpPr>
          <p:cNvPr id="10" name="Text 8"/>
          <p:cNvSpPr txBox="1"/>
          <p:nvPr/>
        </p:nvSpPr>
        <p:spPr>
          <a:xfrm>
            <a:off x="1005840" y="2926080"/>
            <a:ext cx="5953476" cy="603504"/>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No liberar C; condicionar A y D</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A, tras verificar sus variables; D, con datos del grupo de control.</a:t>
            </a:r>
            <a:endParaRPr lang="en-US" sz="1100" dirty="0"/>
          </a:p>
        </p:txBody>
      </p:sp>
      <p:sp>
        <p:nvSpPr>
          <p:cNvPr id="11" name="Shape 9"/>
          <p:cNvSpPr/>
          <p:nvPr/>
        </p:nvSpPr>
        <p:spPr>
          <a:xfrm>
            <a:off x="457200" y="3566160"/>
            <a:ext cx="6502116" cy="0"/>
          </a:xfrm>
          <a:prstGeom prst="line">
            <a:avLst/>
          </a:prstGeom>
          <a:noFill/>
          <a:ln w="9525">
            <a:solidFill>
              <a:srgbClr val="DAD7D2"/>
            </a:solidFill>
            <a:prstDash val="solid"/>
          </a:ln>
        </p:spPr>
      </p:sp>
      <p:sp>
        <p:nvSpPr>
          <p:cNvPr id="12" name="Text 10"/>
          <p:cNvSpPr txBox="1"/>
          <p:nvPr/>
        </p:nvSpPr>
        <p:spPr>
          <a:xfrm>
            <a:off x="457200" y="3584448"/>
            <a:ext cx="457200" cy="548640"/>
          </a:xfrm>
          <a:prstGeom prst="rect">
            <a:avLst/>
          </a:prstGeom>
          <a:noFill/>
          <a:ln/>
        </p:spPr>
        <p:txBody>
          <a:bodyPr wrap="square" lIns="0" tIns="0" rIns="0" bIns="0" rtlCol="0" anchor="t"/>
          <a:lstStyle/>
          <a:p>
            <a:pPr marL="0" indent="0">
              <a:lnSpc>
                <a:spcPct val="100000"/>
              </a:lnSpc>
              <a:buNone/>
            </a:pPr>
            <a:r>
              <a:rPr lang="en-US" sz="3200" dirty="0">
                <a:solidFill>
                  <a:srgbClr val="E35A00"/>
                </a:solidFill>
                <a:latin typeface="Bahnschrift" pitchFamily="34" charset="0"/>
                <a:ea typeface="Bahnschrift" pitchFamily="34" charset="-122"/>
                <a:cs typeface="Bahnschrift" pitchFamily="34" charset="-120"/>
              </a:rPr>
              <a:t>3</a:t>
            </a:r>
            <a:endParaRPr lang="en-US" sz="3200" dirty="0"/>
          </a:p>
        </p:txBody>
      </p:sp>
      <p:sp>
        <p:nvSpPr>
          <p:cNvPr id="13" name="Text 11"/>
          <p:cNvSpPr txBox="1"/>
          <p:nvPr/>
        </p:nvSpPr>
        <p:spPr>
          <a:xfrm>
            <a:off x="1005840" y="3639312"/>
            <a:ext cx="5953476" cy="603504"/>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Fijar KPI y guardrails</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Pesos netos de mora por contacto; cinco límites con umbral y responsable.</a:t>
            </a:r>
            <a:endParaRPr lang="en-US" sz="1100" dirty="0"/>
          </a:p>
        </p:txBody>
      </p:sp>
      <p:sp>
        <p:nvSpPr>
          <p:cNvPr id="14" name="Text 12"/>
          <p:cNvSpPr txBox="1"/>
          <p:nvPr/>
        </p:nvSpPr>
        <p:spPr>
          <a:xfrm>
            <a:off x="457200" y="452628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Gobierno</a:t>
            </a:r>
            <a:endParaRPr lang="en-US" sz="1200" dirty="0"/>
          </a:p>
        </p:txBody>
      </p:sp>
      <p:sp>
        <p:nvSpPr>
          <p:cNvPr id="15" name="Text 13"/>
          <p:cNvSpPr txBox="1"/>
          <p:nvPr/>
        </p:nvSpPr>
        <p:spPr>
          <a:xfrm>
            <a:off x="457200" y="4818888"/>
            <a:ext cx="6502116" cy="1280160"/>
          </a:xfrm>
          <a:prstGeom prst="rect">
            <a:avLst/>
          </a:prstGeom>
          <a:noFill/>
          <a:ln/>
        </p:spPr>
        <p:txBody>
          <a:bodyPr wrap="square" lIns="0" tIns="0" rIns="0" bIns="0" rtlCol="0" anchor="t"/>
          <a:lstStyle/>
          <a:p>
            <a:pPr marL="152400" indent="-152400">
              <a:lnSpc>
                <a:spcPct val="115000"/>
              </a:lnSpc>
              <a:spcAft>
                <a:spcPts val="400"/>
              </a:spcAft>
              <a:buSzPct val="100000"/>
              <a:buChar char="▪"/>
            </a:pPr>
            <a:r>
              <a:rPr lang="en-US" sz="1100" b="1" dirty="0">
                <a:solidFill>
                  <a:srgbClr val="2E2E2E"/>
                </a:solidFill>
                <a:latin typeface="Segoe UI" pitchFamily="34" charset="0"/>
                <a:ea typeface="Segoe UI" pitchFamily="34" charset="-122"/>
                <a:cs typeface="Segoe UI" pitchFamily="34" charset="-120"/>
              </a:rPr>
              <a:t>Equidad: </a:t>
            </a:r>
            <a:r>
              <a:rPr lang="en-US" sz="1100" dirty="0">
                <a:solidFill>
                  <a:srgbClr val="2E2E2E"/>
                </a:solidFill>
                <a:latin typeface="Segoe UI" pitchFamily="34" charset="0"/>
                <a:ea typeface="Segoe UI" pitchFamily="34" charset="-122"/>
                <a:cs typeface="Segoe UI" pitchFamily="34" charset="-120"/>
              </a:rPr>
              <a:t>selección y conversión por regional, remesas y buró.</a:t>
            </a:r>
            <a:endParaRPr lang="en-US" sz="1100" dirty="0"/>
          </a:p>
          <a:p>
            <a:pPr marL="152400" indent="-152400">
              <a:lnSpc>
                <a:spcPct val="115000"/>
              </a:lnSpc>
              <a:spcAft>
                <a:spcPts val="400"/>
              </a:spcAft>
              <a:buSzPct val="100000"/>
              <a:buChar char="▪"/>
            </a:pPr>
            <a:r>
              <a:rPr lang="en-US" sz="1100" dirty="0">
                <a:solidFill>
                  <a:srgbClr val="2E2E2E"/>
                </a:solidFill>
                <a:latin typeface="Segoe UI" pitchFamily="34" charset="0"/>
                <a:ea typeface="Segoe UI" pitchFamily="34" charset="-122"/>
                <a:cs typeface="Segoe UI" pitchFamily="34" charset="-120"/>
              </a:rPr>
              <a:t>Importancia no es causa: solo el grupo de control prueba si llamar cambia el resultado.</a:t>
            </a:r>
            <a:endParaRPr lang="en-US" sz="1100" dirty="0"/>
          </a:p>
        </p:txBody>
      </p:sp>
      <p:sp>
        <p:nvSpPr>
          <p:cNvPr id="16" name="Ruta 90 días"/>
          <p:cNvSpPr/>
          <p:nvPr/>
        </p:nvSpPr>
        <p:spPr>
          <a:xfrm>
            <a:off x="8005755" y="1828800"/>
            <a:ext cx="3728740" cy="4498848"/>
          </a:xfrm>
          <a:prstGeom prst="rect">
            <a:avLst/>
          </a:prstGeom>
          <a:solidFill>
            <a:srgbClr val="005C63"/>
          </a:solidFill>
          <a:ln/>
        </p:spPr>
      </p:sp>
      <p:sp>
        <p:nvSpPr>
          <p:cNvPr id="17" name="Text 15"/>
          <p:cNvSpPr txBox="1"/>
          <p:nvPr/>
        </p:nvSpPr>
        <p:spPr>
          <a:xfrm>
            <a:off x="8261787" y="2048256"/>
            <a:ext cx="3216676" cy="256032"/>
          </a:xfrm>
          <a:prstGeom prst="rect">
            <a:avLst/>
          </a:prstGeom>
          <a:noFill/>
          <a:ln/>
        </p:spPr>
        <p:txBody>
          <a:bodyPr wrap="square" lIns="0" tIns="0" rIns="0" bIns="0" rtlCol="0" anchor="t"/>
          <a:lstStyle/>
          <a:p>
            <a:pPr marL="0" indent="0">
              <a:lnSpc>
                <a:spcPct val="115000"/>
              </a:lnSpc>
              <a:buNone/>
            </a:pPr>
            <a:r>
              <a:rPr lang="en-US" sz="1200" b="1" dirty="0">
                <a:solidFill>
                  <a:srgbClr val="FFFFFF"/>
                </a:solidFill>
                <a:latin typeface="Segoe UI" pitchFamily="34" charset="0"/>
                <a:ea typeface="Segoe UI" pitchFamily="34" charset="-122"/>
                <a:cs typeface="Segoe UI" pitchFamily="34" charset="-120"/>
              </a:rPr>
              <a:t>Ruta de 90 días</a:t>
            </a:r>
            <a:endParaRPr lang="en-US" sz="1200" dirty="0"/>
          </a:p>
        </p:txBody>
      </p:sp>
      <p:sp>
        <p:nvSpPr>
          <p:cNvPr id="18" name="Shape 16"/>
          <p:cNvSpPr/>
          <p:nvPr/>
        </p:nvSpPr>
        <p:spPr>
          <a:xfrm>
            <a:off x="8261787" y="2551176"/>
            <a:ext cx="82296" cy="82296"/>
          </a:xfrm>
          <a:prstGeom prst="rect">
            <a:avLst/>
          </a:prstGeom>
          <a:solidFill>
            <a:srgbClr val="FE6A00"/>
          </a:solidFill>
          <a:ln/>
        </p:spPr>
      </p:sp>
      <p:sp>
        <p:nvSpPr>
          <p:cNvPr id="19" name="Text 17"/>
          <p:cNvSpPr txBox="1"/>
          <p:nvPr/>
        </p:nvSpPr>
        <p:spPr>
          <a:xfrm>
            <a:off x="8462955" y="2487168"/>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Semanas 1 a 2</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Definir el 12 %, la regla de contacto y el uso del buró.</a:t>
            </a:r>
            <a:endParaRPr lang="en-US" sz="1100" dirty="0"/>
          </a:p>
        </p:txBody>
      </p:sp>
      <p:sp>
        <p:nvSpPr>
          <p:cNvPr id="20" name="Shape 18"/>
          <p:cNvSpPr/>
          <p:nvPr/>
        </p:nvSpPr>
        <p:spPr>
          <a:xfrm>
            <a:off x="8261787" y="3483864"/>
            <a:ext cx="82296" cy="82296"/>
          </a:xfrm>
          <a:prstGeom prst="rect">
            <a:avLst/>
          </a:prstGeom>
          <a:solidFill>
            <a:srgbClr val="FE6A00"/>
          </a:solidFill>
          <a:ln/>
        </p:spPr>
      </p:sp>
      <p:sp>
        <p:nvSpPr>
          <p:cNvPr id="21" name="Text 19"/>
          <p:cNvSpPr txBox="1"/>
          <p:nvPr/>
        </p:nvSpPr>
        <p:spPr>
          <a:xfrm>
            <a:off x="8462955" y="3419856"/>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Semanas 3 a 4</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Verificar A y B variable por variable; datos fechados al corte; cuotas.</a:t>
            </a:r>
            <a:endParaRPr lang="en-US" sz="1100" dirty="0"/>
          </a:p>
        </p:txBody>
      </p:sp>
      <p:sp>
        <p:nvSpPr>
          <p:cNvPr id="22" name="Shape 20"/>
          <p:cNvSpPr/>
          <p:nvPr/>
        </p:nvSpPr>
        <p:spPr>
          <a:xfrm>
            <a:off x="8261787" y="4416552"/>
            <a:ext cx="82296" cy="82296"/>
          </a:xfrm>
          <a:prstGeom prst="rect">
            <a:avLst/>
          </a:prstGeom>
          <a:solidFill>
            <a:srgbClr val="FE6A00"/>
          </a:solidFill>
          <a:ln/>
        </p:spPr>
      </p:sp>
      <p:sp>
        <p:nvSpPr>
          <p:cNvPr id="23" name="Text 21"/>
          <p:cNvSpPr txBox="1"/>
          <p:nvPr/>
        </p:nvSpPr>
        <p:spPr>
          <a:xfrm>
            <a:off x="8462955" y="4352544"/>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Meses 2 a 3</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Piloto con grupo de control y monitoreo semanal.</a:t>
            </a:r>
            <a:endParaRPr lang="en-US" sz="1100" dirty="0"/>
          </a:p>
        </p:txBody>
      </p:sp>
      <p:sp>
        <p:nvSpPr>
          <p:cNvPr id="24" name="Shape 22"/>
          <p:cNvSpPr/>
          <p:nvPr/>
        </p:nvSpPr>
        <p:spPr>
          <a:xfrm>
            <a:off x="8261787" y="5349240"/>
            <a:ext cx="82296" cy="82296"/>
          </a:xfrm>
          <a:prstGeom prst="rect">
            <a:avLst/>
          </a:prstGeom>
          <a:solidFill>
            <a:srgbClr val="FE6A00"/>
          </a:solidFill>
          <a:ln/>
        </p:spPr>
      </p:sp>
      <p:sp>
        <p:nvSpPr>
          <p:cNvPr id="25" name="Text 23"/>
          <p:cNvSpPr txBox="1"/>
          <p:nvPr/>
        </p:nvSpPr>
        <p:spPr>
          <a:xfrm>
            <a:off x="8462955" y="5285232"/>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Mes 4</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Si llamar crea renovaciones, escalar; si no, mantener la herramienta actual.</a:t>
            </a:r>
            <a:endParaRPr lang="en-US" sz="1100" dirty="0"/>
          </a:p>
        </p:txBody>
      </p:sp>
      <p:sp>
        <p:nvSpPr>
          <p:cNvPr id="26"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347472"/>
            <a:ext cx="11277295" cy="438912"/>
          </a:xfrm>
          <a:prstGeom prst="rect">
            <a:avLst/>
          </a:prstGeom>
          <a:noFill/>
          <a:ln/>
        </p:spPr>
        <p:txBody>
          <a:bodyPr wrap="square" lIns="0" tIns="0" rIns="0" bIns="0" rtlCol="0" anchor="t"/>
          <a:lstStyle/>
          <a:p>
            <a:pPr marL="0" indent="0" algn="l">
              <a:buNone/>
            </a:pPr>
            <a:r>
              <a:rPr lang="en-US" sz="2400" dirty="0">
                <a:solidFill>
                  <a:srgbClr val="2E2E2E"/>
                </a:solidFill>
                <a:latin typeface="Bahnschrift" pitchFamily="34" charset="0"/>
                <a:ea typeface="Bahnschrift" pitchFamily="34" charset="-122"/>
                <a:cs typeface="Bahnschrift" pitchFamily="34" charset="-120"/>
              </a:rPr>
              <a:t>Anexo · Soporte técnico: réplica, economía, tamaños de muestra y variables</a:t>
            </a:r>
            <a:endParaRPr lang="en-US" sz="2400" dirty="0"/>
          </a:p>
        </p:txBody>
      </p:sp>
      <p:sp>
        <p:nvSpPr>
          <p:cNvPr id="3" name="Text 1"/>
          <p:cNvSpPr txBox="1"/>
          <p:nvPr/>
        </p:nvSpPr>
        <p:spPr>
          <a:xfrm>
            <a:off x="457200" y="1051560"/>
            <a:ext cx="6502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Réplica fuera de tiempo (train ≤ t−2, un corte de gap, test = t, t = mayo a agosto)</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44168"/>
          <a:ext cx="6502116" cy="914400"/>
        </p:xfrm>
        <a:graphic>
          <a:graphicData uri="http://schemas.openxmlformats.org/drawingml/2006/table">
            <a:tbl>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1061618">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tblGrid>
              <a:tr h="228600">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Conjunto de variables</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Modelo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AUC</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Rango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PR-AUC</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Calibración (pend.)</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Brier</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15 ex ante limpias</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0,820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0,78–0,85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0,53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0,129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15 ex ante limpias</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LightGBM</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0,77–0,82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0,49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0,137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remesas, contactabilidad, regional</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0,821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0,79–0,85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0,53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0,128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resultado_gestion_30d</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0,944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0,93–0,97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0,067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dias_hasta_renovacion</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LightGBM</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1,000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1,00–1,00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0,000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457200" y="2926080"/>
            <a:ext cx="6502116" cy="804672"/>
          </a:xfrm>
          <a:prstGeom prst="rect">
            <a:avLst/>
          </a:prstGeom>
          <a:noFill/>
          <a:ln/>
        </p:spPr>
        <p:txBody>
          <a:bodyPr wrap="square" lIns="0" tIns="0" rIns="0" bIns="0" rtlCol="0" anchor="t"/>
          <a:lstStyle/>
          <a:p>
            <a:pPr marL="0" indent="0">
              <a:lnSpc>
                <a:spcPct val="105000"/>
              </a:lnSpc>
              <a:buNone/>
            </a:pPr>
            <a:r>
              <a:rPr lang="en-US" sz="850" dirty="0">
                <a:solidFill>
                  <a:srgbClr val="656365"/>
                </a:solidFill>
                <a:latin typeface="Segoe UI" pitchFamily="34" charset="0"/>
                <a:ea typeface="Segoe UI" pitchFamily="34" charset="-122"/>
                <a:cs typeface="Segoe UI" pitchFamily="34" charset="-120"/>
              </a:rPr>
              <a:t>Prevalencia de la base 20,2 %. Calibración: pendiente de observado sobre predicho (1 = perfecta); media predicha 0,197 vs. observada 0,207. Las conversiones «top 8k» de la hoja no son comparables con esta base. Sin gap (train &lt; t, abril a agosto): 0,82 / 0,80; k-fold aleatorio: 0,82. Coeficientes estandarizados del modelo limpio: score_buro 1,29; max_mora_6m −0,56; respondio_oferta_previa 0,27; el resto &lt; 0,15. Orgánico por tercil de buró (no contactados): alto 5,4 % (7/129, IC 2,7–10,8 %), contactados del tercil alto 53 %: parte del valor de B es orgánica y el holdout lo mide.</a:t>
            </a:r>
            <a:endParaRPr lang="en-US" sz="850" dirty="0"/>
          </a:p>
        </p:txBody>
      </p:sp>
      <p:sp>
        <p:nvSpPr>
          <p:cNvPr id="6" name="Text 3"/>
          <p:cNvSpPr txBox="1"/>
          <p:nvPr/>
        </p:nvSpPr>
        <p:spPr>
          <a:xfrm>
            <a:off x="7325076" y="1051560"/>
            <a:ext cx="4409420"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Valor esperado mensual (COP millones, 8.000 contactos)</a:t>
            </a:r>
            <a:endParaRPr lang="en-US" sz="12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7325076" y="1344168"/>
          <a:ext cx="4409420" cy="914400"/>
        </p:xfrm>
        <a:graphic>
          <a:graphicData uri="http://schemas.openxmlformats.org/drawingml/2006/table">
            <a:tbl>
              <a:tblPr/>
              <a:tblGrid>
                <a:gridCol w="5486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1254740">
                  <a:extLst>
                    <a:ext uri="{9D8B030D-6E8A-4147-A177-3AD203B41FA5}">
                      <a16:colId xmlns:a16="http://schemas.microsoft.com/office/drawing/2014/main" val="20005"/>
                    </a:ext>
                  </a:extLst>
                </a:gridCol>
              </a:tblGrid>
              <a:tr h="228600">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Alt.</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Renov.</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Mora</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Bruto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Costo mora</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Neto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Actual</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288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5,1 %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121,0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26,4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94,5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752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7,2 %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315,8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97,5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218,4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buNone/>
                      </a:pPr>
                      <a:r>
                        <a:rPr lang="en-US" sz="950" b="1" dirty="0">
                          <a:solidFill>
                            <a:srgbClr val="2E2E2E"/>
                          </a:solidFill>
                          <a:latin typeface="Segoe UI" pitchFamily="34" charset="0"/>
                          <a:ea typeface="Segoe UI" pitchFamily="34" charset="-122"/>
                          <a:cs typeface="Segoe UI" pitchFamily="34" charset="-120"/>
                        </a:rPr>
                        <a:t>B</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704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4,6 %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295,7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58,3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b="1" dirty="0">
                          <a:solidFill>
                            <a:srgbClr val="2E2E2E"/>
                          </a:solidFill>
                          <a:latin typeface="Segoe UI" pitchFamily="34" charset="0"/>
                          <a:ea typeface="Segoe UI" pitchFamily="34" charset="-122"/>
                          <a:cs typeface="Segoe UI" pitchFamily="34" charset="-120"/>
                        </a:rPr>
                        <a:t>237,4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D</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632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5,1 %*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265,4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58,0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207,4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C</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1.184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6,4 %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497,3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136,4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360,9 (no confiable)</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4"/>
          <p:cNvSpPr txBox="1"/>
          <p:nvPr/>
        </p:nvSpPr>
        <p:spPr>
          <a:xfrm>
            <a:off x="7325076" y="2852928"/>
            <a:ext cx="4409420" cy="731520"/>
          </a:xfrm>
          <a:prstGeom prst="rect">
            <a:avLst/>
          </a:prstGeom>
          <a:noFill/>
          <a:ln/>
        </p:spPr>
        <p:txBody>
          <a:bodyPr wrap="square" lIns="0" tIns="0" rIns="0" bIns="0" rtlCol="0" anchor="t"/>
          <a:lstStyle/>
          <a:p>
            <a:pPr marL="0" indent="0">
              <a:lnSpc>
                <a:spcPct val="105000"/>
              </a:lnSpc>
              <a:buNone/>
            </a:pPr>
            <a:r>
              <a:rPr lang="en-US" sz="850" dirty="0">
                <a:solidFill>
                  <a:srgbClr val="656365"/>
                </a:solidFill>
                <a:latin typeface="Segoe UI" pitchFamily="34" charset="0"/>
                <a:ea typeface="Segoe UI" pitchFamily="34" charset="-122"/>
                <a:cs typeface="Segoe UI" pitchFamily="34" charset="-120"/>
              </a:rPr>
              <a:t>* Mora no reportada para D; se asume la de la herramienta actual. Valor incremental de D si +3,1 pp es uplift de conversión: 248 × 328 k = 81 M/mes. Sensibilidad B vs. A con pérdida por mora de 1,0 / 1,8 / 2,5 / 3,5 M: 263/237/215/182 vs. 262/218/181/126.</a:t>
            </a:r>
            <a:endParaRPr lang="en-US" sz="850" dirty="0"/>
          </a:p>
        </p:txBody>
      </p:sp>
      <p:sp>
        <p:nvSpPr>
          <p:cNvPr id="9" name="Shape 5"/>
          <p:cNvSpPr/>
          <p:nvPr/>
        </p:nvSpPr>
        <p:spPr>
          <a:xfrm>
            <a:off x="457200" y="3749040"/>
            <a:ext cx="11277295" cy="0"/>
          </a:xfrm>
          <a:prstGeom prst="line">
            <a:avLst/>
          </a:prstGeom>
          <a:noFill/>
          <a:ln w="9525">
            <a:solidFill>
              <a:srgbClr val="DAD7D2"/>
            </a:solidFill>
            <a:prstDash val="solid"/>
          </a:ln>
        </p:spPr>
      </p:sp>
      <p:sp>
        <p:nvSpPr>
          <p:cNvPr id="10" name="Text 6"/>
          <p:cNvSpPr txBox="1"/>
          <p:nvPr/>
        </p:nvSpPr>
        <p:spPr>
          <a:xfrm>
            <a:off x="457200" y="3858768"/>
            <a:ext cx="5547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Tamaños de muestra (α 5 %, potencia 80 %) y costo del holdout</a:t>
            </a:r>
            <a:endParaRPr lang="en-US" sz="120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457200" y="4133088"/>
          <a:ext cx="5547116"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523756">
                  <a:extLst>
                    <a:ext uri="{9D8B030D-6E8A-4147-A177-3AD203B41FA5}">
                      <a16:colId xmlns:a16="http://schemas.microsoft.com/office/drawing/2014/main" val="20002"/>
                    </a:ext>
                  </a:extLst>
                </a:gridCol>
              </a:tblGrid>
              <a:tr h="219456">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Hipótesis</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n</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Meses · costo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Conv. 3,6 % a 4,5 / 5,4 / 7,2 %</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7.530 / 2.081 / 618 / brazo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 / 1 / 1 meses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Mora 5,1 % a 7,2 % (renovados)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2.053 renovados por brazo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piloto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5 %, +1,7 pp (conservador)</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1.856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2,3 meses · 4,6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5 %, +3,8 pp (plausible, B)</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444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0,6 meses · 10,3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4 / 6 %, +2,5 pp</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790 / 1.053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1,0 / 1,3 m · 6,7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A − B reportada (8.000 c/u)</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conv. z 1,32 (p 0,19)</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mora z 2,11 (p 0,03)</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Text 7"/>
          <p:cNvSpPr txBox="1"/>
          <p:nvPr/>
        </p:nvSpPr>
        <p:spPr>
          <a:xfrm>
            <a:off x="457200" y="5833872"/>
            <a:ext cx="5547116" cy="502920"/>
          </a:xfrm>
          <a:prstGeom prst="rect">
            <a:avLst/>
          </a:prstGeom>
          <a:noFill/>
          <a:ln/>
        </p:spPr>
        <p:txBody>
          <a:bodyPr wrap="square" lIns="0" tIns="0" rIns="0" bIns="0" rtlCol="0" anchor="t"/>
          <a:lstStyle/>
          <a:p>
            <a:pPr marL="0" indent="0">
              <a:lnSpc>
                <a:spcPct val="105000"/>
              </a:lnSpc>
              <a:buNone/>
            </a:pPr>
            <a:r>
              <a:rPr lang="en-US" sz="800" dirty="0">
                <a:solidFill>
                  <a:srgbClr val="656365"/>
                </a:solidFill>
                <a:latin typeface="Segoe UI" pitchFamily="34" charset="0"/>
                <a:ea typeface="Segoe UI" pitchFamily="34" charset="-122"/>
                <a:cs typeface="Segoe UI" pitchFamily="34" charset="-120"/>
              </a:rPr>
              <a:t>Código y cálculos: work/01_diagnostico.py, 02_modelos_fuga.py y 03_economia_capacidad_piloto.py sobre una copia del anexo; el original no se modificó (hash verificado). Jerga: SRM = sample ratio mismatch; CSI = índice de estabilidad por variable; CUPED = ajuste por covariable pre-periodo.</a:t>
            </a:r>
            <a:endParaRPr lang="en-US" sz="800" dirty="0"/>
          </a:p>
        </p:txBody>
      </p:sp>
      <p:sp>
        <p:nvSpPr>
          <p:cNvPr id="13" name="Text 8"/>
          <p:cNvSpPr txBox="1"/>
          <p:nvPr/>
        </p:nvSpPr>
        <p:spPr>
          <a:xfrm>
            <a:off x="6187196" y="3858768"/>
            <a:ext cx="5547116" cy="256032"/>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Variables excluidas del ranking, por motivo</a:t>
            </a:r>
            <a:endParaRPr lang="en-US" sz="1200" dirty="0"/>
          </a:p>
        </p:txBody>
      </p:sp>
      <p:graphicFrame>
        <p:nvGraphicFramePr>
          <p:cNvPr id="29" name="Table 3"/>
          <p:cNvGraphicFramePr>
            <a:graphicFrameLocks noGrp="1"/>
          </p:cNvGraphicFramePr>
          <p:nvPr>
            <p:extLst>
              <p:ext uri="{D42A27DB-BD31-4B8C-83A1-F6EECF244321}">
                <p14:modId xmlns:p14="http://schemas.microsoft.com/office/powerpoint/2010/main" val="1579011935"/>
              </p:ext>
            </p:extLst>
          </p:nvPr>
        </p:nvGraphicFramePr>
        <p:xfrm>
          <a:off x="6187196" y="4133088"/>
          <a:ext cx="5547116"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478036">
                  <a:extLst>
                    <a:ext uri="{9D8B030D-6E8A-4147-A177-3AD203B41FA5}">
                      <a16:colId xmlns:a16="http://schemas.microsoft.com/office/drawing/2014/main" val="20002"/>
                    </a:ext>
                  </a:extLst>
                </a:gridCol>
              </a:tblGrid>
              <a:tr h="219456">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Motivo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Variables</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Tratamiento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Fuga / resultado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resultado_gestion_30d, dias_hasta_renovacion, mora30_post_renovacion, renovo_30d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Solo como target o evaluación</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Disponibilidad temporal</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fecha_ultimo_contacto / dias_ultimo_contacto (51 en el mes, 1 &gt; corte); cuotas_pagadas_pct, monto_preaprobado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set; sin costo (AUC 0,50–0,53); vuelven con timestamp</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Calidad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max_mora_6m &lt; 0, saldo_ahorros &lt; 0, endeudamiento &gt; 1, duplicado; buró dentro de 150–950</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Validar y corregir con registro; confirmar central y vigencia</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Uso responsable y sesgo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recibe_remesas, contactabilidad_score, regional (solo capacidad), cliente_id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score; grupos de equidad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74552" y="647395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theme/theme1.xml><?xml version="1.0" encoding="utf-8"?>
<a:theme xmlns:a="http://schemas.openxmlformats.org/drawingml/2006/main" name="Banco W documento">
  <a:themeElements>
    <a:clrScheme name="Banco W documento">
      <a:dk1>
        <a:srgbClr val="2E2E2E"/>
      </a:dk1>
      <a:lt1>
        <a:srgbClr val="FFFFFF"/>
      </a:lt1>
      <a:dk2>
        <a:srgbClr val="005C63"/>
      </a:dk2>
      <a:lt2>
        <a:srgbClr val="FFF1EA"/>
      </a:lt2>
      <a:accent1>
        <a:srgbClr val="005C63"/>
      </a:accent1>
      <a:accent2>
        <a:srgbClr val="E35A00"/>
      </a:accent2>
      <a:accent3>
        <a:srgbClr val="00A2AF"/>
      </a:accent3>
      <a:accent4>
        <a:srgbClr val="FE6A00"/>
      </a:accent4>
      <a:accent5>
        <a:srgbClr val="656365"/>
      </a:accent5>
      <a:accent6>
        <a:srgbClr val="C9C5BF"/>
      </a:accent6>
      <a:hlink>
        <a:srgbClr val="005C63"/>
      </a:hlink>
      <a:folHlink>
        <a:srgbClr val="005C63"/>
      </a:folHlink>
    </a:clrScheme>
    <a:fontScheme name="Banco W documento">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4299</Words>
  <Application>Microsoft Office PowerPoint</Application>
  <PresentationFormat>Panorámica</PresentationFormat>
  <Paragraphs>382</Paragraphs>
  <Slides>7</Slides>
  <Notes>7</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7</vt:i4>
      </vt:variant>
    </vt:vector>
  </HeadingPairs>
  <TitlesOfParts>
    <vt:vector size="11" baseType="lpstr">
      <vt:lpstr>Bahnschrift</vt:lpstr>
      <vt:lpstr>Arial</vt:lpstr>
      <vt:lpstr>Segoe UI</vt:lpstr>
      <vt:lpstr>Banco W documento</vt:lpstr>
      <vt:lpstr>Contactar a los 8.000 que más valor dejan, netos de riesgo</vt:lpstr>
      <vt:lpstr>Los datos sirven para ordenar clientes, no para medir riesgo ni efecto</vt:lpstr>
      <vt:lpstr>B pasa a piloto, A se verifica antes y C se descarta</vt:lpstr>
      <vt:lpstr>B deja más valor que A: 237 frente a 218 millones al mes</vt:lpstr>
      <vt:lpstr>Un piloto de dos meses mide si llamar crea renovaciones</vt:lpstr>
      <vt:lpstr>Aprobar hoy el piloto de B y no liberar C</vt:lpstr>
      <vt:lpstr>Anexo · Soporte técnico: réplica, economía, tamaños de muestra y variables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Banco W - Priorizacion de renovaciones</dc:title>
  <dc:subject>PptxGenJS Presentation</dc:subject>
  <dc:creator>Davinson Arteaga</dc:creator>
  <cp:lastModifiedBy>Davinson Arteaga</cp:lastModifiedBy>
  <cp:revision>2</cp:revision>
  <dcterms:created xsi:type="dcterms:W3CDTF">2026-10-19T02:08:19Z</dcterms:created>
  <dcterms:modified xsi:type="dcterms:W3CDTF">2026-10-19T02:08:32Z</dcterms:modified>
</cp:coreProperties>
</file>