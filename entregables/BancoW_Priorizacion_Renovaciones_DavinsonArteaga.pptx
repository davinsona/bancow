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charts/chart1.xml" ContentType="application/vnd.openxmlformats-officedocument.drawingml.chart+xml"/>
  <Override PartName="/ppt/slideMasters/slideMaster4.xml" ContentType="application/vnd.openxmlformats-officedocument.presentationml.slideMaster+xml"/>
  <Override PartName="/ppt/slides/slide4.xml" ContentType="application/vnd.openxmlformats-officedocument.presentationml.slide+xml"/>
  <Override PartName="/ppt/charts/chart2.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Decisión" id="{b340e7e8-a6d6-60b1-bf6b-1efaa20b1dae}">
          <p14:sldIdLst>
            <p14:sldId id="256"/>
          </p14:sldIdLst>
        </p14:section>
        <p14:section name="Datos" id="{14736fbf-d3ae-cb9a-e127-2f681939fc0d}">
          <p14:sldIdLst>
            <p14:sldId id="257"/>
          </p14:sldIdLst>
        </p14:section>
        <p14:section name="Alternativas" id="{e70fd718-6072-6f61-1319-fb3ceb35c3ec}">
          <p14:sldIdLst>
            <p14:sldId id="258"/>
          </p14:sldIdLst>
        </p14:section>
        <p14:section name="Valor" id="{126b1a22-929d-8553-fc6a-996e819c1cd9}">
          <p14:sldIdLst>
            <p14:sldId id="259"/>
          </p14:sldIdLst>
        </p14:section>
        <p14:section name="Piloto" id="{0146a202-a17d-2a23-9252-6cf1673bb115}">
          <p14:sldIdLst>
            <p14:sldId id="260"/>
          </p14:sldIdLst>
        </p14:section>
        <p14:section name="Recomendación" id="{26403855-f7bb-1dcf-e875-1f6f417c68c7}">
          <p14:sldIdLst>
            <p14:sldId id="261"/>
          </p14:sldIdLst>
        </p14:section>
        <p14:section name="Anexo" id="{002793cf-48b5-e63c-3530-0cebefaf6857}">
          <p14:sldIdLst>
            <p14:sldId id="26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AUC</c:v>
                </c:pt>
              </c:strCache>
            </c:strRef>
          </c:tx>
          <c:spPr>
            <a:solidFill>
              <a:srgbClr val="009786"/>
            </a:solidFill>
            <a:effectLst/>
          </c:spPr>
          <c:invertIfNegative val="0"/>
          <c:dLbls>
            <c:numFmt formatCode="0.00" sourceLinked="0"/>
            <c:txPr>
              <a:bodyPr/>
              <a:lstStyle/>
              <a:p>
                <a:pPr>
                  <a:defRPr b="0" i="0" strike="noStrike" sz="1000" u="none">
                    <a:solidFill>
                      <a:srgbClr val="043F52"/>
                    </a:solidFill>
                    <a:latin typeface="+mn-lt"/>
                  </a:defRPr>
                </a:pPr>
              </a:p>
            </c:txPr>
            <c:showLegendKey val="0"/>
            <c:showVal val="1"/>
            <c:showCatName val="0"/>
            <c:showSerName val="0"/>
            <c:showPercent val="0"/>
            <c:showBubbleSize val="0"/>
            <c:showLeaderLines val="0"/>
          </c:dLbls>
          <c:dPt>
            <c:idx val="0"/>
            <c:invertIfNegative val="0"/>
            <c:bubble3D val="0"/>
            <c:spPr>
              <a:solidFill>
                <a:srgbClr val="009786"/>
              </a:solidFill>
              <a:effectLst/>
            </c:spPr>
          </c:dPt>
          <c:dPt>
            <c:idx val="1"/>
            <c:invertIfNegative val="0"/>
            <c:bubble3D val="0"/>
            <c:spPr>
              <a:solidFill>
                <a:srgbClr val="BA673F"/>
              </a:solidFill>
              <a:effectLst/>
            </c:spPr>
          </c:dPt>
          <c:dPt>
            <c:idx val="2"/>
            <c:invertIfNegative val="0"/>
            <c:bubble3D val="0"/>
            <c:spPr>
              <a:solidFill>
                <a:srgbClr val="8F3A14"/>
              </a:solidFill>
              <a:effectLst/>
            </c:spPr>
          </c:dPt>
          <c:cat>
            <c:multiLvlStrRef>
              <c:f>Sheet1!$A$2:$A$4</c:f>
              <c:multiLvlStrCache>
                <c:ptCount val="3"/>
                <c:lvl>
                  <c:pt idx="0">
                    <c:v>15 variables disponibles al corte</c:v>
                  </c:pt>
                  <c:pt idx="1">
                    <c:v>+ resultado_gestion_30d</c:v>
                  </c:pt>
                  <c:pt idx="2">
                    <c:v>+ dias_hasta_renovacion</c:v>
                  </c:pt>
                </c:lvl>
              </c:multiLvlStrCache>
            </c:multiLvlStrRef>
          </c:cat>
          <c:val>
            <c:numRef>
              <c:f>Sheet1!$B$2:$B$4</c:f>
              <c:numCache>
                <c:formatCode>General</c:formatCode>
                <c:ptCount val="3"/>
                <c:pt idx="0">
                  <c:v>0.82</c:v>
                </c:pt>
                <c:pt idx="1">
                  <c:v>0.944</c:v>
                </c:pt>
                <c:pt idx="2">
                  <c:v>0.997</c:v>
                </c:pt>
              </c:numCache>
            </c:numRef>
          </c:val>
        </c:ser>
        <c:dLbls>
          <c:numFmt formatCode="0.00" sourceLinked="0"/>
          <c:txPr>
            <a:bodyPr/>
            <a:lstStyle/>
            <a:p>
              <a:pPr>
                <a:defRPr b="0" i="0" strike="noStrike" sz="1000" u="none">
                  <a:solidFill>
                    <a:srgbClr val="043F52"/>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043F52"/>
                </a:solidFill>
                <a:latin typeface="+mn-lt"/>
              </a:defRPr>
            </a:pPr>
            <a:endParaRPr lang="en-US"/>
          </a:p>
        </c:txPr>
        <c:crossAx val="2094734552"/>
        <c:crosses val="autoZero"/>
        <c:auto val="1"/>
        <c:lblAlgn val="ctr"/>
        <c:noMultiLvlLbl val="1"/>
      </c:catAx>
      <c:valAx>
        <c:axId val="2094734552"/>
        <c:scaling>
          <c:orientation val="minMax"/>
          <c:max val="1.05"/>
          <c:min val="0.5"/>
        </c:scaling>
        <c:delete val="0"/>
        <c:axPos val="b"/>
        <c:majorGridlines>
          <c:spPr>
            <a:ln w="6350" cap="flat">
              <a:solidFill>
                <a:srgbClr val="D6E8E6"/>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4A6A72"/>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VE neto</c:v>
                </c:pt>
              </c:strCache>
            </c:strRef>
          </c:tx>
          <c:spPr>
            <a:solidFill>
              <a:srgbClr val="678A90"/>
            </a:solidFill>
            <a:effectLst/>
          </c:spPr>
          <c:invertIfNegative val="0"/>
          <c:dLbls>
            <c:numFmt formatCode="0" sourceLinked="0"/>
            <c:txPr>
              <a:bodyPr/>
              <a:lstStyle/>
              <a:p>
                <a:pPr>
                  <a:defRPr b="0" i="0" strike="noStrike" sz="1000" u="none">
                    <a:solidFill>
                      <a:srgbClr val="043F52"/>
                    </a:solidFill>
                    <a:latin typeface="+mn-lt"/>
                  </a:defRPr>
                </a:pPr>
              </a:p>
            </c:txPr>
            <c:showLegendKey val="0"/>
            <c:showVal val="1"/>
            <c:showCatName val="0"/>
            <c:showSerName val="0"/>
            <c:showPercent val="0"/>
            <c:showBubbleSize val="0"/>
            <c:showLeaderLines val="0"/>
          </c:dLbls>
          <c:dPt>
            <c:idx val="0"/>
            <c:invertIfNegative val="0"/>
            <c:bubble3D val="0"/>
            <c:spPr>
              <a:solidFill>
                <a:srgbClr val="678A90"/>
              </a:solidFill>
              <a:effectLst/>
            </c:spPr>
          </c:dPt>
          <c:dPt>
            <c:idx val="1"/>
            <c:invertIfNegative val="0"/>
            <c:bubble3D val="0"/>
            <c:spPr>
              <a:solidFill>
                <a:srgbClr val="BA673F"/>
              </a:solidFill>
              <a:effectLst/>
            </c:spPr>
          </c:dPt>
          <c:dPt>
            <c:idx val="2"/>
            <c:invertIfNegative val="0"/>
            <c:bubble3D val="0"/>
            <c:spPr>
              <a:solidFill>
                <a:srgbClr val="009786"/>
              </a:solidFill>
              <a:effectLst/>
            </c:spPr>
          </c:dPt>
          <c:dPt>
            <c:idx val="3"/>
            <c:invertIfNegative val="0"/>
            <c:bubble3D val="0"/>
            <c:spPr>
              <a:solidFill>
                <a:srgbClr val="8670C0"/>
              </a:solidFill>
              <a:effectLst/>
            </c:spPr>
          </c:dPt>
          <c:cat>
            <c:multiLvlStrRef>
              <c:f>Sheet1!$A$2:$A$5</c:f>
              <c:multiLvlStrCache>
                <c:ptCount val="4"/>
                <c:lvl>
                  <c:pt idx="0">
                    <c:v>Actual</c:v>
                  </c:pt>
                  <c:pt idx="1">
                    <c:v>A XGBoost</c:v>
                  </c:pt>
                  <c:pt idx="2">
                    <c:v>B Logística</c:v>
                  </c:pt>
                  <c:pt idx="3">
                    <c:v>D Uplift</c:v>
                  </c:pt>
                </c:lvl>
              </c:multiLvlStrCache>
            </c:multiLvlStrRef>
          </c:cat>
          <c:val>
            <c:numRef>
              <c:f>Sheet1!$B$2:$B$5</c:f>
              <c:numCache>
                <c:formatCode>General</c:formatCode>
                <c:ptCount val="4"/>
                <c:pt idx="0">
                  <c:v>94.5</c:v>
                </c:pt>
                <c:pt idx="1">
                  <c:v>218.4</c:v>
                </c:pt>
                <c:pt idx="2">
                  <c:v>237.4</c:v>
                </c:pt>
                <c:pt idx="3">
                  <c:v>207.4</c:v>
                </c:pt>
              </c:numCache>
            </c:numRef>
          </c:val>
        </c:ser>
        <c:dLbls>
          <c:numFmt formatCode="0" sourceLinked="0"/>
          <c:txPr>
            <a:bodyPr/>
            <a:lstStyle/>
            <a:p>
              <a:pPr>
                <a:defRPr b="0" i="0" strike="noStrike" sz="1000" u="none">
                  <a:solidFill>
                    <a:srgbClr val="043F52"/>
                  </a:solidFill>
                  <a:latin typeface="+mn-lt"/>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043F52"/>
                </a:solidFill>
                <a:latin typeface="+mn-lt"/>
              </a:defRPr>
            </a:pPr>
            <a:endParaRPr lang="en-US"/>
          </a:p>
        </c:txPr>
        <c:crossAx val="2094734552"/>
        <c:crosses val="autoZero"/>
        <c:auto val="1"/>
        <c:lblAlgn val="ctr"/>
        <c:noMultiLvlLbl val="1"/>
      </c:catAx>
      <c:valAx>
        <c:axId val="2094734552"/>
        <c:scaling>
          <c:orientation val="minMax"/>
          <c:max val="300"/>
        </c:scaling>
        <c:delete val="0"/>
        <c:axPos val="l"/>
        <c:majorGridlines>
          <c:spPr>
            <a:ln w="6350" cap="flat">
              <a:solidFill>
                <a:srgbClr val="D6E8E6"/>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900" b="0" i="0" u="none" strike="noStrike">
                <a:solidFill>
                  <a:srgbClr val="4A6A72"/>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Mensaje: la restricción es la capacidad, así que el problema es decidir a quién contactar, no predecir. KPI incremental neto de riesgo; el proxy mensual (incrementales por 1.000 contactos) sirve mientras madura la mora. 12 % sin denominador no es una meta: 960 si es sobre 8.000, 3.000 si es sobre 25.000 (37,5 % por contacto). Punto de equilibrio: una renovación deja de aportar si la mora supera 23,3 % (420.000 / 1.800.000). Guardrail de riesgo: la mora esperada de la lista (score y política de Riesgos) se verifica antes de ejecutar; el vintage de mora 30+ a 60 días por cohorte confirma (alarma y pausa). La pregunta única define si el histórico permite medir causalidad o solo describe la política vigente.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Detalle de cada hallazgo en la guía P5 y P6. Fuga: 78 % de «Acepta» renueva; dias_hasta_renovacion es nulo exactamente en los 1.436 no renovados. Calidad: max_mora_6m = −4, ahorro −350.000, contacto fechado 2026-09-15 con corte agosto; score de buró 352–912 está dentro de la escala DataCrédito 150–950 (confirmar central, versión y vigencia). contactabilidad_score no predice el contacto (entre 29 % y 32 % de no contactados en los cuatro cuartiles). cuotas_pagadas_pct, monto_preaprobado y dias_ultimo_contacto quedan fuera del set limpio hasta certificar su timestamp (51 contactos fechados dentro del mes de corte y 1 después): no cuesta señal (AUC univariado 0,50–0,53); en producción se recalcula a la fecha de corte. Partición rolling-origin con un corte de gap (entrenar ≤ t−2, probar en t, mayo a agosto); deduplicar por cliente. Accuracy trivial: 79,8 % en la base, 96,4 % en producción sin acertar un renovador.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Repliqué con la base: el AUC de C (0,94) solo se obtiene incluyendo el resultado de gestión; con dias_hasta_renovacion llega a 1,00. A: 0,86 supera lo que esta base permite replicar (0,82), pero la hoja viene de otra población, así que no es concluyente; su mora 7,2 % es la peor y, de ser real, lo convierte en la alternativa de menor valor; ambas cosas exigen auditoría variable por variable. B: coherente con la réplica, calibrado (pendiente 0,91), estable; pasa a piloto tras la misma ficha de fuga. D: la hoja reporta «+3,1 pp incremental» en la columna de mora y Qini en la de PR-AUC; no es comparable con A, B y C sin aclarar unidades. Las conversiones «top 8k» de la hoja y la conversión top 32 % de la réplica (≈ 45 %) no son comparables: otra población y otra regla de contacto. Para comparar propensión vs. uplift: la regla de asignación de la campaña de D (fracción aleatorizada, unidad, cumplimiento) y un mismo holdout donde medir uplift@8k de cada modelo en COP netos de mora, con intervalos.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 gana por riesgo, no por conversión: cada renovación de B vale 337.200 frente a 290.400 de A. Incertidumbre (supuesto 8.000 contactos por alternativa, 752 y 704 renovados): conversión z = 1,32 (p 0,19), mora z = 2,11 (p 0,03); en valor B es al menos equivalente dentro de la incertidumbre. El valor no es incremental: el orgánico del tercil alto de buró (de donde sale el top de B) es ≈ 5 % (7 de 129 no contactados renovaron solos; IC 2,7–10,8 %), así que ≈ 57 % de las renovaciones de B serían orgánicas y el valor incremental ≈ 103 M (129 M con orgánico 4 %, 76 M con 6 %). Por eso el piloto. Faltan el costo de contacto, la LGD real y el origen del «top 8k». Capacidad: un ranking global sobrecarga Centro, Norte y Eje y deja ≈ 400 cupos ociosos en Suroccidente y Oriente; cuotas por regional con transferencia por valor marginal (tope a pactar con Comercial, 10 % como referencia). La conversión en muestra con y sin cuotas es equivalente (41,9 % vs. 43,5 %, cuatro renovaciones de diferencia, dentro del ruido). Sensibilidad a la pérdida por mora de 1,0 / 1,8 / 2,5 / 3,5 M: B 263 / 237 / 215 / 182 vs. A 262 / 218 / 181 / 126.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Mecánica: el universo elegible del mes (filtrado por el mismo piso de riesgo: corte de buró y max_mora pactados con Riesgos) se parte al azar en dos pools por cliente, estratificando por regional y tercil de score. El champion elige sus 4.000 en su pool; el challenger rankea el suyo, toma su top 4.800, retiene 800 al azar como holdout sin contacto y contacta 4.000. Capacidad intacta: 8.000. Dos reglas separadas: calidad de lista (challenger vs. champion) y efecto del contacto (challenger contactado vs. holdout). Baseline del holdout: no el 2,3 % global, sino el orgánico del tercil alto de buró (≈ 5 %, 7 de 129, IC 2,7–10,8 %), porque el holdout sale del top de B. Potencia (800 vs. 4.000, baseline 5 %): conservador +1,7 pp exige 1.856 en holdout, 2,3 meses, 4,6 M/mes de costo; plausible +3,8 pp (el uplift implícito si B convierte 8,8 % sobre un orgánico de 5 %) exige 444, 0,6 meses, 10,3 M/mes. Dos meses detectan el escenario plausible con margen; el conservador necesita un tercer mes. El costo es cerca del 4 % del VE de B (10,3 de 237 M). Limitación: sin holdout en el champion no comparamos la incrementalidad de las dos políticas; la opción de 400 de holdout en el champion cuesta ≈ 2,3 M/mes y deja ese brazo en 3.600. Probar mora 5,1 % vs. 7,2 % exigiría 2.053 renovados por brazo: el riesgo entra por política y se vigila por vintage. Reglas de salida pre-registradas: calidad ≥ +1,5 pp con IC 95 % que excluye 0; efecto &gt; 0 con IC 95 % que excluye 0; mora ≤ champion + 1 pp. Duración: dos meses de asignación + 30 días de ventana + 30 a 60 de maduración; decisión a los 90 días. Jerga (SRM, CSI, Brier, CUPED) en el anexo y la guía. Condiciones completas de no liberación en la guía P16.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Pedimos tres decisiones. Ruta de 90 días con la ficha de fuga variable por variable para A y B en las semanas 3 a 4 (fuente, timestamp, disponibilidad al puntuar); pipeline point-in-time. Gobierno: sin cuotas, el modelo limpio selecciona 28 % en Oriente frente a 35 % en Centro (AIR ≈ 0,80 puntual, pero con 100 a 200 clientes por regional el intervalo bootstrap es 0,49–0,88: el 0,80 no informa; la regla está pensada para el universo mensual de 25.000, donde el intervalo se estrecha unas seis veces); con cuotas, la selección por regional la fija la capacidad, así que la equidad se vigila en conversión y calibración por grupo dentro de cada regional. El 79 % de la lista cae en el tercil alto de buró: ese piso lo fija la política de riesgo, no el algoritmo. Auditable: model card, datasheet, ficha de fuga, plan de monitoreo, RACI. SHAP es correlación: en la base, 37 % del tercil bajo de buró quedó sin contactar frente a 22 % del alto; solo el holdout prueba causalidad.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Anexo de soporte para preguntas técnicas. Detalle completo en la guía de sustentación (19 preguntas).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457200" y="6446520"/>
            <a:ext cx="9601200" cy="274320"/>
          </a:xfrm>
          <a:prstGeom prst="rect">
            <a:avLst/>
          </a:prstGeom>
          <a:noFill/>
          <a:ln/>
        </p:spPr>
        <p:txBody>
          <a:bodyPr wrap="square" lIns="0" tIns="0" rIns="0" bIns="0" rtlCol="0" anchor="ctr"/>
          <a:lstStyle/>
          <a:p>
            <a:pPr indent="0" marL="0">
              <a:buNone/>
            </a:pPr>
            <a:r>
              <a:rPr lang="en-US" sz="900" dirty="0">
                <a:solidFill>
                  <a:srgbClr val="4A6A72"/>
                </a:solidFill>
              </a:rPr>
              <a:t>Preparado para Banco W · Prueba técnica Científico de Datos · Davinson Arteaga</a:t>
            </a:r>
            <a:endParaRPr lang="en-US" sz="900" dirty="0"/>
          </a:p>
        </p:txBody>
      </p:sp>
      <p:sp>
        <p:nvSpPr>
          <p:cNvPr id="3" name="Text 1"/>
          <p:cNvSpPr/>
          <p:nvPr>
            <p:ph idx="101" type="title" hasCustomPrompt="1"/>
          </p:nvPr>
        </p:nvSpPr>
        <p:spPr>
          <a:xfrm>
            <a:off x="457200" y="320040"/>
            <a:ext cx="11274552" cy="502920"/>
          </a:xfrm>
          <a:prstGeom prst="rect">
            <a:avLst/>
          </a:prstGeom>
          <a:noFill/>
          <a:ln/>
        </p:spPr>
        <p:txBody>
          <a:bodyPr wrap="square" rtlCol="0"/>
          <a:lstStyle>
            <a:lvl1pPr algn="l" indent="0" marL="0">
              <a:buNone/>
              <a:defRPr lang="en-US" sz="2400" b="1" dirty="0">
                <a:solidFill>
                  <a:srgbClr val="043F52"/>
                </a:solidFill>
              </a:defRPr>
            </a:lvl1pPr>
          </a:lstStyle>
          <a:p>
            <a:pPr algn="l" indent="0" marL="0">
              <a:buNone/>
            </a:pPr>
            <a:endParaRPr lang="en-US" sz="24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4A6A72"/>
                </a:solidFill>
              </a:defRPr>
            </a:lvl1pPr>
          </a:lstStyle>
          <a:p>
            <a:pPr algn="r"/>
            <a:fld id="{F7021451-1387-4CA6-816F-3879F97B5CBC}" type="slidenum">
              <a:rPr b="0" lang="en-US"/>
              <a:t>1002</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4A6A72"/>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1"/>
          <p:cNvSpPr/>
          <p:nvPr>
            <p:ph idx="101" type="title" hasCustomPrompt="1"/>
          </p:nvPr>
        </p:nvSpPr>
        <p:spPr>
          <a:xfrm>
            <a:off x="457200" y="320040"/>
            <a:ext cx="11274552" cy="502920"/>
          </a:xfrm>
          <a:prstGeom prst="rect">
            <a:avLst/>
          </a:prstGeom>
          <a:noFill/>
          <a:ln/>
        </p:spPr>
        <p:txBody>
          <a:bodyPr wrap="square" lIns="0" tIns="0" rIns="0" bIns="0" rtlCol="0" anchor="t"/>
          <a:lstStyle/>
          <a:p>
            <a:pPr algn="l" indent="0" marL="0">
              <a:buNone/>
            </a:pPr>
            <a:r>
              <a:rPr lang="en-US" sz="2400" b="1" dirty="0">
                <a:solidFill>
                  <a:srgbClr val="043F52"/>
                </a:solidFill>
              </a:rPr>
              <a:t>1 · Decidir a quién contactar con 8.000 cupos al mes</a:t>
            </a:r>
            <a:endParaRPr lang="en-US" sz="2400" dirty="0"/>
          </a:p>
        </p:txBody>
      </p:sp>
      <p:sp>
        <p:nvSpPr>
          <p:cNvPr id="3" name="Respuesta"/>
          <p:cNvSpPr/>
          <p:nvPr/>
        </p:nvSpPr>
        <p:spPr>
          <a:xfrm>
            <a:off x="457200" y="868680"/>
            <a:ext cx="54864" cy="658368"/>
          </a:xfrm>
          <a:prstGeom prst="rect">
            <a:avLst/>
          </a:prstGeom>
          <a:solidFill>
            <a:srgbClr val="009786"/>
          </a:solidFill>
          <a:ln w="12700">
            <a:solidFill>
              <a:srgbClr val="009786"/>
            </a:solidFill>
            <a:prstDash val="solid"/>
          </a:ln>
        </p:spPr>
      </p:sp>
      <p:sp>
        <p:nvSpPr>
          <p:cNvPr id="4" name="Text 2"/>
          <p:cNvSpPr txBox="1"/>
          <p:nvPr/>
        </p:nvSpPr>
        <p:spPr>
          <a:xfrm>
            <a:off x="640080" y="868680"/>
            <a:ext cx="11091672" cy="658368"/>
          </a:xfrm>
          <a:prstGeom prst="rect">
            <a:avLst/>
          </a:prstGeom>
          <a:noFill/>
          <a:ln/>
        </p:spPr>
        <p:txBody>
          <a:bodyPr wrap="square" lIns="0" tIns="0" rIns="0" bIns="0" rtlCol="0" anchor="ctr"/>
          <a:lstStyle/>
          <a:p>
            <a:pPr indent="0" marL="0">
              <a:lnSpc>
                <a:spcPct val="110000"/>
              </a:lnSpc>
              <a:buNone/>
            </a:pPr>
            <a:r>
              <a:rPr lang="en-US" sz="1250" dirty="0">
                <a:solidFill>
                  <a:srgbClr val="043F52"/>
                </a:solidFill>
                <a:latin typeface="Calibri" pitchFamily="34" charset="0"/>
                <a:ea typeface="Calibri" pitchFamily="34" charset="-122"/>
                <a:cs typeface="Calibri" pitchFamily="34" charset="-120"/>
              </a:rPr>
              <a:t>Debemos decidir a cuáles 8.000 de los 25.000 clientes elegibles contactamos cada mes, y elegirlos por valor neto de riesgo, no por probabilidad de renovar. Importa porque una renovación que cae en mora 30+ borra lo que aportan 4,3 renovaciones sanas.</a:t>
            </a:r>
            <a:endParaRPr lang="en-US" sz="1250" dirty="0"/>
          </a:p>
        </p:txBody>
      </p:sp>
      <p:sp>
        <p:nvSpPr>
          <p:cNvPr id="5" name="CAPACIDAD"/>
          <p:cNvSpPr/>
          <p:nvPr/>
        </p:nvSpPr>
        <p:spPr>
          <a:xfrm>
            <a:off x="457200" y="1645920"/>
            <a:ext cx="3611880" cy="1371600"/>
          </a:xfrm>
          <a:prstGeom prst="roundRect">
            <a:avLst>
              <a:gd name="adj" fmla="val 8000"/>
            </a:avLst>
          </a:prstGeom>
          <a:solidFill>
            <a:srgbClr val="9CE0D9"/>
          </a:solidFill>
          <a:ln w="12700">
            <a:solidFill>
              <a:srgbClr val="9CE0D9"/>
            </a:solidFill>
            <a:prstDash val="solid"/>
          </a:ln>
        </p:spPr>
      </p:sp>
      <p:sp>
        <p:nvSpPr>
          <p:cNvPr id="6" name="Text 4"/>
          <p:cNvSpPr txBox="1"/>
          <p:nvPr/>
        </p:nvSpPr>
        <p:spPr>
          <a:xfrm>
            <a:off x="621792" y="1755648"/>
            <a:ext cx="3282696" cy="274320"/>
          </a:xfrm>
          <a:prstGeom prst="rect">
            <a:avLst/>
          </a:prstGeom>
          <a:noFill/>
          <a:ln/>
        </p:spPr>
        <p:txBody>
          <a:bodyPr wrap="square" lIns="0" tIns="0" rIns="0" bIns="0" rtlCol="0" anchor="ctr"/>
          <a:lstStyle/>
          <a:p>
            <a:pPr indent="0" marL="0">
              <a:buNone/>
            </a:pPr>
            <a:r>
              <a:rPr lang="en-US" sz="1100" b="1" spc="150" kern="0" dirty="0">
                <a:solidFill>
                  <a:srgbClr val="043F52"/>
                </a:solidFill>
                <a:latin typeface="Calibri" pitchFamily="34" charset="0"/>
                <a:ea typeface="Calibri" pitchFamily="34" charset="-122"/>
                <a:cs typeface="Calibri" pitchFamily="34" charset="-120"/>
              </a:rPr>
              <a:t>CAPACIDAD</a:t>
            </a:r>
            <a:endParaRPr lang="en-US" sz="1100" dirty="0"/>
          </a:p>
        </p:txBody>
      </p:sp>
      <p:sp>
        <p:nvSpPr>
          <p:cNvPr id="7" name="Text 5"/>
          <p:cNvSpPr txBox="1"/>
          <p:nvPr/>
        </p:nvSpPr>
        <p:spPr>
          <a:xfrm>
            <a:off x="621792" y="1993392"/>
            <a:ext cx="3282696" cy="457200"/>
          </a:xfrm>
          <a:prstGeom prst="rect">
            <a:avLst/>
          </a:prstGeom>
          <a:noFill/>
          <a:ln/>
        </p:spPr>
        <p:txBody>
          <a:bodyPr wrap="square" lIns="0" tIns="0" rIns="0" bIns="0" rtlCol="0" anchor="ctr"/>
          <a:lstStyle/>
          <a:p>
            <a:pPr indent="0" marL="0">
              <a:buNone/>
            </a:pPr>
            <a:r>
              <a:rPr lang="en-US" sz="2400" b="1" dirty="0">
                <a:solidFill>
                  <a:srgbClr val="043F52"/>
                </a:solidFill>
                <a:latin typeface="Calibri" pitchFamily="34" charset="0"/>
                <a:ea typeface="Calibri" pitchFamily="34" charset="-122"/>
                <a:cs typeface="Calibri" pitchFamily="34" charset="-120"/>
              </a:rPr>
              <a:t>8.000 de 25.000</a:t>
            </a:r>
            <a:endParaRPr lang="en-US" sz="2400" dirty="0"/>
          </a:p>
        </p:txBody>
      </p:sp>
      <p:sp>
        <p:nvSpPr>
          <p:cNvPr id="8" name="Text 6"/>
          <p:cNvSpPr txBox="1"/>
          <p:nvPr/>
        </p:nvSpPr>
        <p:spPr>
          <a:xfrm>
            <a:off x="621792" y="2487168"/>
            <a:ext cx="3282696" cy="457200"/>
          </a:xfrm>
          <a:prstGeom prst="rect">
            <a:avLst/>
          </a:prstGeom>
          <a:noFill/>
          <a:ln/>
        </p:spPr>
        <p:txBody>
          <a:bodyPr wrap="square" lIns="0" tIns="0" rIns="0" bIns="0" rtlCol="0" anchor="t"/>
          <a:lstStyle/>
          <a:p>
            <a:pPr indent="0" marL="0">
              <a:buNone/>
            </a:pPr>
            <a:r>
              <a:rPr lang="en-US" sz="1100" dirty="0">
                <a:solidFill>
                  <a:srgbClr val="043F52"/>
                </a:solidFill>
                <a:latin typeface="Calibri" pitchFamily="34" charset="0"/>
                <a:ea typeface="Calibri" pitchFamily="34" charset="-122"/>
                <a:cs typeface="Calibri" pitchFamily="34" charset="-120"/>
              </a:rPr>
              <a:t>La restricción es la capacidad, no la demanda.</a:t>
            </a:r>
            <a:endParaRPr lang="en-US" sz="1100" dirty="0"/>
          </a:p>
        </p:txBody>
      </p:sp>
      <p:sp>
        <p:nvSpPr>
          <p:cNvPr id="9" name="HOY Y META"/>
          <p:cNvSpPr/>
          <p:nvPr/>
        </p:nvSpPr>
        <p:spPr>
          <a:xfrm>
            <a:off x="4288536" y="1645920"/>
            <a:ext cx="3611880" cy="1371600"/>
          </a:xfrm>
          <a:prstGeom prst="roundRect">
            <a:avLst>
              <a:gd name="adj" fmla="val 8000"/>
            </a:avLst>
          </a:prstGeom>
          <a:solidFill>
            <a:srgbClr val="EEF8F7"/>
          </a:solidFill>
          <a:ln w="12700">
            <a:solidFill>
              <a:srgbClr val="EEF8F7"/>
            </a:solidFill>
            <a:prstDash val="solid"/>
          </a:ln>
        </p:spPr>
      </p:sp>
      <p:sp>
        <p:nvSpPr>
          <p:cNvPr id="10" name="Text 8"/>
          <p:cNvSpPr txBox="1"/>
          <p:nvPr/>
        </p:nvSpPr>
        <p:spPr>
          <a:xfrm>
            <a:off x="4453128" y="1755648"/>
            <a:ext cx="3282696" cy="274320"/>
          </a:xfrm>
          <a:prstGeom prst="rect">
            <a:avLst/>
          </a:prstGeom>
          <a:noFill/>
          <a:ln/>
        </p:spPr>
        <p:txBody>
          <a:bodyPr wrap="square" lIns="0" tIns="0" rIns="0" bIns="0" rtlCol="0" anchor="ctr"/>
          <a:lstStyle/>
          <a:p>
            <a:pPr indent="0" marL="0">
              <a:buNone/>
            </a:pPr>
            <a:r>
              <a:rPr lang="en-US" sz="1100" b="1" spc="150" kern="0" dirty="0">
                <a:solidFill>
                  <a:srgbClr val="043F52"/>
                </a:solidFill>
                <a:latin typeface="Calibri" pitchFamily="34" charset="0"/>
                <a:ea typeface="Calibri" pitchFamily="34" charset="-122"/>
                <a:cs typeface="Calibri" pitchFamily="34" charset="-120"/>
              </a:rPr>
              <a:t>HOY Y META</a:t>
            </a:r>
            <a:endParaRPr lang="en-US" sz="1100" dirty="0"/>
          </a:p>
        </p:txBody>
      </p:sp>
      <p:sp>
        <p:nvSpPr>
          <p:cNvPr id="11" name="Text 9"/>
          <p:cNvSpPr txBox="1"/>
          <p:nvPr/>
        </p:nvSpPr>
        <p:spPr>
          <a:xfrm>
            <a:off x="4453128" y="1993392"/>
            <a:ext cx="3282696" cy="457200"/>
          </a:xfrm>
          <a:prstGeom prst="rect">
            <a:avLst/>
          </a:prstGeom>
          <a:noFill/>
          <a:ln/>
        </p:spPr>
        <p:txBody>
          <a:bodyPr wrap="square" lIns="0" tIns="0" rIns="0" bIns="0" rtlCol="0" anchor="ctr"/>
          <a:lstStyle/>
          <a:p>
            <a:pPr indent="0" marL="0">
              <a:buNone/>
            </a:pPr>
            <a:r>
              <a:rPr lang="en-US" sz="2400" b="1" dirty="0">
                <a:solidFill>
                  <a:srgbClr val="043F52"/>
                </a:solidFill>
                <a:latin typeface="Calibri" pitchFamily="34" charset="0"/>
                <a:ea typeface="Calibri" pitchFamily="34" charset="-122"/>
                <a:cs typeface="Calibri" pitchFamily="34" charset="-120"/>
              </a:rPr>
              <a:t>3,6 % = 288</a:t>
            </a:r>
            <a:endParaRPr lang="en-US" sz="2400" dirty="0"/>
          </a:p>
        </p:txBody>
      </p:sp>
      <p:sp>
        <p:nvSpPr>
          <p:cNvPr id="12" name="Text 10"/>
          <p:cNvSpPr txBox="1"/>
          <p:nvPr/>
        </p:nvSpPr>
        <p:spPr>
          <a:xfrm>
            <a:off x="4453128" y="2487168"/>
            <a:ext cx="3282696" cy="457200"/>
          </a:xfrm>
          <a:prstGeom prst="rect">
            <a:avLst/>
          </a:prstGeom>
          <a:noFill/>
          <a:ln/>
        </p:spPr>
        <p:txBody>
          <a:bodyPr wrap="square" lIns="0" tIns="0" rIns="0" bIns="0" rtlCol="0" anchor="t"/>
          <a:lstStyle/>
          <a:p>
            <a:pPr indent="0" marL="0">
              <a:buNone/>
            </a:pPr>
            <a:r>
              <a:rPr lang="en-US" sz="1100" dirty="0">
                <a:solidFill>
                  <a:srgbClr val="043F52"/>
                </a:solidFill>
                <a:latin typeface="Calibri" pitchFamily="34" charset="0"/>
                <a:ea typeface="Calibri" pitchFamily="34" charset="-122"/>
                <a:cs typeface="Calibri" pitchFamily="34" charset="-120"/>
              </a:rPr>
              <a:t>Meta 12 %: 960 renovaciones si es sobre contactados, 3.000 si es sobre elegibles.</a:t>
            </a:r>
            <a:endParaRPr lang="en-US" sz="1100" dirty="0"/>
          </a:p>
        </p:txBody>
      </p:sp>
      <p:sp>
        <p:nvSpPr>
          <p:cNvPr id="13" name="RIESGO"/>
          <p:cNvSpPr/>
          <p:nvPr/>
        </p:nvSpPr>
        <p:spPr>
          <a:xfrm>
            <a:off x="8119872" y="1645920"/>
            <a:ext cx="3611880" cy="1371600"/>
          </a:xfrm>
          <a:prstGeom prst="roundRect">
            <a:avLst>
              <a:gd name="adj" fmla="val 8000"/>
            </a:avLst>
          </a:prstGeom>
          <a:solidFill>
            <a:srgbClr val="EEF8F7"/>
          </a:solidFill>
          <a:ln w="12700">
            <a:solidFill>
              <a:srgbClr val="EEF8F7"/>
            </a:solidFill>
            <a:prstDash val="solid"/>
          </a:ln>
        </p:spPr>
      </p:sp>
      <p:sp>
        <p:nvSpPr>
          <p:cNvPr id="14" name="Text 12"/>
          <p:cNvSpPr txBox="1"/>
          <p:nvPr/>
        </p:nvSpPr>
        <p:spPr>
          <a:xfrm>
            <a:off x="8284464" y="1755648"/>
            <a:ext cx="3282696" cy="274320"/>
          </a:xfrm>
          <a:prstGeom prst="rect">
            <a:avLst/>
          </a:prstGeom>
          <a:noFill/>
          <a:ln/>
        </p:spPr>
        <p:txBody>
          <a:bodyPr wrap="square" lIns="0" tIns="0" rIns="0" bIns="0" rtlCol="0" anchor="ctr"/>
          <a:lstStyle/>
          <a:p>
            <a:pPr indent="0" marL="0">
              <a:buNone/>
            </a:pPr>
            <a:r>
              <a:rPr lang="en-US" sz="1100" b="1" spc="150" kern="0" dirty="0">
                <a:solidFill>
                  <a:srgbClr val="043F52"/>
                </a:solidFill>
                <a:latin typeface="Calibri" pitchFamily="34" charset="0"/>
                <a:ea typeface="Calibri" pitchFamily="34" charset="-122"/>
                <a:cs typeface="Calibri" pitchFamily="34" charset="-120"/>
              </a:rPr>
              <a:t>RIESGO</a:t>
            </a:r>
            <a:endParaRPr lang="en-US" sz="1100" dirty="0"/>
          </a:p>
        </p:txBody>
      </p:sp>
      <p:sp>
        <p:nvSpPr>
          <p:cNvPr id="15" name="Text 13"/>
          <p:cNvSpPr txBox="1"/>
          <p:nvPr/>
        </p:nvSpPr>
        <p:spPr>
          <a:xfrm>
            <a:off x="8284464" y="1993392"/>
            <a:ext cx="3282696" cy="457200"/>
          </a:xfrm>
          <a:prstGeom prst="rect">
            <a:avLst/>
          </a:prstGeom>
          <a:noFill/>
          <a:ln/>
        </p:spPr>
        <p:txBody>
          <a:bodyPr wrap="square" lIns="0" tIns="0" rIns="0" bIns="0" rtlCol="0" anchor="ctr"/>
          <a:lstStyle/>
          <a:p>
            <a:pPr indent="0" marL="0">
              <a:buNone/>
            </a:pPr>
            <a:r>
              <a:rPr lang="en-US" sz="2400" b="1" dirty="0">
                <a:solidFill>
                  <a:srgbClr val="043F52"/>
                </a:solidFill>
                <a:latin typeface="Calibri" pitchFamily="34" charset="0"/>
                <a:ea typeface="Calibri" pitchFamily="34" charset="-122"/>
                <a:cs typeface="Calibri" pitchFamily="34" charset="-120"/>
              </a:rPr>
              <a:t>1 mora = 4,3 sanas</a:t>
            </a:r>
            <a:endParaRPr lang="en-US" sz="2400" dirty="0"/>
          </a:p>
        </p:txBody>
      </p:sp>
      <p:sp>
        <p:nvSpPr>
          <p:cNvPr id="16" name="Text 14"/>
          <p:cNvSpPr txBox="1"/>
          <p:nvPr/>
        </p:nvSpPr>
        <p:spPr>
          <a:xfrm>
            <a:off x="8284464" y="2487168"/>
            <a:ext cx="3282696" cy="457200"/>
          </a:xfrm>
          <a:prstGeom prst="rect">
            <a:avLst/>
          </a:prstGeom>
          <a:noFill/>
          <a:ln/>
        </p:spPr>
        <p:txBody>
          <a:bodyPr wrap="square" lIns="0" tIns="0" rIns="0" bIns="0" rtlCol="0" anchor="t"/>
          <a:lstStyle/>
          <a:p>
            <a:pPr indent="0" marL="0">
              <a:buNone/>
            </a:pPr>
            <a:r>
              <a:rPr lang="en-US" sz="1100" dirty="0">
                <a:solidFill>
                  <a:srgbClr val="043F52"/>
                </a:solidFill>
                <a:latin typeface="Calibri" pitchFamily="34" charset="0"/>
                <a:ea typeface="Calibri" pitchFamily="34" charset="-122"/>
                <a:cs typeface="Calibri" pitchFamily="34" charset="-120"/>
              </a:rPr>
              <a:t>Una mora 30+ cuesta lo que aportan 4,3 renovaciones sanas.</a:t>
            </a:r>
            <a:endParaRPr lang="en-US" sz="1100" dirty="0"/>
          </a:p>
        </p:txBody>
      </p:sp>
      <p:sp>
        <p:nvSpPr>
          <p:cNvPr id="17" name="Text 15"/>
          <p:cNvSpPr txBox="1"/>
          <p:nvPr/>
        </p:nvSpPr>
        <p:spPr>
          <a:xfrm>
            <a:off x="457200" y="3200400"/>
            <a:ext cx="6035040" cy="3108960"/>
          </a:xfrm>
          <a:prstGeom prst="rect">
            <a:avLst/>
          </a:prstGeom>
          <a:noFill/>
          <a:ln/>
        </p:spPr>
        <p:txBody>
          <a:bodyPr wrap="square" lIns="0" tIns="0" rIns="0" bIns="0" rtlCol="0" anchor="t"/>
          <a:lstStyle/>
          <a:p>
            <a:pPr marL="177800" indent="-177800">
              <a:spcAft>
                <a:spcPts val="1400"/>
              </a:spcAft>
              <a:buSzPct val="100000"/>
              <a:buChar char="•"/>
            </a:pPr>
            <a:r>
              <a:rPr lang="en-US" sz="1200" dirty="0">
                <a:solidFill>
                  <a:srgbClr val="043F52"/>
                </a:solidFill>
                <a:latin typeface="Calibri" pitchFamily="34" charset="0"/>
                <a:ea typeface="Calibri" pitchFamily="34" charset="-122"/>
                <a:cs typeface="Calibri" pitchFamily="34" charset="-120"/>
              </a:rPr>
              <a:t>Hoy podemos ordenar por propensión, filtrar riesgo con la política de Riesgos y valorar cada renovación; medir el efecto real del contacto exige un grupo de control que aún no existe.</a:t>
            </a:r>
            <a:endParaRPr lang="en-US" sz="1200" dirty="0"/>
          </a:p>
          <a:p>
            <a:pPr marL="177800" indent="-177800">
              <a:spcAft>
                <a:spcPts val="1400"/>
              </a:spcAft>
              <a:buSzPct val="100000"/>
              <a:buChar char="•"/>
            </a:pPr>
            <a:r>
              <a:rPr lang="en-US" sz="1200" dirty="0">
                <a:solidFill>
                  <a:srgbClr val="043F52"/>
                </a:solidFill>
                <a:latin typeface="Calibri" pitchFamily="34" charset="0"/>
                <a:ea typeface="Calibri" pitchFamily="34" charset="-122"/>
                <a:cs typeface="Calibri" pitchFamily="34" charset="-120"/>
              </a:rPr>
              <a:t>El 12 % no se adopta hasta fijar sobre qué se mide, en qué ventana y si cuenta a quien renueva solo (2,3 % lo hizo).</a:t>
            </a:r>
            <a:endParaRPr lang="en-US" sz="1200" dirty="0"/>
          </a:p>
          <a:p>
            <a:pPr marL="177800" indent="-177800">
              <a:spcAft>
                <a:spcPts val="1400"/>
              </a:spcAft>
              <a:buSzPct val="100000"/>
              <a:buChar char="•"/>
            </a:pPr>
            <a:r>
              <a:rPr lang="en-US" sz="1200" dirty="0">
                <a:solidFill>
                  <a:srgbClr val="043F52"/>
                </a:solidFill>
                <a:latin typeface="Calibri" pitchFamily="34" charset="0"/>
                <a:ea typeface="Calibri" pitchFamily="34" charset="-122"/>
                <a:cs typeface="Calibri" pitchFamily="34" charset="-120"/>
              </a:rPr>
              <a:t>Una pregunta antes de modelar: ¿cómo se elige hoy a quién contactar? Define si el histórico mide el efecto del contacto o solo la política vigente.</a:t>
            </a:r>
            <a:endParaRPr lang="en-US" sz="1200" dirty="0"/>
          </a:p>
        </p:txBody>
      </p:sp>
      <p:sp>
        <p:nvSpPr>
          <p:cNvPr id="18" name="KPI"/>
          <p:cNvSpPr/>
          <p:nvPr/>
        </p:nvSpPr>
        <p:spPr>
          <a:xfrm>
            <a:off x="6766560" y="3200400"/>
            <a:ext cx="4965192" cy="914400"/>
          </a:xfrm>
          <a:prstGeom prst="roundRect">
            <a:avLst>
              <a:gd name="adj" fmla="val 10000"/>
            </a:avLst>
          </a:prstGeom>
          <a:solidFill>
            <a:srgbClr val="E2F2FD"/>
          </a:solidFill>
          <a:ln w="12700">
            <a:solidFill>
              <a:srgbClr val="E2F2FD"/>
            </a:solidFill>
            <a:prstDash val="solid"/>
          </a:ln>
        </p:spPr>
      </p:sp>
      <p:sp>
        <p:nvSpPr>
          <p:cNvPr id="19" name="Text 17"/>
          <p:cNvSpPr txBox="1"/>
          <p:nvPr/>
        </p:nvSpPr>
        <p:spPr>
          <a:xfrm>
            <a:off x="6903720" y="3246120"/>
            <a:ext cx="4709160" cy="822960"/>
          </a:xfrm>
          <a:prstGeom prst="rect">
            <a:avLst/>
          </a:prstGeom>
          <a:noFill/>
          <a:ln/>
        </p:spPr>
        <p:txBody>
          <a:bodyPr wrap="square" lIns="0" tIns="0" rIns="0" bIns="0" rtlCol="0" anchor="ctr"/>
          <a:lstStyle/>
          <a:p>
            <a:pPr indent="0" marL="0">
              <a:buNone/>
            </a:pPr>
            <a:r>
              <a:rPr lang="en-US" sz="1150" b="1" dirty="0">
                <a:solidFill>
                  <a:srgbClr val="043F52"/>
                </a:solidFill>
                <a:latin typeface="Calibri" pitchFamily="34" charset="0"/>
                <a:ea typeface="Calibri" pitchFamily="34" charset="-122"/>
                <a:cs typeface="Calibri" pitchFamily="34" charset="-120"/>
              </a:rPr>
              <a:t>KPI: </a:t>
            </a:r>
            <a:pPr indent="0" marL="0">
              <a:buNone/>
            </a:pPr>
            <a:r>
              <a:rPr lang="en-US" sz="1150" dirty="0">
                <a:solidFill>
                  <a:srgbClr val="043F52"/>
                </a:solidFill>
                <a:latin typeface="Calibri" pitchFamily="34" charset="0"/>
                <a:ea typeface="Calibri" pitchFamily="34" charset="-122"/>
                <a:cs typeface="Calibri" pitchFamily="34" charset="-120"/>
              </a:rPr>
              <a:t>pesos ganados por contacto, netos de mora y medidos frente a un grupo de control. Mientras no haya control: renovaciones por cada 1.000 contactos.</a:t>
            </a:r>
            <a:endParaRPr lang="en-US" sz="1150" dirty="0"/>
          </a:p>
        </p:txBody>
      </p:sp>
      <p:sp>
        <p:nvSpPr>
          <p:cNvPr id="20" name="Text 18"/>
          <p:cNvSpPr txBox="1"/>
          <p:nvPr/>
        </p:nvSpPr>
        <p:spPr>
          <a:xfrm>
            <a:off x="6766560" y="4206240"/>
            <a:ext cx="4965192" cy="292608"/>
          </a:xfrm>
          <a:prstGeom prst="rect">
            <a:avLst/>
          </a:prstGeom>
          <a:noFill/>
          <a:ln/>
        </p:spPr>
        <p:txBody>
          <a:bodyPr wrap="square" lIns="0" tIns="0" rIns="0" bIns="0" rtlCol="0" anchor="ctr"/>
          <a:lstStyle/>
          <a:p>
            <a:pPr indent="0" marL="0">
              <a:buNone/>
            </a:pPr>
            <a:r>
              <a:rPr lang="en-US" sz="1200" b="1" dirty="0">
                <a:solidFill>
                  <a:srgbClr val="043F52"/>
                </a:solidFill>
                <a:latin typeface="Calibri" pitchFamily="34" charset="0"/>
                <a:ea typeface="Calibri" pitchFamily="34" charset="-122"/>
                <a:cs typeface="Calibri" pitchFamily="34" charset="-120"/>
              </a:rPr>
              <a:t>Guardrails: cinco límites que la lista debe respetar</a:t>
            </a:r>
            <a:endParaRPr lang="en-US" sz="1200" dirty="0"/>
          </a:p>
        </p:txBody>
      </p:sp>
      <p:sp>
        <p:nvSpPr>
          <p:cNvPr id="21" name="Text 19"/>
          <p:cNvSpPr txBox="1"/>
          <p:nvPr/>
        </p:nvSpPr>
        <p:spPr>
          <a:xfrm>
            <a:off x="6766560" y="4526280"/>
            <a:ext cx="4965192" cy="1874520"/>
          </a:xfrm>
          <a:prstGeom prst="rect">
            <a:avLst/>
          </a:prstGeom>
          <a:noFill/>
          <a:ln/>
        </p:spPr>
        <p:txBody>
          <a:bodyPr wrap="square" lIns="0" tIns="0" rIns="0" bIns="0" rtlCol="0" anchor="t"/>
          <a:lstStyle/>
          <a:p>
            <a:pPr marL="177800" indent="-177800">
              <a:spcAft>
                <a:spcPts val="300"/>
              </a:spcAft>
              <a:buSzPct val="100000"/>
              <a:buChar char="•"/>
            </a:pPr>
            <a:r>
              <a:rPr lang="en-US" sz="1100" b="1" dirty="0">
                <a:solidFill>
                  <a:srgbClr val="043F52"/>
                </a:solidFill>
                <a:latin typeface="Calibri" pitchFamily="34" charset="0"/>
                <a:ea typeface="Calibri" pitchFamily="34" charset="-122"/>
                <a:cs typeface="Calibri" pitchFamily="34" charset="-120"/>
              </a:rPr>
              <a:t>Riesgo: </a:t>
            </a:r>
            <a:pPr indent="0" marL="0">
              <a:spcAft>
                <a:spcPts val="300"/>
              </a:spcAft>
              <a:buNone/>
            </a:pPr>
            <a:r>
              <a:rPr lang="en-US" sz="1100" dirty="0">
                <a:solidFill>
                  <a:srgbClr val="043F52"/>
                </a:solidFill>
                <a:latin typeface="Calibri" pitchFamily="34" charset="0"/>
                <a:ea typeface="Calibri" pitchFamily="34" charset="-122"/>
                <a:cs typeface="Calibri" pitchFamily="34" charset="-120"/>
              </a:rPr>
              <a:t>la mora esperada de la lista no supera el umbral de Riesgos; si lo supera, no se ejecuta.</a:t>
            </a:r>
            <a:endParaRPr lang="en-US" sz="1100" dirty="0"/>
          </a:p>
          <a:p>
            <a:pPr marL="177800" indent="-177800">
              <a:spcAft>
                <a:spcPts val="300"/>
              </a:spcAft>
              <a:buSzPct val="100000"/>
              <a:buChar char="•"/>
            </a:pPr>
            <a:r>
              <a:rPr lang="en-US" sz="1100" b="1" dirty="0">
                <a:solidFill>
                  <a:srgbClr val="043F52"/>
                </a:solidFill>
                <a:latin typeface="Calibri" pitchFamily="34" charset="0"/>
                <a:ea typeface="Calibri" pitchFamily="34" charset="-122"/>
                <a:cs typeface="Calibri" pitchFamily="34" charset="-120"/>
              </a:rPr>
              <a:t>Experiencia: </a:t>
            </a:r>
            <a:pPr indent="0" marL="0">
              <a:spcAft>
                <a:spcPts val="300"/>
              </a:spcAft>
              <a:buNone/>
            </a:pPr>
            <a:r>
              <a:rPr lang="en-US" sz="1100" dirty="0">
                <a:solidFill>
                  <a:srgbClr val="043F52"/>
                </a:solidFill>
                <a:latin typeface="Calibri" pitchFamily="34" charset="0"/>
                <a:ea typeface="Calibri" pitchFamily="34" charset="-122"/>
                <a:cs typeface="Calibri" pitchFamily="34" charset="-120"/>
              </a:rPr>
              <a:t>quejas y bajas por cada 1.000 contactos no peores que hoy; si empeoran, se detiene.</a:t>
            </a:r>
            <a:endParaRPr lang="en-US" sz="1100" dirty="0"/>
          </a:p>
          <a:p>
            <a:pPr marL="177800" indent="-177800">
              <a:spcAft>
                <a:spcPts val="300"/>
              </a:spcAft>
              <a:buSzPct val="100000"/>
              <a:buChar char="•"/>
            </a:pPr>
            <a:r>
              <a:rPr lang="en-US" sz="1100" b="1" dirty="0">
                <a:solidFill>
                  <a:srgbClr val="043F52"/>
                </a:solidFill>
                <a:latin typeface="Calibri" pitchFamily="34" charset="0"/>
                <a:ea typeface="Calibri" pitchFamily="34" charset="-122"/>
                <a:cs typeface="Calibri" pitchFamily="34" charset="-120"/>
              </a:rPr>
              <a:t>Equidad: </a:t>
            </a:r>
            <a:pPr indent="0" marL="0">
              <a:spcAft>
                <a:spcPts val="300"/>
              </a:spcAft>
              <a:buNone/>
            </a:pPr>
            <a:r>
              <a:rPr lang="en-US" sz="1100" dirty="0">
                <a:solidFill>
                  <a:srgbClr val="043F52"/>
                </a:solidFill>
                <a:latin typeface="Calibri" pitchFamily="34" charset="0"/>
                <a:ea typeface="Calibri" pitchFamily="34" charset="-122"/>
                <a:cs typeface="Calibri" pitchFamily="34" charset="-120"/>
              </a:rPr>
              <a:t>ningún grupo ni regional queda por debajo del 80 % de la tasa de selección de los demás; si pasa, se revisa.</a:t>
            </a:r>
            <a:endParaRPr lang="en-US" sz="1100" dirty="0"/>
          </a:p>
          <a:p>
            <a:pPr marL="177800" indent="-177800">
              <a:spcAft>
                <a:spcPts val="300"/>
              </a:spcAft>
              <a:buSzPct val="100000"/>
              <a:buChar char="•"/>
            </a:pPr>
            <a:r>
              <a:rPr lang="en-US" sz="1100" b="1" dirty="0">
                <a:solidFill>
                  <a:srgbClr val="043F52"/>
                </a:solidFill>
                <a:latin typeface="Calibri" pitchFamily="34" charset="0"/>
                <a:ea typeface="Calibri" pitchFamily="34" charset="-122"/>
                <a:cs typeface="Calibri" pitchFamily="34" charset="-120"/>
              </a:rPr>
              <a:t>Operación: </a:t>
            </a:r>
            <a:pPr indent="0" marL="0">
              <a:spcAft>
                <a:spcPts val="300"/>
              </a:spcAft>
              <a:buNone/>
            </a:pPr>
            <a:r>
              <a:rPr lang="en-US" sz="1100" dirty="0">
                <a:solidFill>
                  <a:srgbClr val="043F52"/>
                </a:solidFill>
                <a:latin typeface="Calibri" pitchFamily="34" charset="0"/>
                <a:ea typeface="Calibri" pitchFamily="34" charset="-122"/>
                <a:cs typeface="Calibri" pitchFamily="34" charset="-120"/>
              </a:rPr>
              <a:t>se ejecuta al menos el 90 % de la lista en cada regional; si no, se reasignan cupos.</a:t>
            </a:r>
            <a:endParaRPr lang="en-US" sz="1100" dirty="0"/>
          </a:p>
          <a:p>
            <a:pPr marL="177800" indent="-177800">
              <a:spcAft>
                <a:spcPts val="300"/>
              </a:spcAft>
              <a:buSzPct val="100000"/>
              <a:buChar char="•"/>
            </a:pPr>
            <a:r>
              <a:rPr lang="en-US" sz="1100" b="1" dirty="0">
                <a:solidFill>
                  <a:srgbClr val="043F52"/>
                </a:solidFill>
                <a:latin typeface="Calibri" pitchFamily="34" charset="0"/>
                <a:ea typeface="Calibri" pitchFamily="34" charset="-122"/>
                <a:cs typeface="Calibri" pitchFamily="34" charset="-120"/>
              </a:rPr>
              <a:t>Confiabilidad: </a:t>
            </a:r>
            <a:pPr indent="0" marL="0">
              <a:spcAft>
                <a:spcPts val="300"/>
              </a:spcAft>
              <a:buNone/>
            </a:pPr>
            <a:r>
              <a:rPr lang="en-US" sz="1100" dirty="0">
                <a:solidFill>
                  <a:srgbClr val="043F52"/>
                </a:solidFill>
                <a:latin typeface="Calibri" pitchFamily="34" charset="0"/>
                <a:ea typeface="Calibri" pitchFamily="34" charset="-122"/>
                <a:cs typeface="Calibri" pitchFamily="34" charset="-120"/>
              </a:rPr>
              <a:t>datos y aleatorización válidos en cada corte; si fallan, no se puntúa.</a:t>
            </a:r>
            <a:endParaRPr lang="en-US" sz="11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4A6A72"/>
                </a:solidFill>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457200" y="320040"/>
            <a:ext cx="11274552" cy="502920"/>
          </a:xfrm>
          <a:prstGeom prst="rect">
            <a:avLst/>
          </a:prstGeom>
          <a:noFill/>
          <a:ln/>
        </p:spPr>
        <p:txBody>
          <a:bodyPr wrap="square" lIns="0" tIns="0" rIns="0" bIns="0" rtlCol="0" anchor="t"/>
          <a:lstStyle/>
          <a:p>
            <a:pPr algn="l" indent="0" marL="0">
              <a:buNone/>
            </a:pPr>
            <a:r>
              <a:rPr lang="en-US" sz="2400" b="1" dirty="0">
                <a:solidFill>
                  <a:srgbClr val="043F52"/>
                </a:solidFill>
              </a:rPr>
              <a:t>2 · Qué descubrimos en los datos y en qué no deberíamos confiar</a:t>
            </a:r>
            <a:endParaRPr lang="en-US" sz="2400" dirty="0"/>
          </a:p>
        </p:txBody>
      </p:sp>
      <p:sp>
        <p:nvSpPr>
          <p:cNvPr id="3" name="Respuesta"/>
          <p:cNvSpPr/>
          <p:nvPr/>
        </p:nvSpPr>
        <p:spPr>
          <a:xfrm>
            <a:off x="457200" y="868680"/>
            <a:ext cx="54864" cy="658368"/>
          </a:xfrm>
          <a:prstGeom prst="rect">
            <a:avLst/>
          </a:prstGeom>
          <a:solidFill>
            <a:srgbClr val="009786"/>
          </a:solidFill>
          <a:ln w="12700">
            <a:solidFill>
              <a:srgbClr val="009786"/>
            </a:solidFill>
            <a:prstDash val="solid"/>
          </a:ln>
        </p:spPr>
      </p:sp>
      <p:sp>
        <p:nvSpPr>
          <p:cNvPr id="4" name="Text 2"/>
          <p:cNvSpPr txBox="1"/>
          <p:nvPr/>
        </p:nvSpPr>
        <p:spPr>
          <a:xfrm>
            <a:off x="640080" y="868680"/>
            <a:ext cx="11091672" cy="658368"/>
          </a:xfrm>
          <a:prstGeom prst="rect">
            <a:avLst/>
          </a:prstGeom>
          <a:noFill/>
          <a:ln/>
        </p:spPr>
        <p:txBody>
          <a:bodyPr wrap="square" lIns="0" tIns="0" rIns="0" bIns="0" rtlCol="0" anchor="ctr"/>
          <a:lstStyle/>
          <a:p>
            <a:pPr indent="0" marL="0">
              <a:lnSpc>
                <a:spcPct val="110000"/>
              </a:lnSpc>
              <a:buNone/>
            </a:pPr>
            <a:r>
              <a:rPr lang="en-US" sz="1250" dirty="0">
                <a:solidFill>
                  <a:srgbClr val="043F52"/>
                </a:solidFill>
                <a:latin typeface="Calibri" pitchFamily="34" charset="0"/>
                <a:ea typeface="Calibri" pitchFamily="34" charset="-122"/>
                <a:cs typeface="Calibri" pitchFamily="34" charset="-120"/>
              </a:rPr>
              <a:t>La base sirve para ordenar clientes por propensión, pero no para medir riesgo ni el efecto del contacto. No deberíamos confiar en dos variables que ya contienen el resultado, ni en las conversiones de la hoja de modelos como si salieran de esta base.</a:t>
            </a:r>
            <a:endParaRPr lang="en-US" sz="1250" dirty="0"/>
          </a:p>
        </p:txBody>
      </p:sp>
      <p:sp>
        <p:nvSpPr>
          <p:cNvPr id="5" name="Text 3"/>
          <p:cNvSpPr txBox="1"/>
          <p:nvPr/>
        </p:nvSpPr>
        <p:spPr>
          <a:xfrm>
            <a:off x="457200" y="1645920"/>
            <a:ext cx="9144000" cy="292608"/>
          </a:xfrm>
          <a:prstGeom prst="rect">
            <a:avLst/>
          </a:prstGeom>
          <a:noFill/>
          <a:ln/>
        </p:spPr>
        <p:txBody>
          <a:bodyPr wrap="square" lIns="0" tIns="0" rIns="0" bIns="0" rtlCol="0" anchor="ctr"/>
          <a:lstStyle/>
          <a:p>
            <a:pPr indent="0" marL="0">
              <a:buNone/>
            </a:pPr>
            <a:r>
              <a:rPr lang="en-US" sz="1300" b="1" dirty="0">
                <a:solidFill>
                  <a:srgbClr val="043F52"/>
                </a:solidFill>
                <a:latin typeface="Calibri" pitchFamily="34" charset="0"/>
                <a:ea typeface="Calibri" pitchFamily="34" charset="-122"/>
                <a:cs typeface="Calibri" pitchFamily="34" charset="-120"/>
              </a:rPr>
              <a:t>Cinco hallazgos en la base de clientes (1.800 filas, 8 cortes mensuales)</a:t>
            </a:r>
            <a:endParaRPr lang="en-US" sz="13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7200" y="1965960"/>
          <a:ext cx="11274552" cy="914400"/>
        </p:xfrm>
        <a:graphic>
          <a:graphicData uri="http://schemas.openxmlformats.org/drawingml/2006/table">
            <a:tbl>
              <a:tblPr/>
              <a:tblGrid>
                <a:gridCol w="2011680"/>
                <a:gridCol w="3840480"/>
                <a:gridCol w="4206240"/>
                <a:gridCol w="1216152"/>
              </a:tblGrid>
              <a:tr h="411480">
                <a:tc>
                  <a:txBody>
                    <a:bodyPr/>
                    <a:lstStyle/>
                    <a:p>
                      <a:pPr indent="0" marL="0">
                        <a:buNone/>
                      </a:pPr>
                      <a:r>
                        <a:rPr lang="en-US" sz="1050" b="1" dirty="0">
                          <a:solidFill>
                            <a:srgbClr val="043F52"/>
                          </a:solidFill>
                          <a:latin typeface="Calibri" pitchFamily="34" charset="0"/>
                          <a:ea typeface="Calibri" pitchFamily="34" charset="-122"/>
                          <a:cs typeface="Calibri" pitchFamily="34" charset="-120"/>
                        </a:rPr>
                        <a:t>Hallazgo</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solidFill>
                      <a:srgbClr val="EEF8F7"/>
                    </a:solidFill>
                  </a:tcPr>
                </a:tc>
                <a:tc>
                  <a:txBody>
                    <a:bodyPr/>
                    <a:lstStyle/>
                    <a:p>
                      <a:pPr indent="0" marL="0">
                        <a:buNone/>
                      </a:pPr>
                      <a:r>
                        <a:rPr lang="en-US" sz="1050" b="1" dirty="0">
                          <a:solidFill>
                            <a:srgbClr val="043F52"/>
                          </a:solidFill>
                          <a:latin typeface="Calibri" pitchFamily="34" charset="0"/>
                          <a:ea typeface="Calibri" pitchFamily="34" charset="-122"/>
                          <a:cs typeface="Calibri" pitchFamily="34" charset="-120"/>
                        </a:rPr>
                        <a:t>Cifra</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solidFill>
                      <a:srgbClr val="EEF8F7"/>
                    </a:solidFill>
                  </a:tcPr>
                </a:tc>
                <a:tc>
                  <a:txBody>
                    <a:bodyPr/>
                    <a:lstStyle/>
                    <a:p>
                      <a:pPr indent="0" marL="0">
                        <a:buNone/>
                      </a:pPr>
                      <a:r>
                        <a:rPr lang="en-US" sz="1050" b="1" dirty="0">
                          <a:solidFill>
                            <a:srgbClr val="043F52"/>
                          </a:solidFill>
                          <a:latin typeface="Calibri" pitchFamily="34" charset="0"/>
                          <a:ea typeface="Calibri" pitchFamily="34" charset="-122"/>
                          <a:cs typeface="Calibri" pitchFamily="34" charset="-120"/>
                        </a:rPr>
                        <a:t>Qué implica</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solidFill>
                      <a:srgbClr val="EEF8F7"/>
                    </a:solidFill>
                  </a:tcPr>
                </a:tc>
                <a:tc>
                  <a:txBody>
                    <a:bodyPr/>
                    <a:lstStyle/>
                    <a:p>
                      <a:pPr algn="ctr" indent="0" marL="0">
                        <a:buNone/>
                      </a:pPr>
                      <a:r>
                        <a:rPr lang="en-US" sz="1050" b="1" dirty="0">
                          <a:solidFill>
                            <a:srgbClr val="043F52"/>
                          </a:solidFill>
                          <a:latin typeface="Calibri" pitchFamily="34" charset="0"/>
                          <a:ea typeface="Calibri" pitchFamily="34" charset="-122"/>
                          <a:cs typeface="Calibri" pitchFamily="34" charset="-120"/>
                        </a:rPr>
                        <a:t>Nivel</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solidFill>
                      <a:srgbClr val="EEF8F7"/>
                    </a:solidFill>
                  </a:tcPr>
                </a:tc>
              </a:tr>
              <a:tr h="411480">
                <a:tc>
                  <a:txBody>
                    <a:bodyPr/>
                    <a:lstStyle/>
                    <a:p>
                      <a:pPr indent="0" marL="0">
                        <a:buNone/>
                      </a:pPr>
                      <a:r>
                        <a:rPr lang="en-US" sz="1050" b="1" dirty="0">
                          <a:solidFill>
                            <a:srgbClr val="043F52"/>
                          </a:solidFill>
                          <a:latin typeface="Calibri" pitchFamily="34" charset="0"/>
                          <a:ea typeface="Calibri" pitchFamily="34" charset="-122"/>
                          <a:cs typeface="Calibri" pitchFamily="34" charset="-120"/>
                        </a:rPr>
                        <a:t>Fuga en dos variables</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tcPr>
                </a:tc>
                <a:tc>
                  <a:txBody>
                    <a:bodyPr/>
                    <a:lstStyle/>
                    <a:p>
                      <a:pPr indent="0" marL="0">
                        <a:buNone/>
                      </a:pPr>
                      <a:r>
                        <a:rPr lang="en-US" sz="1050" dirty="0">
                          <a:solidFill>
                            <a:srgbClr val="043F52"/>
                          </a:solidFill>
                          <a:latin typeface="Calibri" pitchFamily="34" charset="0"/>
                          <a:ea typeface="Calibri" pitchFamily="34" charset="-122"/>
                          <a:cs typeface="Calibri" pitchFamily="34" charset="-120"/>
                        </a:rPr>
                        <a:t>resultado_gestion_30d AUC 0,83; dias_hasta_renovacion AUC 1,00</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tcPr>
                </a:tc>
                <a:tc>
                  <a:txBody>
                    <a:bodyPr/>
                    <a:lstStyle/>
                    <a:p>
                      <a:pPr indent="0" marL="0">
                        <a:buNone/>
                      </a:pPr>
                      <a:r>
                        <a:rPr lang="en-US" sz="1050" dirty="0">
                          <a:solidFill>
                            <a:srgbClr val="043F52"/>
                          </a:solidFill>
                          <a:latin typeface="Calibri" pitchFamily="34" charset="0"/>
                          <a:ea typeface="Calibri" pitchFamily="34" charset="-122"/>
                          <a:cs typeface="Calibri" pitchFamily="34" charset="-120"/>
                        </a:rPr>
                        <a:t>Se conocen después de gestionar; cualquier modelo que las use se verá mejor de lo que será.</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tcPr>
                </a:tc>
                <a:tc>
                  <a:txBody>
                    <a:bodyPr/>
                    <a:lstStyle/>
                    <a:p>
                      <a:pPr algn="ctr" indent="0" marL="0">
                        <a:buNone/>
                      </a:pPr>
                      <a:r>
                        <a:rPr lang="en-US" sz="1050" b="1" dirty="0">
                          <a:solidFill>
                            <a:srgbClr val="8F3A14"/>
                          </a:solidFill>
                          <a:latin typeface="Calibri" pitchFamily="34" charset="0"/>
                          <a:ea typeface="Calibri" pitchFamily="34" charset="-122"/>
                          <a:cs typeface="Calibri" pitchFamily="34" charset="-120"/>
                        </a:rPr>
                        <a:t>Crítico</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solidFill>
                      <a:srgbClr val="FDE9DF"/>
                    </a:solidFill>
                  </a:tcPr>
                </a:tc>
              </a:tr>
              <a:tr h="411480">
                <a:tc>
                  <a:txBody>
                    <a:bodyPr/>
                    <a:lstStyle/>
                    <a:p>
                      <a:pPr indent="0" marL="0">
                        <a:buNone/>
                      </a:pPr>
                      <a:r>
                        <a:rPr lang="en-US" sz="1050" b="1" dirty="0">
                          <a:solidFill>
                            <a:srgbClr val="043F52"/>
                          </a:solidFill>
                          <a:latin typeface="Calibri" pitchFamily="34" charset="0"/>
                          <a:ea typeface="Calibri" pitchFamily="34" charset="-122"/>
                          <a:cs typeface="Calibri" pitchFamily="34" charset="-120"/>
                        </a:rPr>
                        <a:t>La base no es el universo</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tcPr>
                </a:tc>
                <a:tc>
                  <a:txBody>
                    <a:bodyPr/>
                    <a:lstStyle/>
                    <a:p>
                      <a:pPr indent="0" marL="0">
                        <a:buNone/>
                      </a:pPr>
                      <a:r>
                        <a:rPr lang="en-US" sz="1050" dirty="0">
                          <a:solidFill>
                            <a:srgbClr val="043F52"/>
                          </a:solidFill>
                          <a:latin typeface="Calibri" pitchFamily="34" charset="0"/>
                          <a:ea typeface="Calibri" pitchFamily="34" charset="-122"/>
                          <a:cs typeface="Calibri" pitchFamily="34" charset="-120"/>
                        </a:rPr>
                        <a:t>Renovación 20,2 % vs. 3,6 %; 1.800 filas vs. 25.000 al mes</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tcPr>
                </a:tc>
                <a:tc>
                  <a:txBody>
                    <a:bodyPr/>
                    <a:lstStyle/>
                    <a:p>
                      <a:pPr indent="0" marL="0">
                        <a:buNone/>
                      </a:pPr>
                      <a:r>
                        <a:rPr lang="en-US" sz="1050" dirty="0">
                          <a:solidFill>
                            <a:srgbClr val="043F52"/>
                          </a:solidFill>
                          <a:latin typeface="Calibri" pitchFamily="34" charset="0"/>
                          <a:ea typeface="Calibri" pitchFamily="34" charset="-122"/>
                          <a:cs typeface="Calibri" pitchFamily="34" charset="-120"/>
                        </a:rPr>
                        <a:t>Las conversiones de la hoja vienen de otra población y no se comparan con esta base.</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tcPr>
                </a:tc>
                <a:tc>
                  <a:txBody>
                    <a:bodyPr/>
                    <a:lstStyle/>
                    <a:p>
                      <a:pPr algn="ctr" indent="0" marL="0">
                        <a:buNone/>
                      </a:pPr>
                      <a:r>
                        <a:rPr lang="en-US" sz="1050" b="1" dirty="0">
                          <a:solidFill>
                            <a:srgbClr val="8F3A14"/>
                          </a:solidFill>
                          <a:latin typeface="Calibri" pitchFamily="34" charset="0"/>
                          <a:ea typeface="Calibri" pitchFamily="34" charset="-122"/>
                          <a:cs typeface="Calibri" pitchFamily="34" charset="-120"/>
                        </a:rPr>
                        <a:t>Crítico</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solidFill>
                      <a:srgbClr val="FDE9DF"/>
                    </a:solidFill>
                  </a:tcPr>
                </a:tc>
              </a:tr>
              <a:tr h="411480">
                <a:tc>
                  <a:txBody>
                    <a:bodyPr/>
                    <a:lstStyle/>
                    <a:p>
                      <a:pPr indent="0" marL="0">
                        <a:buNone/>
                      </a:pPr>
                      <a:r>
                        <a:rPr lang="en-US" sz="1050" b="1" dirty="0">
                          <a:solidFill>
                            <a:srgbClr val="043F52"/>
                          </a:solidFill>
                          <a:latin typeface="Calibri" pitchFamily="34" charset="0"/>
                          <a:ea typeface="Calibri" pitchFamily="34" charset="-122"/>
                          <a:cs typeface="Calibri" pitchFamily="34" charset="-120"/>
                        </a:rPr>
                        <a:t>Riesgo no modelable</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tcPr>
                </a:tc>
                <a:tc>
                  <a:txBody>
                    <a:bodyPr/>
                    <a:lstStyle/>
                    <a:p>
                      <a:pPr indent="0" marL="0">
                        <a:buNone/>
                      </a:pPr>
                      <a:r>
                        <a:rPr lang="en-US" sz="1050" dirty="0">
                          <a:solidFill>
                            <a:srgbClr val="043F52"/>
                          </a:solidFill>
                          <a:latin typeface="Calibri" pitchFamily="34" charset="0"/>
                          <a:ea typeface="Calibri" pitchFamily="34" charset="-122"/>
                          <a:cs typeface="Calibri" pitchFamily="34" charset="-120"/>
                        </a:rPr>
                        <a:t>3 moras en 364 renovados (0,8 %) vs. 4,6–7,2 % reportado</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tcPr>
                </a:tc>
                <a:tc>
                  <a:txBody>
                    <a:bodyPr/>
                    <a:lstStyle/>
                    <a:p>
                      <a:pPr indent="0" marL="0">
                        <a:buNone/>
                      </a:pPr>
                      <a:r>
                        <a:rPr lang="en-US" sz="1050" dirty="0">
                          <a:solidFill>
                            <a:srgbClr val="043F52"/>
                          </a:solidFill>
                          <a:latin typeface="Calibri" pitchFamily="34" charset="0"/>
                          <a:ea typeface="Calibri" pitchFamily="34" charset="-122"/>
                          <a:cs typeface="Calibri" pitchFamily="34" charset="-120"/>
                        </a:rPr>
                        <a:t>Hay 3 moras: el riesgo tiene que venir de la política de Riesgos.</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tcPr>
                </a:tc>
                <a:tc>
                  <a:txBody>
                    <a:bodyPr/>
                    <a:lstStyle/>
                    <a:p>
                      <a:pPr algn="ctr" indent="0" marL="0">
                        <a:buNone/>
                      </a:pPr>
                      <a:r>
                        <a:rPr lang="en-US" sz="1050" b="1" dirty="0">
                          <a:solidFill>
                            <a:srgbClr val="8F3A14"/>
                          </a:solidFill>
                          <a:latin typeface="Calibri" pitchFamily="34" charset="0"/>
                          <a:ea typeface="Calibri" pitchFamily="34" charset="-122"/>
                          <a:cs typeface="Calibri" pitchFamily="34" charset="-120"/>
                        </a:rPr>
                        <a:t>Crítico</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solidFill>
                      <a:srgbClr val="FDE9DF"/>
                    </a:solidFill>
                  </a:tcPr>
                </a:tc>
              </a:tr>
              <a:tr h="411480">
                <a:tc>
                  <a:txBody>
                    <a:bodyPr/>
                    <a:lstStyle/>
                    <a:p>
                      <a:pPr indent="0" marL="0">
                        <a:buNone/>
                      </a:pPr>
                      <a:r>
                        <a:rPr lang="en-US" sz="1050" b="1" dirty="0">
                          <a:solidFill>
                            <a:srgbClr val="043F52"/>
                          </a:solidFill>
                          <a:latin typeface="Calibri" pitchFamily="34" charset="0"/>
                          <a:ea typeface="Calibri" pitchFamily="34" charset="-122"/>
                          <a:cs typeface="Calibri" pitchFamily="34" charset="-120"/>
                        </a:rPr>
                        <a:t>Calidad y fechas</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tcPr>
                </a:tc>
                <a:tc>
                  <a:txBody>
                    <a:bodyPr/>
                    <a:lstStyle/>
                    <a:p>
                      <a:pPr indent="0" marL="0">
                        <a:buNone/>
                      </a:pPr>
                      <a:r>
                        <a:rPr lang="en-US" sz="1050" dirty="0">
                          <a:solidFill>
                            <a:srgbClr val="043F52"/>
                          </a:solidFill>
                          <a:latin typeface="Calibri" pitchFamily="34" charset="0"/>
                          <a:ea typeface="Calibri" pitchFamily="34" charset="-122"/>
                          <a:cs typeface="Calibri" pitchFamily="34" charset="-120"/>
                        </a:rPr>
                        <a:t>1 duplicado; 1 contacto posterior al corte; 25 endeudamientos &gt; 1</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tcPr>
                </a:tc>
                <a:tc>
                  <a:txBody>
                    <a:bodyPr/>
                    <a:lstStyle/>
                    <a:p>
                      <a:pPr indent="0" marL="0">
                        <a:buNone/>
                      </a:pPr>
                      <a:r>
                        <a:rPr lang="en-US" sz="1050" dirty="0">
                          <a:solidFill>
                            <a:srgbClr val="043F52"/>
                          </a:solidFill>
                          <a:latin typeface="Calibri" pitchFamily="34" charset="0"/>
                          <a:ea typeface="Calibri" pitchFamily="34" charset="-122"/>
                          <a:cs typeface="Calibri" pitchFamily="34" charset="-120"/>
                        </a:rPr>
                        <a:t>La base no garantiza que cada dato existiera en la fecha de corte; hacen falta reglas de validación.</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tcPr>
                </a:tc>
                <a:tc>
                  <a:txBody>
                    <a:bodyPr/>
                    <a:lstStyle/>
                    <a:p>
                      <a:pPr algn="ctr" indent="0" marL="0">
                        <a:buNone/>
                      </a:pPr>
                      <a:r>
                        <a:rPr lang="en-US" sz="1050" b="1" dirty="0">
                          <a:solidFill>
                            <a:srgbClr val="6B5300"/>
                          </a:solidFill>
                          <a:latin typeface="Calibri" pitchFamily="34" charset="0"/>
                          <a:ea typeface="Calibri" pitchFamily="34" charset="-122"/>
                          <a:cs typeface="Calibri" pitchFamily="34" charset="-120"/>
                        </a:rPr>
                        <a:t>Moderado</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solidFill>
                      <a:srgbClr val="FBF3D5"/>
                    </a:solidFill>
                  </a:tcPr>
                </a:tc>
              </a:tr>
              <a:tr h="411480">
                <a:tc>
                  <a:txBody>
                    <a:bodyPr/>
                    <a:lstStyle/>
                    <a:p>
                      <a:pPr indent="0" marL="0">
                        <a:buNone/>
                      </a:pPr>
                      <a:r>
                        <a:rPr lang="en-US" sz="1050" b="1" dirty="0">
                          <a:solidFill>
                            <a:srgbClr val="043F52"/>
                          </a:solidFill>
                          <a:latin typeface="Calibri" pitchFamily="34" charset="0"/>
                          <a:ea typeface="Calibri" pitchFamily="34" charset="-122"/>
                          <a:cs typeface="Calibri" pitchFamily="34" charset="-120"/>
                        </a:rPr>
                        <a:t>Señal concentrada</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tcPr>
                </a:tc>
                <a:tc>
                  <a:txBody>
                    <a:bodyPr/>
                    <a:lstStyle/>
                    <a:p>
                      <a:pPr indent="0" marL="0">
                        <a:buNone/>
                      </a:pPr>
                      <a:r>
                        <a:rPr lang="en-US" sz="1050" dirty="0">
                          <a:solidFill>
                            <a:srgbClr val="043F52"/>
                          </a:solidFill>
                          <a:latin typeface="Calibri" pitchFamily="34" charset="0"/>
                          <a:ea typeface="Calibri" pitchFamily="34" charset="-122"/>
                          <a:cs typeface="Calibri" pitchFamily="34" charset="-120"/>
                        </a:rPr>
                        <a:t>score_buro AUC 0,81; respondio_oferta 0,69; resto &lt; 0,57</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tcPr>
                </a:tc>
                <a:tc>
                  <a:txBody>
                    <a:bodyPr/>
                    <a:lstStyle/>
                    <a:p>
                      <a:pPr indent="0" marL="0">
                        <a:buNone/>
                      </a:pPr>
                      <a:r>
                        <a:rPr lang="en-US" sz="1050" dirty="0">
                          <a:solidFill>
                            <a:srgbClr val="043F52"/>
                          </a:solidFill>
                          <a:latin typeface="Calibri" pitchFamily="34" charset="0"/>
                          <a:ea typeface="Calibri" pitchFamily="34" charset="-122"/>
                          <a:cs typeface="Calibri" pitchFamily="34" charset="-120"/>
                        </a:rPr>
                        <a:t>Dos variables explican casi toda la señal; un modelo simple basta.</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tcPr>
                </a:tc>
                <a:tc>
                  <a:txBody>
                    <a:bodyPr/>
                    <a:lstStyle/>
                    <a:p>
                      <a:pPr algn="ctr" indent="0" marL="0">
                        <a:buNone/>
                      </a:pPr>
                      <a:r>
                        <a:rPr lang="en-US" sz="1050" b="1" dirty="0">
                          <a:solidFill>
                            <a:srgbClr val="005477"/>
                          </a:solidFill>
                          <a:latin typeface="Calibri" pitchFamily="34" charset="0"/>
                          <a:ea typeface="Calibri" pitchFamily="34" charset="-122"/>
                          <a:cs typeface="Calibri" pitchFamily="34" charset="-120"/>
                        </a:rPr>
                        <a:t>Útil</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solidFill>
                      <a:srgbClr val="E2F2FD"/>
                    </a:solidFill>
                  </a:tcPr>
                </a:tc>
              </a:tr>
            </a:tbl>
          </a:graphicData>
        </a:graphic>
      </p:graphicFrame>
      <p:sp>
        <p:nvSpPr>
          <p:cNvPr id="7" name="Text 4"/>
          <p:cNvSpPr txBox="1"/>
          <p:nvPr/>
        </p:nvSpPr>
        <p:spPr>
          <a:xfrm>
            <a:off x="457200" y="4572000"/>
            <a:ext cx="7315200" cy="292608"/>
          </a:xfrm>
          <a:prstGeom prst="rect">
            <a:avLst/>
          </a:prstGeom>
          <a:noFill/>
          <a:ln/>
        </p:spPr>
        <p:txBody>
          <a:bodyPr wrap="square" lIns="0" tIns="0" rIns="0" bIns="0" rtlCol="0" anchor="ctr"/>
          <a:lstStyle/>
          <a:p>
            <a:pPr indent="0" marL="0">
              <a:buNone/>
            </a:pPr>
            <a:r>
              <a:rPr lang="en-US" sz="1300" b="1" dirty="0">
                <a:solidFill>
                  <a:srgbClr val="043F52"/>
                </a:solidFill>
                <a:latin typeface="Calibri" pitchFamily="34" charset="0"/>
                <a:ea typeface="Calibri" pitchFamily="34" charset="-122"/>
                <a:cs typeface="Calibri" pitchFamily="34" charset="-120"/>
              </a:rPr>
              <a:t>Qué decidimos hacer con los datos</a:t>
            </a:r>
            <a:endParaRPr lang="en-US" sz="1300" dirty="0"/>
          </a:p>
        </p:txBody>
      </p:sp>
      <p:sp>
        <p:nvSpPr>
          <p:cNvPr id="8" name="Text 5"/>
          <p:cNvSpPr txBox="1"/>
          <p:nvPr/>
        </p:nvSpPr>
        <p:spPr>
          <a:xfrm>
            <a:off x="457200" y="4892040"/>
            <a:ext cx="11274552" cy="1508760"/>
          </a:xfrm>
          <a:prstGeom prst="rect">
            <a:avLst/>
          </a:prstGeom>
          <a:noFill/>
          <a:ln/>
        </p:spPr>
        <p:txBody>
          <a:bodyPr wrap="square" lIns="0" tIns="0" rIns="0" bIns="0" rtlCol="0" anchor="t"/>
          <a:lstStyle/>
          <a:p>
            <a:pPr marL="177800" indent="-177800">
              <a:spcAft>
                <a:spcPts val="400"/>
              </a:spcAft>
              <a:buSzPct val="100000"/>
              <a:buChar char="•"/>
            </a:pPr>
            <a:r>
              <a:rPr lang="en-US" sz="1150" b="1" dirty="0">
                <a:solidFill>
                  <a:srgbClr val="043F52"/>
                </a:solidFill>
                <a:latin typeface="Calibri" pitchFamily="34" charset="0"/>
                <a:ea typeface="Calibri" pitchFamily="34" charset="-122"/>
                <a:cs typeface="Calibri" pitchFamily="34" charset="-120"/>
              </a:rPr>
              <a:t>Variables: </a:t>
            </a:r>
            <a:pPr indent="0" marL="0">
              <a:spcAft>
                <a:spcPts val="400"/>
              </a:spcAft>
              <a:buNone/>
            </a:pPr>
            <a:r>
              <a:rPr lang="en-US" sz="1150" dirty="0">
                <a:solidFill>
                  <a:srgbClr val="043F52"/>
                </a:solidFill>
                <a:latin typeface="Calibri" pitchFamily="34" charset="0"/>
                <a:ea typeface="Calibri" pitchFamily="34" charset="-122"/>
                <a:cs typeface="Calibri" pitchFamily="34" charset="-120"/>
              </a:rPr>
              <a:t>quedan 15. Fuera las que contienen el resultado, las de contacto sin fecha certificada, y la contactabilidad y las remesas, que reproducirían la política pasada sin aportar señal.</a:t>
            </a:r>
            <a:endParaRPr lang="en-US" sz="1150" dirty="0"/>
          </a:p>
          <a:p>
            <a:pPr marL="177800" indent="-177800">
              <a:spcAft>
                <a:spcPts val="400"/>
              </a:spcAft>
              <a:buSzPct val="100000"/>
              <a:buChar char="•"/>
            </a:pPr>
            <a:r>
              <a:rPr lang="en-US" sz="1150" b="1" dirty="0">
                <a:solidFill>
                  <a:srgbClr val="043F52"/>
                </a:solidFill>
                <a:latin typeface="Calibri" pitchFamily="34" charset="0"/>
                <a:ea typeface="Calibri" pitchFamily="34" charset="-122"/>
                <a:cs typeface="Calibri" pitchFamily="34" charset="-120"/>
              </a:rPr>
              <a:t>Validación: </a:t>
            </a:r>
            <a:pPr indent="0" marL="0">
              <a:spcAft>
                <a:spcPts val="400"/>
              </a:spcAft>
              <a:buNone/>
            </a:pPr>
            <a:r>
              <a:rPr lang="en-US" sz="1150" dirty="0">
                <a:solidFill>
                  <a:srgbClr val="043F52"/>
                </a:solidFill>
                <a:latin typeface="Calibri" pitchFamily="34" charset="0"/>
                <a:ea typeface="Calibri" pitchFamily="34" charset="-122"/>
                <a:cs typeface="Calibri" pitchFamily="34" charset="-120"/>
              </a:rPr>
              <a:t>validamos como se va a usar. Entrenamos con meses anteriores cuyo resultado ya maduró, dejamos un mes de espera y probamos en el siguiente, cuatro veces.</a:t>
            </a:r>
            <a:endParaRPr lang="en-US" sz="1150" dirty="0"/>
          </a:p>
          <a:p>
            <a:pPr marL="177800" indent="-177800">
              <a:spcAft>
                <a:spcPts val="400"/>
              </a:spcAft>
              <a:buSzPct val="100000"/>
              <a:buChar char="•"/>
            </a:pPr>
            <a:r>
              <a:rPr lang="en-US" sz="1150" b="1" dirty="0">
                <a:solidFill>
                  <a:srgbClr val="043F52"/>
                </a:solidFill>
                <a:latin typeface="Calibri" pitchFamily="34" charset="0"/>
                <a:ea typeface="Calibri" pitchFamily="34" charset="-122"/>
                <a:cs typeface="Calibri" pitchFamily="34" charset="-120"/>
              </a:rPr>
              <a:t>Desbalance: </a:t>
            </a:r>
            <a:pPr indent="0" marL="0">
              <a:spcAft>
                <a:spcPts val="400"/>
              </a:spcAft>
              <a:buNone/>
            </a:pPr>
            <a:r>
              <a:rPr lang="en-US" sz="1150" dirty="0">
                <a:solidFill>
                  <a:srgbClr val="043F52"/>
                </a:solidFill>
                <a:latin typeface="Calibri" pitchFamily="34" charset="0"/>
                <a:ea typeface="Calibri" pitchFamily="34" charset="-122"/>
                <a:cs typeface="Calibri" pitchFamily="34" charset="-120"/>
              </a:rPr>
              <a:t>sin remuestreo. Evaluamos en el 32 % superior, que es lo que cabe en la capacidad, con probabilidades calibradas; el accuracy engaña (79,8 % sin acertar un renovador).</a:t>
            </a:r>
            <a:endParaRPr lang="en-US" sz="115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4A6A72"/>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457200" y="320040"/>
            <a:ext cx="11274552" cy="502920"/>
          </a:xfrm>
          <a:prstGeom prst="rect">
            <a:avLst/>
          </a:prstGeom>
          <a:noFill/>
          <a:ln/>
        </p:spPr>
        <p:txBody>
          <a:bodyPr wrap="square" lIns="0" tIns="0" rIns="0" bIns="0" rtlCol="0" anchor="t"/>
          <a:lstStyle/>
          <a:p>
            <a:pPr algn="l" indent="0" marL="0">
              <a:buNone/>
            </a:pPr>
            <a:r>
              <a:rPr lang="en-US" sz="2400" b="1" dirty="0">
                <a:solidFill>
                  <a:srgbClr val="043F52"/>
                </a:solidFill>
              </a:rPr>
              <a:t>3 · Qué alternativas sobreviven: B a piloto, A condicionada, C no</a:t>
            </a:r>
            <a:endParaRPr lang="en-US" sz="2400" dirty="0"/>
          </a:p>
        </p:txBody>
      </p:sp>
      <p:sp>
        <p:nvSpPr>
          <p:cNvPr id="3" name="Respuesta"/>
          <p:cNvSpPr/>
          <p:nvPr/>
        </p:nvSpPr>
        <p:spPr>
          <a:xfrm>
            <a:off x="457200" y="868680"/>
            <a:ext cx="54864" cy="658368"/>
          </a:xfrm>
          <a:prstGeom prst="rect">
            <a:avLst/>
          </a:prstGeom>
          <a:solidFill>
            <a:srgbClr val="009786"/>
          </a:solidFill>
          <a:ln w="12700">
            <a:solidFill>
              <a:srgbClr val="009786"/>
            </a:solidFill>
            <a:prstDash val="solid"/>
          </a:ln>
        </p:spPr>
      </p:sp>
      <p:sp>
        <p:nvSpPr>
          <p:cNvPr id="4" name="Text 2"/>
          <p:cNvSpPr txBox="1"/>
          <p:nvPr/>
        </p:nvSpPr>
        <p:spPr>
          <a:xfrm>
            <a:off x="640080" y="868680"/>
            <a:ext cx="11091672" cy="658368"/>
          </a:xfrm>
          <a:prstGeom prst="rect">
            <a:avLst/>
          </a:prstGeom>
          <a:noFill/>
          <a:ln/>
        </p:spPr>
        <p:txBody>
          <a:bodyPr wrap="square" lIns="0" tIns="0" rIns="0" bIns="0" rtlCol="0" anchor="ctr"/>
          <a:lstStyle/>
          <a:p>
            <a:pPr indent="0" marL="0">
              <a:lnSpc>
                <a:spcPct val="110000"/>
              </a:lnSpc>
              <a:buNone/>
            </a:pPr>
            <a:r>
              <a:rPr lang="en-US" sz="1250" dirty="0">
                <a:solidFill>
                  <a:srgbClr val="043F52"/>
                </a:solidFill>
                <a:latin typeface="Calibri" pitchFamily="34" charset="0"/>
                <a:ea typeface="Calibri" pitchFamily="34" charset="-122"/>
                <a:cs typeface="Calibri" pitchFamily="34" charset="-120"/>
              </a:rPr>
              <a:t>Sobreviven dos: B va a piloto, y A solo si pasa una verificación variable por variable. C no sobrevive porque su AUC viene de información que no existe al priorizar. D no se puede juzgar con lo entregado y se evalúa en el piloto.</a:t>
            </a:r>
            <a:endParaRPr lang="en-US" sz="125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7200" y="1645920"/>
          <a:ext cx="7040880" cy="914400"/>
        </p:xfrm>
        <a:graphic>
          <a:graphicData uri="http://schemas.openxmlformats.org/drawingml/2006/table">
            <a:tbl>
              <a:tblPr/>
              <a:tblGrid>
                <a:gridCol w="502920"/>
                <a:gridCol w="731520"/>
                <a:gridCol w="502920"/>
                <a:gridCol w="868680"/>
                <a:gridCol w="548640"/>
                <a:gridCol w="2880360"/>
                <a:gridCol w="1005840"/>
              </a:tblGrid>
              <a:tr h="530352">
                <a:tc>
                  <a:txBody>
                    <a:bodyPr/>
                    <a:lstStyle/>
                    <a:p>
                      <a:pPr indent="0" marL="0">
                        <a:buNone/>
                      </a:pPr>
                      <a:r>
                        <a:rPr lang="en-US" sz="1050" b="1" dirty="0">
                          <a:solidFill>
                            <a:srgbClr val="043F52"/>
                          </a:solidFill>
                          <a:latin typeface="Calibri" pitchFamily="34" charset="0"/>
                          <a:ea typeface="Calibri" pitchFamily="34" charset="-122"/>
                          <a:cs typeface="Calibri" pitchFamily="34" charset="-120"/>
                        </a:rPr>
                        <a:t>Alt.</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solidFill>
                      <a:srgbClr val="EEF8F7"/>
                    </a:solidFill>
                  </a:tcPr>
                </a:tc>
                <a:tc>
                  <a:txBody>
                    <a:bodyPr/>
                    <a:lstStyle/>
                    <a:p>
                      <a:pPr indent="0" marL="0">
                        <a:buNone/>
                      </a:pPr>
                      <a:r>
                        <a:rPr lang="en-US" sz="1050" b="1" dirty="0">
                          <a:solidFill>
                            <a:srgbClr val="043F52"/>
                          </a:solidFill>
                          <a:latin typeface="Calibri" pitchFamily="34" charset="0"/>
                          <a:ea typeface="Calibri" pitchFamily="34" charset="-122"/>
                          <a:cs typeface="Calibri" pitchFamily="34" charset="-120"/>
                        </a:rPr>
                        <a:t>Tipo</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solidFill>
                      <a:srgbClr val="EEF8F7"/>
                    </a:solidFill>
                  </a:tcPr>
                </a:tc>
                <a:tc>
                  <a:txBody>
                    <a:bodyPr/>
                    <a:lstStyle/>
                    <a:p>
                      <a:pPr indent="0" marL="0">
                        <a:buNone/>
                      </a:pPr>
                      <a:r>
                        <a:rPr lang="en-US" sz="1050" b="1" dirty="0">
                          <a:solidFill>
                            <a:srgbClr val="043F52"/>
                          </a:solidFill>
                          <a:latin typeface="Calibri" pitchFamily="34" charset="0"/>
                          <a:ea typeface="Calibri" pitchFamily="34" charset="-122"/>
                          <a:cs typeface="Calibri" pitchFamily="34" charset="-120"/>
                        </a:rPr>
                        <a:t>AUC</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solidFill>
                      <a:srgbClr val="EEF8F7"/>
                    </a:solidFill>
                  </a:tcPr>
                </a:tc>
                <a:tc>
                  <a:txBody>
                    <a:bodyPr/>
                    <a:lstStyle/>
                    <a:p>
                      <a:pPr indent="0" marL="0">
                        <a:buNone/>
                      </a:pPr>
                      <a:r>
                        <a:rPr lang="en-US" sz="1050" b="1" dirty="0">
                          <a:solidFill>
                            <a:srgbClr val="043F52"/>
                          </a:solidFill>
                          <a:latin typeface="Calibri" pitchFamily="34" charset="0"/>
                          <a:ea typeface="Calibri" pitchFamily="34" charset="-122"/>
                          <a:cs typeface="Calibri" pitchFamily="34" charset="-120"/>
                        </a:rPr>
                        <a:t>Conversión reportada</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solidFill>
                      <a:srgbClr val="EEF8F7"/>
                    </a:solidFill>
                  </a:tcPr>
                </a:tc>
                <a:tc>
                  <a:txBody>
                    <a:bodyPr/>
                    <a:lstStyle/>
                    <a:p>
                      <a:pPr indent="0" marL="0">
                        <a:buNone/>
                      </a:pPr>
                      <a:r>
                        <a:rPr lang="en-US" sz="1050" b="1" dirty="0">
                          <a:solidFill>
                            <a:srgbClr val="043F52"/>
                          </a:solidFill>
                          <a:latin typeface="Calibri" pitchFamily="34" charset="0"/>
                          <a:ea typeface="Calibri" pitchFamily="34" charset="-122"/>
                          <a:cs typeface="Calibri" pitchFamily="34" charset="-120"/>
                        </a:rPr>
                        <a:t>Mora</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solidFill>
                      <a:srgbClr val="EEF8F7"/>
                    </a:solidFill>
                  </a:tcPr>
                </a:tc>
                <a:tc>
                  <a:txBody>
                    <a:bodyPr/>
                    <a:lstStyle/>
                    <a:p>
                      <a:pPr indent="0" marL="0">
                        <a:buNone/>
                      </a:pPr>
                      <a:r>
                        <a:rPr lang="en-US" sz="1050" b="1" dirty="0">
                          <a:solidFill>
                            <a:srgbClr val="043F52"/>
                          </a:solidFill>
                          <a:latin typeface="Calibri" pitchFamily="34" charset="0"/>
                          <a:ea typeface="Calibri" pitchFamily="34" charset="-122"/>
                          <a:cs typeface="Calibri" pitchFamily="34" charset="-120"/>
                        </a:rPr>
                        <a:t>Lectura crítica</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solidFill>
                      <a:srgbClr val="EEF8F7"/>
                    </a:solidFill>
                  </a:tcPr>
                </a:tc>
                <a:tc>
                  <a:txBody>
                    <a:bodyPr/>
                    <a:lstStyle/>
                    <a:p>
                      <a:pPr algn="ctr" indent="0" marL="0">
                        <a:buNone/>
                      </a:pPr>
                      <a:r>
                        <a:rPr lang="en-US" sz="1050" b="1" dirty="0">
                          <a:solidFill>
                            <a:srgbClr val="043F52"/>
                          </a:solidFill>
                          <a:latin typeface="Calibri" pitchFamily="34" charset="0"/>
                          <a:ea typeface="Calibri" pitchFamily="34" charset="-122"/>
                          <a:cs typeface="Calibri" pitchFamily="34" charset="-120"/>
                        </a:rPr>
                        <a:t>Veredicto</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solidFill>
                      <a:srgbClr val="EEF8F7"/>
                    </a:solidFill>
                  </a:tcPr>
                </a:tc>
              </a:tr>
              <a:tr h="530352">
                <a:tc>
                  <a:txBody>
                    <a:bodyPr/>
                    <a:lstStyle/>
                    <a:p>
                      <a:pPr indent="0" marL="0">
                        <a:buNone/>
                      </a:pPr>
                      <a:r>
                        <a:rPr lang="en-US" sz="1050" b="1" dirty="0">
                          <a:solidFill>
                            <a:srgbClr val="043F52"/>
                          </a:solidFill>
                          <a:latin typeface="Calibri" pitchFamily="34" charset="0"/>
                          <a:ea typeface="Calibri" pitchFamily="34" charset="-122"/>
                          <a:cs typeface="Calibri" pitchFamily="34" charset="-120"/>
                        </a:rPr>
                        <a:t>Actual</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tcPr>
                </a:tc>
                <a:tc>
                  <a:txBody>
                    <a:bodyPr/>
                    <a:lstStyle/>
                    <a:p>
                      <a:pPr indent="0" marL="0">
                        <a:buNone/>
                      </a:pPr>
                      <a:r>
                        <a:rPr lang="en-US" sz="1050" dirty="0">
                          <a:solidFill>
                            <a:srgbClr val="043F52"/>
                          </a:solidFill>
                          <a:latin typeface="Calibri" pitchFamily="34" charset="0"/>
                          <a:ea typeface="Calibri" pitchFamily="34" charset="-122"/>
                          <a:cs typeface="Calibri" pitchFamily="34" charset="-120"/>
                        </a:rPr>
                        <a:t>Regla</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tcPr>
                </a:tc>
                <a:tc>
                  <a:txBody>
                    <a:bodyPr/>
                    <a:lstStyle/>
                    <a:p>
                      <a:pPr indent="0" marL="0">
                        <a:buNone/>
                      </a:pPr>
                      <a:r>
                        <a:rPr lang="en-US" sz="1050" dirty="0">
                          <a:solidFill>
                            <a:srgbClr val="043F52"/>
                          </a:solidFill>
                          <a:latin typeface="Calibri" pitchFamily="34" charset="0"/>
                          <a:ea typeface="Calibri" pitchFamily="34" charset="-122"/>
                          <a:cs typeface="Calibri" pitchFamily="34" charset="-120"/>
                        </a:rPr>
                        <a:t>—</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tcPr>
                </a:tc>
                <a:tc>
                  <a:txBody>
                    <a:bodyPr/>
                    <a:lstStyle/>
                    <a:p>
                      <a:pPr indent="0" marL="0">
                        <a:buNone/>
                      </a:pPr>
                      <a:r>
                        <a:rPr lang="en-US" sz="1050" dirty="0">
                          <a:solidFill>
                            <a:srgbClr val="043F52"/>
                          </a:solidFill>
                          <a:latin typeface="Calibri" pitchFamily="34" charset="0"/>
                          <a:ea typeface="Calibri" pitchFamily="34" charset="-122"/>
                          <a:cs typeface="Calibri" pitchFamily="34" charset="-120"/>
                        </a:rPr>
                        <a:t>3,6 %</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tcPr>
                </a:tc>
                <a:tc>
                  <a:txBody>
                    <a:bodyPr/>
                    <a:lstStyle/>
                    <a:p>
                      <a:pPr indent="0" marL="0">
                        <a:buNone/>
                      </a:pPr>
                      <a:r>
                        <a:rPr lang="en-US" sz="1050" dirty="0">
                          <a:solidFill>
                            <a:srgbClr val="043F52"/>
                          </a:solidFill>
                          <a:latin typeface="Calibri" pitchFamily="34" charset="0"/>
                          <a:ea typeface="Calibri" pitchFamily="34" charset="-122"/>
                          <a:cs typeface="Calibri" pitchFamily="34" charset="-120"/>
                        </a:rPr>
                        <a:t>5,1 %</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tcPr>
                </a:tc>
                <a:tc>
                  <a:txBody>
                    <a:bodyPr/>
                    <a:lstStyle/>
                    <a:p>
                      <a:pPr indent="0" marL="0">
                        <a:buNone/>
                      </a:pPr>
                      <a:r>
                        <a:rPr lang="en-US" sz="1050" dirty="0">
                          <a:solidFill>
                            <a:srgbClr val="043F52"/>
                          </a:solidFill>
                          <a:latin typeface="Calibri" pitchFamily="34" charset="0"/>
                          <a:ea typeface="Calibri" pitchFamily="34" charset="-122"/>
                          <a:cs typeface="Calibri" pitchFamily="34" charset="-120"/>
                        </a:rPr>
                        <a:t>Es la referencia: la única conversión observada en producción.</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tcPr>
                </a:tc>
                <a:tc>
                  <a:txBody>
                    <a:bodyPr/>
                    <a:lstStyle/>
                    <a:p>
                      <a:pPr algn="ctr" indent="0" marL="0">
                        <a:buNone/>
                      </a:pPr>
                      <a:r>
                        <a:rPr lang="en-US" sz="1050" b="1" dirty="0">
                          <a:solidFill>
                            <a:srgbClr val="043F52"/>
                          </a:solidFill>
                          <a:latin typeface="Calibri" pitchFamily="34" charset="0"/>
                          <a:ea typeface="Calibri" pitchFamily="34" charset="-122"/>
                          <a:cs typeface="Calibri" pitchFamily="34" charset="-120"/>
                        </a:rPr>
                        <a:t>Referencia</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solidFill>
                      <a:srgbClr val="EEF8F7"/>
                    </a:solidFill>
                  </a:tcPr>
                </a:tc>
              </a:tr>
              <a:tr h="530352">
                <a:tc>
                  <a:txBody>
                    <a:bodyPr/>
                    <a:lstStyle/>
                    <a:p>
                      <a:pPr indent="0" marL="0">
                        <a:buNone/>
                      </a:pPr>
                      <a:r>
                        <a:rPr lang="en-US" sz="1050" b="1" dirty="0">
                          <a:solidFill>
                            <a:srgbClr val="043F52"/>
                          </a:solidFill>
                          <a:latin typeface="Calibri" pitchFamily="34" charset="0"/>
                          <a:ea typeface="Calibri" pitchFamily="34" charset="-122"/>
                          <a:cs typeface="Calibri" pitchFamily="34" charset="-120"/>
                        </a:rPr>
                        <a:t>C</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tcPr>
                </a:tc>
                <a:tc>
                  <a:txBody>
                    <a:bodyPr/>
                    <a:lstStyle/>
                    <a:p>
                      <a:pPr indent="0" marL="0">
                        <a:buNone/>
                      </a:pPr>
                      <a:r>
                        <a:rPr lang="en-US" sz="1050" dirty="0">
                          <a:solidFill>
                            <a:srgbClr val="043F52"/>
                          </a:solidFill>
                          <a:latin typeface="Calibri" pitchFamily="34" charset="0"/>
                          <a:ea typeface="Calibri" pitchFamily="34" charset="-122"/>
                          <a:cs typeface="Calibri" pitchFamily="34" charset="-120"/>
                        </a:rPr>
                        <a:t>LightGBM</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tcPr>
                </a:tc>
                <a:tc>
                  <a:txBody>
                    <a:bodyPr/>
                    <a:lstStyle/>
                    <a:p>
                      <a:pPr indent="0" marL="0">
                        <a:buNone/>
                      </a:pPr>
                      <a:r>
                        <a:rPr lang="en-US" sz="1050" dirty="0">
                          <a:solidFill>
                            <a:srgbClr val="043F52"/>
                          </a:solidFill>
                          <a:latin typeface="Calibri" pitchFamily="34" charset="0"/>
                          <a:ea typeface="Calibri" pitchFamily="34" charset="-122"/>
                          <a:cs typeface="Calibri" pitchFamily="34" charset="-120"/>
                        </a:rPr>
                        <a:t>0,94</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tcPr>
                </a:tc>
                <a:tc>
                  <a:txBody>
                    <a:bodyPr/>
                    <a:lstStyle/>
                    <a:p>
                      <a:pPr indent="0" marL="0">
                        <a:buNone/>
                      </a:pPr>
                      <a:r>
                        <a:rPr lang="en-US" sz="1050" dirty="0">
                          <a:solidFill>
                            <a:srgbClr val="043F52"/>
                          </a:solidFill>
                          <a:latin typeface="Calibri" pitchFamily="34" charset="0"/>
                          <a:ea typeface="Calibri" pitchFamily="34" charset="-122"/>
                          <a:cs typeface="Calibri" pitchFamily="34" charset="-120"/>
                        </a:rPr>
                        <a:t>14,8 %</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tcPr>
                </a:tc>
                <a:tc>
                  <a:txBody>
                    <a:bodyPr/>
                    <a:lstStyle/>
                    <a:p>
                      <a:pPr indent="0" marL="0">
                        <a:buNone/>
                      </a:pPr>
                      <a:r>
                        <a:rPr lang="en-US" sz="1050" dirty="0">
                          <a:solidFill>
                            <a:srgbClr val="043F52"/>
                          </a:solidFill>
                          <a:latin typeface="Calibri" pitchFamily="34" charset="0"/>
                          <a:ea typeface="Calibri" pitchFamily="34" charset="-122"/>
                          <a:cs typeface="Calibri" pitchFamily="34" charset="-120"/>
                        </a:rPr>
                        <a:t>6,4 %</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tcPr>
                </a:tc>
                <a:tc>
                  <a:txBody>
                    <a:bodyPr/>
                    <a:lstStyle/>
                    <a:p>
                      <a:pPr indent="0" marL="0">
                        <a:buNone/>
                      </a:pPr>
                      <a:r>
                        <a:rPr lang="en-US" sz="1050" dirty="0">
                          <a:solidFill>
                            <a:srgbClr val="043F52"/>
                          </a:solidFill>
                          <a:latin typeface="Calibri" pitchFamily="34" charset="0"/>
                          <a:ea typeface="Calibri" pitchFamily="34" charset="-122"/>
                          <a:cs typeface="Calibri" pitchFamily="34" charset="-120"/>
                        </a:rPr>
                        <a:t>Repliqué su 0,94: solo aparece al incluir el resultado de la gestión; con variables legítimas da 0,82.</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tcPr>
                </a:tc>
                <a:tc>
                  <a:txBody>
                    <a:bodyPr/>
                    <a:lstStyle/>
                    <a:p>
                      <a:pPr algn="ctr" indent="0" marL="0">
                        <a:buNone/>
                      </a:pPr>
                      <a:r>
                        <a:rPr lang="en-US" sz="1050" b="1" dirty="0">
                          <a:solidFill>
                            <a:srgbClr val="8F3A14"/>
                          </a:solidFill>
                          <a:latin typeface="Calibri" pitchFamily="34" charset="0"/>
                          <a:ea typeface="Calibri" pitchFamily="34" charset="-122"/>
                          <a:cs typeface="Calibri" pitchFamily="34" charset="-120"/>
                        </a:rPr>
                        <a:t>Descartar</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solidFill>
                      <a:srgbClr val="FDE9DF"/>
                    </a:solidFill>
                  </a:tcPr>
                </a:tc>
              </a:tr>
              <a:tr h="530352">
                <a:tc>
                  <a:txBody>
                    <a:bodyPr/>
                    <a:lstStyle/>
                    <a:p>
                      <a:pPr indent="0" marL="0">
                        <a:buNone/>
                      </a:pPr>
                      <a:r>
                        <a:rPr lang="en-US" sz="1050" b="1" dirty="0">
                          <a:solidFill>
                            <a:srgbClr val="043F52"/>
                          </a:solidFill>
                          <a:latin typeface="Calibri" pitchFamily="34" charset="0"/>
                          <a:ea typeface="Calibri" pitchFamily="34" charset="-122"/>
                          <a:cs typeface="Calibri" pitchFamily="34" charset="-120"/>
                        </a:rPr>
                        <a:t>A</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tcPr>
                </a:tc>
                <a:tc>
                  <a:txBody>
                    <a:bodyPr/>
                    <a:lstStyle/>
                    <a:p>
                      <a:pPr indent="0" marL="0">
                        <a:buNone/>
                      </a:pPr>
                      <a:r>
                        <a:rPr lang="en-US" sz="1050" dirty="0">
                          <a:solidFill>
                            <a:srgbClr val="043F52"/>
                          </a:solidFill>
                          <a:latin typeface="Calibri" pitchFamily="34" charset="0"/>
                          <a:ea typeface="Calibri" pitchFamily="34" charset="-122"/>
                          <a:cs typeface="Calibri" pitchFamily="34" charset="-120"/>
                        </a:rPr>
                        <a:t>XGBoost</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tcPr>
                </a:tc>
                <a:tc>
                  <a:txBody>
                    <a:bodyPr/>
                    <a:lstStyle/>
                    <a:p>
                      <a:pPr indent="0" marL="0">
                        <a:buNone/>
                      </a:pPr>
                      <a:r>
                        <a:rPr lang="en-US" sz="1050" dirty="0">
                          <a:solidFill>
                            <a:srgbClr val="043F52"/>
                          </a:solidFill>
                          <a:latin typeface="Calibri" pitchFamily="34" charset="0"/>
                          <a:ea typeface="Calibri" pitchFamily="34" charset="-122"/>
                          <a:cs typeface="Calibri" pitchFamily="34" charset="-120"/>
                        </a:rPr>
                        <a:t>0,86</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tcPr>
                </a:tc>
                <a:tc>
                  <a:txBody>
                    <a:bodyPr/>
                    <a:lstStyle/>
                    <a:p>
                      <a:pPr indent="0" marL="0">
                        <a:buNone/>
                      </a:pPr>
                      <a:r>
                        <a:rPr lang="en-US" sz="1050" dirty="0">
                          <a:solidFill>
                            <a:srgbClr val="043F52"/>
                          </a:solidFill>
                          <a:latin typeface="Calibri" pitchFamily="34" charset="0"/>
                          <a:ea typeface="Calibri" pitchFamily="34" charset="-122"/>
                          <a:cs typeface="Calibri" pitchFamily="34" charset="-120"/>
                        </a:rPr>
                        <a:t>9,4 %</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tcPr>
                </a:tc>
                <a:tc>
                  <a:txBody>
                    <a:bodyPr/>
                    <a:lstStyle/>
                    <a:p>
                      <a:pPr indent="0" marL="0">
                        <a:buNone/>
                      </a:pPr>
                      <a:r>
                        <a:rPr lang="en-US" sz="1050" dirty="0">
                          <a:solidFill>
                            <a:srgbClr val="043F52"/>
                          </a:solidFill>
                          <a:latin typeface="Calibri" pitchFamily="34" charset="0"/>
                          <a:ea typeface="Calibri" pitchFamily="34" charset="-122"/>
                          <a:cs typeface="Calibri" pitchFamily="34" charset="-120"/>
                        </a:rPr>
                        <a:t>7,2 %</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tcPr>
                </a:tc>
                <a:tc>
                  <a:txBody>
                    <a:bodyPr/>
                    <a:lstStyle/>
                    <a:p>
                      <a:pPr indent="0" marL="0">
                        <a:buNone/>
                      </a:pPr>
                      <a:r>
                        <a:rPr lang="en-US" sz="1050" dirty="0">
                          <a:solidFill>
                            <a:srgbClr val="043F52"/>
                          </a:solidFill>
                          <a:latin typeface="Calibri" pitchFamily="34" charset="0"/>
                          <a:ea typeface="Calibri" pitchFamily="34" charset="-122"/>
                          <a:cs typeface="Calibri" pitchFamily="34" charset="-120"/>
                        </a:rPr>
                        <a:t>Su 0,86 no se confirma con esta base y su mora es la más alta; hay que verificar cada variable antes de usarlo.</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tcPr>
                </a:tc>
                <a:tc>
                  <a:txBody>
                    <a:bodyPr/>
                    <a:lstStyle/>
                    <a:p>
                      <a:pPr algn="ctr" indent="0" marL="0">
                        <a:buNone/>
                      </a:pPr>
                      <a:r>
                        <a:rPr lang="en-US" sz="1050" b="1" dirty="0">
                          <a:solidFill>
                            <a:srgbClr val="6B5300"/>
                          </a:solidFill>
                          <a:latin typeface="Calibri" pitchFamily="34" charset="0"/>
                          <a:ea typeface="Calibri" pitchFamily="34" charset="-122"/>
                          <a:cs typeface="Calibri" pitchFamily="34" charset="-120"/>
                        </a:rPr>
                        <a:t>Verificar</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solidFill>
                      <a:srgbClr val="FBF3D5"/>
                    </a:solidFill>
                  </a:tcPr>
                </a:tc>
              </a:tr>
              <a:tr h="530352">
                <a:tc>
                  <a:txBody>
                    <a:bodyPr/>
                    <a:lstStyle/>
                    <a:p>
                      <a:pPr indent="0" marL="0">
                        <a:buNone/>
                      </a:pPr>
                      <a:r>
                        <a:rPr lang="en-US" sz="1050" b="1" dirty="0">
                          <a:solidFill>
                            <a:srgbClr val="043F52"/>
                          </a:solidFill>
                          <a:latin typeface="Calibri" pitchFamily="34" charset="0"/>
                          <a:ea typeface="Calibri" pitchFamily="34" charset="-122"/>
                          <a:cs typeface="Calibri" pitchFamily="34" charset="-120"/>
                        </a:rPr>
                        <a:t>B</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tcPr>
                </a:tc>
                <a:tc>
                  <a:txBody>
                    <a:bodyPr/>
                    <a:lstStyle/>
                    <a:p>
                      <a:pPr indent="0" marL="0">
                        <a:buNone/>
                      </a:pPr>
                      <a:r>
                        <a:rPr lang="en-US" sz="1050" dirty="0">
                          <a:solidFill>
                            <a:srgbClr val="043F52"/>
                          </a:solidFill>
                          <a:latin typeface="Calibri" pitchFamily="34" charset="0"/>
                          <a:ea typeface="Calibri" pitchFamily="34" charset="-122"/>
                          <a:cs typeface="Calibri" pitchFamily="34" charset="-120"/>
                        </a:rPr>
                        <a:t>Logística</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tcPr>
                </a:tc>
                <a:tc>
                  <a:txBody>
                    <a:bodyPr/>
                    <a:lstStyle/>
                    <a:p>
                      <a:pPr indent="0" marL="0">
                        <a:buNone/>
                      </a:pPr>
                      <a:r>
                        <a:rPr lang="en-US" sz="1050" dirty="0">
                          <a:solidFill>
                            <a:srgbClr val="043F52"/>
                          </a:solidFill>
                          <a:latin typeface="Calibri" pitchFamily="34" charset="0"/>
                          <a:ea typeface="Calibri" pitchFamily="34" charset="-122"/>
                          <a:cs typeface="Calibri" pitchFamily="34" charset="-120"/>
                        </a:rPr>
                        <a:t>0,79</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tcPr>
                </a:tc>
                <a:tc>
                  <a:txBody>
                    <a:bodyPr/>
                    <a:lstStyle/>
                    <a:p>
                      <a:pPr indent="0" marL="0">
                        <a:buNone/>
                      </a:pPr>
                      <a:r>
                        <a:rPr lang="en-US" sz="1050" dirty="0">
                          <a:solidFill>
                            <a:srgbClr val="043F52"/>
                          </a:solidFill>
                          <a:latin typeface="Calibri" pitchFamily="34" charset="0"/>
                          <a:ea typeface="Calibri" pitchFamily="34" charset="-122"/>
                          <a:cs typeface="Calibri" pitchFamily="34" charset="-120"/>
                        </a:rPr>
                        <a:t>8,8 %</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tcPr>
                </a:tc>
                <a:tc>
                  <a:txBody>
                    <a:bodyPr/>
                    <a:lstStyle/>
                    <a:p>
                      <a:pPr indent="0" marL="0">
                        <a:buNone/>
                      </a:pPr>
                      <a:r>
                        <a:rPr lang="en-US" sz="1050" dirty="0">
                          <a:solidFill>
                            <a:srgbClr val="043F52"/>
                          </a:solidFill>
                          <a:latin typeface="Calibri" pitchFamily="34" charset="0"/>
                          <a:ea typeface="Calibri" pitchFamily="34" charset="-122"/>
                          <a:cs typeface="Calibri" pitchFamily="34" charset="-120"/>
                        </a:rPr>
                        <a:t>4,6 %</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tcPr>
                </a:tc>
                <a:tc>
                  <a:txBody>
                    <a:bodyPr/>
                    <a:lstStyle/>
                    <a:p>
                      <a:pPr indent="0" marL="0">
                        <a:buNone/>
                      </a:pPr>
                      <a:r>
                        <a:rPr lang="en-US" sz="1050" dirty="0">
                          <a:solidFill>
                            <a:srgbClr val="043F52"/>
                          </a:solidFill>
                          <a:latin typeface="Calibri" pitchFamily="34" charset="0"/>
                          <a:ea typeface="Calibri" pitchFamily="34" charset="-122"/>
                          <a:cs typeface="Calibri" pitchFamily="34" charset="-120"/>
                        </a:rPr>
                        <a:t>Su 0,79 coincide con lo que la base permite, está calibrado y tiene la menor mora; también se verifica antes del piloto.</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tcPr>
                </a:tc>
                <a:tc>
                  <a:txBody>
                    <a:bodyPr/>
                    <a:lstStyle/>
                    <a:p>
                      <a:pPr algn="ctr" indent="0" marL="0">
                        <a:buNone/>
                      </a:pPr>
                      <a:r>
                        <a:rPr lang="en-US" sz="1050" b="1" dirty="0">
                          <a:solidFill>
                            <a:srgbClr val="005477"/>
                          </a:solidFill>
                          <a:latin typeface="Calibri" pitchFamily="34" charset="0"/>
                          <a:ea typeface="Calibri" pitchFamily="34" charset="-122"/>
                          <a:cs typeface="Calibri" pitchFamily="34" charset="-120"/>
                        </a:rPr>
                        <a:t>Piloto</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solidFill>
                      <a:srgbClr val="E2F2FD"/>
                    </a:solidFill>
                  </a:tcPr>
                </a:tc>
              </a:tr>
              <a:tr h="530352">
                <a:tc>
                  <a:txBody>
                    <a:bodyPr/>
                    <a:lstStyle/>
                    <a:p>
                      <a:pPr indent="0" marL="0">
                        <a:buNone/>
                      </a:pPr>
                      <a:r>
                        <a:rPr lang="en-US" sz="1050" b="1" dirty="0">
                          <a:solidFill>
                            <a:srgbClr val="043F52"/>
                          </a:solidFill>
                          <a:latin typeface="Calibri" pitchFamily="34" charset="0"/>
                          <a:ea typeface="Calibri" pitchFamily="34" charset="-122"/>
                          <a:cs typeface="Calibri" pitchFamily="34" charset="-120"/>
                        </a:rPr>
                        <a:t>D</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tcPr>
                </a:tc>
                <a:tc>
                  <a:txBody>
                    <a:bodyPr/>
                    <a:lstStyle/>
                    <a:p>
                      <a:pPr indent="0" marL="0">
                        <a:buNone/>
                      </a:pPr>
                      <a:r>
                        <a:rPr lang="en-US" sz="1050" dirty="0">
                          <a:solidFill>
                            <a:srgbClr val="043F52"/>
                          </a:solidFill>
                          <a:latin typeface="Calibri" pitchFamily="34" charset="0"/>
                          <a:ea typeface="Calibri" pitchFamily="34" charset="-122"/>
                          <a:cs typeface="Calibri" pitchFamily="34" charset="-120"/>
                        </a:rPr>
                        <a:t>Uplift</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tcPr>
                </a:tc>
                <a:tc>
                  <a:txBody>
                    <a:bodyPr/>
                    <a:lstStyle/>
                    <a:p>
                      <a:pPr indent="0" marL="0">
                        <a:buNone/>
                      </a:pPr>
                      <a:r>
                        <a:rPr lang="en-US" sz="1050" dirty="0">
                          <a:solidFill>
                            <a:srgbClr val="043F52"/>
                          </a:solidFill>
                          <a:latin typeface="Calibri" pitchFamily="34" charset="0"/>
                          <a:ea typeface="Calibri" pitchFamily="34" charset="-122"/>
                          <a:cs typeface="Calibri" pitchFamily="34" charset="-120"/>
                        </a:rPr>
                        <a:t>Qini 0,12</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tcPr>
                </a:tc>
                <a:tc>
                  <a:txBody>
                    <a:bodyPr/>
                    <a:lstStyle/>
                    <a:p>
                      <a:pPr indent="0" marL="0">
                        <a:buNone/>
                      </a:pPr>
                      <a:r>
                        <a:rPr lang="en-US" sz="1050" dirty="0">
                          <a:solidFill>
                            <a:srgbClr val="043F52"/>
                          </a:solidFill>
                          <a:latin typeface="Calibri" pitchFamily="34" charset="0"/>
                          <a:ea typeface="Calibri" pitchFamily="34" charset="-122"/>
                          <a:cs typeface="Calibri" pitchFamily="34" charset="-120"/>
                        </a:rPr>
                        <a:t>7,9 %</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tcPr>
                </a:tc>
                <a:tc>
                  <a:txBody>
                    <a:bodyPr/>
                    <a:lstStyle/>
                    <a:p>
                      <a:pPr indent="0" marL="0">
                        <a:buNone/>
                      </a:pPr>
                      <a:r>
                        <a:rPr lang="en-US" sz="1050" dirty="0">
                          <a:solidFill>
                            <a:srgbClr val="043F52"/>
                          </a:solidFill>
                          <a:latin typeface="Calibri" pitchFamily="34" charset="0"/>
                          <a:ea typeface="Calibri" pitchFamily="34" charset="-122"/>
                          <a:cs typeface="Calibri" pitchFamily="34" charset="-120"/>
                        </a:rPr>
                        <a:t>+3,1 pp</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tcPr>
                </a:tc>
                <a:tc>
                  <a:txBody>
                    <a:bodyPr/>
                    <a:lstStyle/>
                    <a:p>
                      <a:pPr indent="0" marL="0">
                        <a:buNone/>
                      </a:pPr>
                      <a:r>
                        <a:rPr lang="en-US" sz="1050" dirty="0">
                          <a:solidFill>
                            <a:srgbClr val="043F52"/>
                          </a:solidFill>
                          <a:latin typeface="Calibri" pitchFamily="34" charset="0"/>
                          <a:ea typeface="Calibri" pitchFamily="34" charset="-122"/>
                          <a:cs typeface="Calibri" pitchFamily="34" charset="-120"/>
                        </a:rPr>
                        <a:t>Único que mide el efecto del contacto, pero sus cifras no son comparables y no se sabe cómo se aleatorizó.</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tcPr>
                </a:tc>
                <a:tc>
                  <a:txBody>
                    <a:bodyPr/>
                    <a:lstStyle/>
                    <a:p>
                      <a:pPr algn="ctr" indent="0" marL="0">
                        <a:buNone/>
                      </a:pPr>
                      <a:r>
                        <a:rPr lang="en-US" sz="1050" b="1" dirty="0">
                          <a:solidFill>
                            <a:srgbClr val="043F52"/>
                          </a:solidFill>
                          <a:latin typeface="Calibri" pitchFamily="34" charset="0"/>
                          <a:ea typeface="Calibri" pitchFamily="34" charset="-122"/>
                          <a:cs typeface="Calibri" pitchFamily="34" charset="-120"/>
                        </a:rPr>
                        <a:t>Evaluar en piloto</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solidFill>
                      <a:srgbClr val="F6E5A4"/>
                    </a:solidFill>
                  </a:tcPr>
                </a:tc>
              </a:tr>
            </a:tbl>
          </a:graphicData>
        </a:graphic>
      </p:graphicFrame>
      <p:sp>
        <p:nvSpPr>
          <p:cNvPr id="6" name="Text 3"/>
          <p:cNvSpPr txBox="1"/>
          <p:nvPr/>
        </p:nvSpPr>
        <p:spPr>
          <a:xfrm>
            <a:off x="7772400" y="1645920"/>
            <a:ext cx="3959352" cy="292608"/>
          </a:xfrm>
          <a:prstGeom prst="rect">
            <a:avLst/>
          </a:prstGeom>
          <a:noFill/>
          <a:ln/>
        </p:spPr>
        <p:txBody>
          <a:bodyPr wrap="square" lIns="0" tIns="0" rIns="0" bIns="0" rtlCol="0" anchor="ctr"/>
          <a:lstStyle/>
          <a:p>
            <a:pPr indent="0" marL="0">
              <a:buNone/>
            </a:pPr>
            <a:r>
              <a:rPr lang="en-US" sz="1200" b="1" dirty="0">
                <a:solidFill>
                  <a:srgbClr val="043F52"/>
                </a:solidFill>
                <a:latin typeface="Calibri" pitchFamily="34" charset="0"/>
                <a:ea typeface="Calibri" pitchFamily="34" charset="-122"/>
                <a:cs typeface="Calibri" pitchFamily="34" charset="-120"/>
              </a:rPr>
              <a:t>Réplica: el 0,94 de C solo aparece con la fuga</a:t>
            </a:r>
            <a:endParaRPr lang="en-US" sz="1200" dirty="0"/>
          </a:p>
        </p:txBody>
      </p:sp>
      <p:sp>
        <p:nvSpPr>
          <p:cNvPr id="7" name="Text 4"/>
          <p:cNvSpPr txBox="1"/>
          <p:nvPr/>
        </p:nvSpPr>
        <p:spPr>
          <a:xfrm>
            <a:off x="7772400" y="1938528"/>
            <a:ext cx="3959352" cy="384048"/>
          </a:xfrm>
          <a:prstGeom prst="rect">
            <a:avLst/>
          </a:prstGeom>
          <a:noFill/>
          <a:ln/>
        </p:spPr>
        <p:txBody>
          <a:bodyPr wrap="square" lIns="0" tIns="0" rIns="0" bIns="0" rtlCol="0" anchor="ctr"/>
          <a:lstStyle/>
          <a:p>
            <a:pPr indent="0" marL="0">
              <a:buNone/>
            </a:pPr>
            <a:r>
              <a:rPr lang="en-US" sz="1100" dirty="0">
                <a:solidFill>
                  <a:srgbClr val="4A6A72"/>
                </a:solidFill>
                <a:latin typeface="Calibri" pitchFamily="34" charset="0"/>
                <a:ea typeface="Calibri" pitchFamily="34" charset="-122"/>
                <a:cs typeface="Calibri" pitchFamily="34" charset="-120"/>
              </a:rPr>
              <a:t>AUC validado en el tiempo: entrenamos con meses anteriores, esperamos un mes y probamos en el siguiente, de mayo a agosto.</a:t>
            </a:r>
            <a:endParaRPr lang="en-US" sz="1100" dirty="0"/>
          </a:p>
        </p:txBody>
      </p:sp>
      <p:graphicFrame>
        <p:nvGraphicFramePr>
          <p:cNvPr id="8" name="Chart 0" descr=""/>
          <p:cNvGraphicFramePr/>
          <p:nvPr/>
        </p:nvGraphicFramePr>
        <p:xfrm>
          <a:off x="7772400" y="2331720"/>
          <a:ext cx="3959352" cy="1874520"/>
        </p:xfrm>
        <a:graphic xmlns:a="http://schemas.openxmlformats.org/drawingml/2006/main">
          <a:graphicData uri="http://schemas.openxmlformats.org/drawingml/2006/chart">
            <c:chart xmlns:c="http://schemas.openxmlformats.org/drawingml/2006/chart" r:id="rId1"/>
          </a:graphicData>
        </a:graphic>
      </p:graphicFrame>
      <p:sp>
        <p:nvSpPr>
          <p:cNvPr id="9" name="Text 5"/>
          <p:cNvSpPr txBox="1"/>
          <p:nvPr/>
        </p:nvSpPr>
        <p:spPr>
          <a:xfrm>
            <a:off x="7772400" y="4224528"/>
            <a:ext cx="3959352" cy="548640"/>
          </a:xfrm>
          <a:prstGeom prst="rect">
            <a:avLst/>
          </a:prstGeom>
          <a:noFill/>
          <a:ln/>
        </p:spPr>
        <p:txBody>
          <a:bodyPr wrap="square" lIns="0" tIns="0" rIns="0" bIns="0" rtlCol="0" anchor="ctr"/>
          <a:lstStyle/>
          <a:p>
            <a:pPr indent="0" marL="0">
              <a:buNone/>
            </a:pPr>
            <a:r>
              <a:rPr lang="en-US" sz="1100" dirty="0">
                <a:solidFill>
                  <a:srgbClr val="043F52"/>
                </a:solidFill>
                <a:latin typeface="Calibri" pitchFamily="34" charset="0"/>
                <a:ea typeface="Calibri" pitchFamily="34" charset="-122"/>
                <a:cs typeface="Calibri" pitchFamily="34" charset="-120"/>
              </a:rPr>
              <a:t>El 0,94 de la hoja es lo que produce la fuga; una validación aleatoria (0,82) no la habría revelado, la temporal sí.</a:t>
            </a:r>
            <a:endParaRPr lang="en-US" sz="1100" dirty="0"/>
          </a:p>
        </p:txBody>
      </p:sp>
      <p:sp>
        <p:nvSpPr>
          <p:cNvPr id="10" name="Text 6"/>
          <p:cNvSpPr txBox="1"/>
          <p:nvPr/>
        </p:nvSpPr>
        <p:spPr>
          <a:xfrm>
            <a:off x="457200" y="4937760"/>
            <a:ext cx="5669280" cy="292608"/>
          </a:xfrm>
          <a:prstGeom prst="rect">
            <a:avLst/>
          </a:prstGeom>
          <a:noFill/>
          <a:ln/>
        </p:spPr>
        <p:txBody>
          <a:bodyPr wrap="square" lIns="0" tIns="0" rIns="0" bIns="0" rtlCol="0" anchor="ctr"/>
          <a:lstStyle/>
          <a:p>
            <a:pPr indent="0" marL="0">
              <a:buNone/>
            </a:pPr>
            <a:r>
              <a:rPr lang="en-US" sz="1200" b="1" dirty="0">
                <a:solidFill>
                  <a:srgbClr val="043F52"/>
                </a:solidFill>
                <a:latin typeface="Calibri" pitchFamily="34" charset="0"/>
                <a:ea typeface="Calibri" pitchFamily="34" charset="-122"/>
                <a:cs typeface="Calibri" pitchFamily="34" charset="-120"/>
              </a:rPr>
              <a:t>Por qué más AUC puede ser peor decisión</a:t>
            </a:r>
            <a:endParaRPr lang="en-US" sz="1200" dirty="0"/>
          </a:p>
        </p:txBody>
      </p:sp>
      <p:sp>
        <p:nvSpPr>
          <p:cNvPr id="11" name="Text 7"/>
          <p:cNvSpPr txBox="1"/>
          <p:nvPr/>
        </p:nvSpPr>
        <p:spPr>
          <a:xfrm>
            <a:off x="457200" y="5257800"/>
            <a:ext cx="5669280" cy="1143000"/>
          </a:xfrm>
          <a:prstGeom prst="rect">
            <a:avLst/>
          </a:prstGeom>
          <a:noFill/>
          <a:ln/>
        </p:spPr>
        <p:txBody>
          <a:bodyPr wrap="square" lIns="0" tIns="0" rIns="0" bIns="0" rtlCol="0" anchor="t"/>
          <a:lstStyle/>
          <a:p>
            <a:pPr marL="177800" indent="-177800">
              <a:spcAft>
                <a:spcPts val="300"/>
              </a:spcAft>
              <a:buSzPct val="100000"/>
              <a:buChar char="•"/>
            </a:pPr>
            <a:r>
              <a:rPr lang="en-US" sz="1100" dirty="0">
                <a:solidFill>
                  <a:srgbClr val="043F52"/>
                </a:solidFill>
                <a:latin typeface="Calibri" pitchFamily="34" charset="0"/>
                <a:ea typeface="Calibri" pitchFamily="34" charset="-122"/>
                <a:cs typeface="Calibri" pitchFamily="34" charset="-120"/>
              </a:rPr>
              <a:t>El AUC ordena a todos los clientes, pero nosotros usamos solo el 32 % superior, y el AUC no distingue una renovación sana de una que cae en mora.</a:t>
            </a:r>
            <a:endParaRPr lang="en-US" sz="1100" dirty="0"/>
          </a:p>
          <a:p>
            <a:pPr marL="177800" indent="-177800">
              <a:spcAft>
                <a:spcPts val="300"/>
              </a:spcAft>
              <a:buSzPct val="100000"/>
              <a:buChar char="•"/>
            </a:pPr>
            <a:r>
              <a:rPr lang="en-US" sz="1100" dirty="0">
                <a:solidFill>
                  <a:srgbClr val="043F52"/>
                </a:solidFill>
                <a:latin typeface="Calibri" pitchFamily="34" charset="0"/>
                <a:ea typeface="Calibri" pitchFamily="34" charset="-122"/>
                <a:cs typeface="Calibri" pitchFamily="34" charset="-120"/>
              </a:rPr>
              <a:t>Una propensión alta no es efecto del contacto: llamar a quien renovaría igual gasta cupos.</a:t>
            </a:r>
            <a:endParaRPr lang="en-US" sz="1100" dirty="0"/>
          </a:p>
        </p:txBody>
      </p:sp>
      <p:sp>
        <p:nvSpPr>
          <p:cNvPr id="12" name="Text 8"/>
          <p:cNvSpPr txBox="1"/>
          <p:nvPr/>
        </p:nvSpPr>
        <p:spPr>
          <a:xfrm>
            <a:off x="6400800" y="4937760"/>
            <a:ext cx="5330952" cy="292608"/>
          </a:xfrm>
          <a:prstGeom prst="rect">
            <a:avLst/>
          </a:prstGeom>
          <a:noFill/>
          <a:ln/>
        </p:spPr>
        <p:txBody>
          <a:bodyPr wrap="square" lIns="0" tIns="0" rIns="0" bIns="0" rtlCol="0" anchor="ctr"/>
          <a:lstStyle/>
          <a:p>
            <a:pPr indent="0" marL="0">
              <a:buNone/>
            </a:pPr>
            <a:r>
              <a:rPr lang="en-US" sz="1200" b="1" dirty="0">
                <a:solidFill>
                  <a:srgbClr val="043F52"/>
                </a:solidFill>
                <a:latin typeface="Calibri" pitchFamily="34" charset="0"/>
                <a:ea typeface="Calibri" pitchFamily="34" charset="-122"/>
                <a:cs typeface="Calibri" pitchFamily="34" charset="-120"/>
              </a:rPr>
              <a:t>Para comparar D con A y B hace falta</a:t>
            </a:r>
            <a:endParaRPr lang="en-US" sz="1200" dirty="0"/>
          </a:p>
        </p:txBody>
      </p:sp>
      <p:sp>
        <p:nvSpPr>
          <p:cNvPr id="13" name="Text 9"/>
          <p:cNvSpPr txBox="1"/>
          <p:nvPr/>
        </p:nvSpPr>
        <p:spPr>
          <a:xfrm>
            <a:off x="6400800" y="5257800"/>
            <a:ext cx="5330952" cy="1143000"/>
          </a:xfrm>
          <a:prstGeom prst="rect">
            <a:avLst/>
          </a:prstGeom>
          <a:noFill/>
          <a:ln/>
        </p:spPr>
        <p:txBody>
          <a:bodyPr wrap="square" lIns="0" tIns="0" rIns="0" bIns="0" rtlCol="0" anchor="t"/>
          <a:lstStyle/>
          <a:p>
            <a:pPr marL="177800" indent="-177800">
              <a:spcAft>
                <a:spcPts val="300"/>
              </a:spcAft>
              <a:buSzPct val="100000"/>
              <a:buChar char="•"/>
            </a:pPr>
            <a:r>
              <a:rPr lang="en-US" sz="1100" dirty="0">
                <a:solidFill>
                  <a:srgbClr val="043F52"/>
                </a:solidFill>
                <a:latin typeface="Calibri" pitchFamily="34" charset="0"/>
                <a:ea typeface="Calibri" pitchFamily="34" charset="-122"/>
                <a:cs typeface="Calibri" pitchFamily="34" charset="-120"/>
              </a:rPr>
              <a:t>Saber cómo se asignó la campaña con la que se entrenó D: qué parte fue al azar y cómo se cumplió.</a:t>
            </a:r>
            <a:endParaRPr lang="en-US" sz="1100" dirty="0"/>
          </a:p>
          <a:p>
            <a:pPr marL="177800" indent="-177800">
              <a:spcAft>
                <a:spcPts val="300"/>
              </a:spcAft>
              <a:buSzPct val="100000"/>
              <a:buChar char="•"/>
            </a:pPr>
            <a:r>
              <a:rPr lang="en-US" sz="1100" dirty="0">
                <a:solidFill>
                  <a:srgbClr val="043F52"/>
                </a:solidFill>
                <a:latin typeface="Calibri" pitchFamily="34" charset="0"/>
                <a:ea typeface="Calibri" pitchFamily="34" charset="-122"/>
                <a:cs typeface="Calibri" pitchFamily="34" charset="-120"/>
              </a:rPr>
              <a:t>Medir los tres modelos en un mismo grupo de control, en renovaciones incrementales y pesos netos de mora.</a:t>
            </a:r>
            <a:endParaRPr lang="en-US" sz="11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4A6A72"/>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457200" y="320040"/>
            <a:ext cx="11274552" cy="502920"/>
          </a:xfrm>
          <a:prstGeom prst="rect">
            <a:avLst/>
          </a:prstGeom>
          <a:noFill/>
          <a:ln/>
        </p:spPr>
        <p:txBody>
          <a:bodyPr wrap="square" lIns="0" tIns="0" rIns="0" bIns="0" rtlCol="0" anchor="t"/>
          <a:lstStyle/>
          <a:p>
            <a:pPr algn="l" indent="0" marL="0">
              <a:buNone/>
            </a:pPr>
            <a:r>
              <a:rPr lang="en-US" sz="2400" b="1" dirty="0">
                <a:solidFill>
                  <a:srgbClr val="043F52"/>
                </a:solidFill>
              </a:rPr>
              <a:t>4 · B genera más valor bajo riesgo y capacidad real</a:t>
            </a:r>
            <a:endParaRPr lang="en-US" sz="2400" dirty="0"/>
          </a:p>
        </p:txBody>
      </p:sp>
      <p:sp>
        <p:nvSpPr>
          <p:cNvPr id="3" name="Respuesta"/>
          <p:cNvSpPr/>
          <p:nvPr/>
        </p:nvSpPr>
        <p:spPr>
          <a:xfrm>
            <a:off x="457200" y="868680"/>
            <a:ext cx="54864" cy="658368"/>
          </a:xfrm>
          <a:prstGeom prst="rect">
            <a:avLst/>
          </a:prstGeom>
          <a:solidFill>
            <a:srgbClr val="009786"/>
          </a:solidFill>
          <a:ln w="12700">
            <a:solidFill>
              <a:srgbClr val="009786"/>
            </a:solidFill>
            <a:prstDash val="solid"/>
          </a:ln>
        </p:spPr>
      </p:sp>
      <p:sp>
        <p:nvSpPr>
          <p:cNvPr id="4" name="Text 2"/>
          <p:cNvSpPr txBox="1"/>
          <p:nvPr/>
        </p:nvSpPr>
        <p:spPr>
          <a:xfrm>
            <a:off x="640080" y="868680"/>
            <a:ext cx="11091672" cy="658368"/>
          </a:xfrm>
          <a:prstGeom prst="rect">
            <a:avLst/>
          </a:prstGeom>
          <a:noFill/>
          <a:ln/>
        </p:spPr>
        <p:txBody>
          <a:bodyPr wrap="square" lIns="0" tIns="0" rIns="0" bIns="0" rtlCol="0" anchor="ctr"/>
          <a:lstStyle/>
          <a:p>
            <a:pPr indent="0" marL="0">
              <a:lnSpc>
                <a:spcPct val="110000"/>
              </a:lnSpc>
              <a:buNone/>
            </a:pPr>
            <a:r>
              <a:rPr lang="en-US" sz="1250" dirty="0">
                <a:solidFill>
                  <a:srgbClr val="043F52"/>
                </a:solidFill>
                <a:latin typeface="Calibri" pitchFamily="34" charset="0"/>
                <a:ea typeface="Calibri" pitchFamily="34" charset="-122"/>
                <a:cs typeface="Calibri" pitchFamily="34" charset="-120"/>
              </a:rPr>
              <a:t>B: 237 millones al mes netos de mora frente a 218 de A, porque cada renovación de B vale 337.200 y cada una de A 290.400. Ese valor solo se captura si la lista respeta la capacidad de cada regional, y cerca de la mitad podría no deberse al contacto.</a:t>
            </a:r>
            <a:endParaRPr lang="en-US" sz="1250" dirty="0"/>
          </a:p>
        </p:txBody>
      </p:sp>
      <p:sp>
        <p:nvSpPr>
          <p:cNvPr id="5" name="Text 3"/>
          <p:cNvSpPr txBox="1"/>
          <p:nvPr/>
        </p:nvSpPr>
        <p:spPr>
          <a:xfrm>
            <a:off x="457200" y="1645920"/>
            <a:ext cx="5394960" cy="292608"/>
          </a:xfrm>
          <a:prstGeom prst="rect">
            <a:avLst/>
          </a:prstGeom>
          <a:noFill/>
          <a:ln/>
        </p:spPr>
        <p:txBody>
          <a:bodyPr wrap="square" lIns="0" tIns="0" rIns="0" bIns="0" rtlCol="0" anchor="ctr"/>
          <a:lstStyle/>
          <a:p>
            <a:pPr indent="0" marL="0">
              <a:buNone/>
            </a:pPr>
            <a:r>
              <a:rPr lang="en-US" sz="1200" b="1" dirty="0">
                <a:solidFill>
                  <a:srgbClr val="043F52"/>
                </a:solidFill>
                <a:latin typeface="Calibri" pitchFamily="34" charset="0"/>
                <a:ea typeface="Calibri" pitchFamily="34" charset="-122"/>
                <a:cs typeface="Calibri" pitchFamily="34" charset="-120"/>
              </a:rPr>
              <a:t>Valor esperado mensual neto de mora (COP millones)</a:t>
            </a:r>
            <a:endParaRPr lang="en-US" sz="1200" dirty="0"/>
          </a:p>
        </p:txBody>
      </p:sp>
      <p:sp>
        <p:nvSpPr>
          <p:cNvPr id="6" name="Text 4"/>
          <p:cNvSpPr txBox="1"/>
          <p:nvPr/>
        </p:nvSpPr>
        <p:spPr>
          <a:xfrm>
            <a:off x="457200" y="1938528"/>
            <a:ext cx="5394960" cy="411480"/>
          </a:xfrm>
          <a:prstGeom prst="rect">
            <a:avLst/>
          </a:prstGeom>
          <a:noFill/>
          <a:ln/>
        </p:spPr>
        <p:txBody>
          <a:bodyPr wrap="square" lIns="0" tIns="0" rIns="0" bIns="0" rtlCol="0" anchor="ctr"/>
          <a:lstStyle/>
          <a:p>
            <a:pPr indent="0" marL="0">
              <a:buNone/>
            </a:pPr>
            <a:r>
              <a:rPr lang="en-US" sz="1100" dirty="0">
                <a:solidFill>
                  <a:srgbClr val="4A6A72"/>
                </a:solidFill>
                <a:latin typeface="Calibri" pitchFamily="34" charset="0"/>
                <a:ea typeface="Calibri" pitchFamily="34" charset="-122"/>
                <a:cs typeface="Calibri" pitchFamily="34" charset="-120"/>
              </a:rPr>
              <a:t>Para cada alternativa: 8.000 contactos por su conversión, por 420.000 menos la mora por 1.800.000. Para D se asume la mora actual (5,1 %); C queda fuera por la fuga.</a:t>
            </a:r>
            <a:endParaRPr lang="en-US" sz="1100" dirty="0"/>
          </a:p>
        </p:txBody>
      </p:sp>
      <p:graphicFrame>
        <p:nvGraphicFramePr>
          <p:cNvPr id="7" name="Chart 0" descr=""/>
          <p:cNvGraphicFramePr/>
          <p:nvPr/>
        </p:nvGraphicFramePr>
        <p:xfrm>
          <a:off x="457200" y="2377440"/>
          <a:ext cx="5394960" cy="2148840"/>
        </p:xfrm>
        <a:graphic xmlns:a="http://schemas.openxmlformats.org/drawingml/2006/main">
          <a:graphicData uri="http://schemas.openxmlformats.org/drawingml/2006/chart">
            <c:chart xmlns:c="http://schemas.openxmlformats.org/drawingml/2006/chart" r:id="rId1"/>
          </a:graphicData>
        </a:graphic>
      </p:graphicFrame>
      <p:sp>
        <p:nvSpPr>
          <p:cNvPr id="8" name="B FRENTE A HOY"/>
          <p:cNvSpPr/>
          <p:nvPr/>
        </p:nvSpPr>
        <p:spPr>
          <a:xfrm>
            <a:off x="6126480" y="1645920"/>
            <a:ext cx="2743200" cy="1143000"/>
          </a:xfrm>
          <a:prstGeom prst="roundRect">
            <a:avLst>
              <a:gd name="adj" fmla="val 9600"/>
            </a:avLst>
          </a:prstGeom>
          <a:solidFill>
            <a:srgbClr val="9CE0D9"/>
          </a:solidFill>
          <a:ln w="12700">
            <a:solidFill>
              <a:srgbClr val="9CE0D9"/>
            </a:solidFill>
            <a:prstDash val="solid"/>
          </a:ln>
        </p:spPr>
      </p:sp>
      <p:sp>
        <p:nvSpPr>
          <p:cNvPr id="9" name="Text 6"/>
          <p:cNvSpPr txBox="1"/>
          <p:nvPr/>
        </p:nvSpPr>
        <p:spPr>
          <a:xfrm>
            <a:off x="6291072" y="1755648"/>
            <a:ext cx="2414016" cy="274320"/>
          </a:xfrm>
          <a:prstGeom prst="rect">
            <a:avLst/>
          </a:prstGeom>
          <a:noFill/>
          <a:ln/>
        </p:spPr>
        <p:txBody>
          <a:bodyPr wrap="square" lIns="0" tIns="0" rIns="0" bIns="0" rtlCol="0" anchor="ctr"/>
          <a:lstStyle/>
          <a:p>
            <a:pPr indent="0" marL="0">
              <a:buNone/>
            </a:pPr>
            <a:r>
              <a:rPr lang="en-US" sz="1100" b="1" spc="150" kern="0" dirty="0">
                <a:solidFill>
                  <a:srgbClr val="043F52"/>
                </a:solidFill>
                <a:latin typeface="Calibri" pitchFamily="34" charset="0"/>
                <a:ea typeface="Calibri" pitchFamily="34" charset="-122"/>
                <a:cs typeface="Calibri" pitchFamily="34" charset="-120"/>
              </a:rPr>
              <a:t>B FRENTE A HOY</a:t>
            </a:r>
            <a:endParaRPr lang="en-US" sz="1100" dirty="0"/>
          </a:p>
        </p:txBody>
      </p:sp>
      <p:sp>
        <p:nvSpPr>
          <p:cNvPr id="10" name="Text 7"/>
          <p:cNvSpPr txBox="1"/>
          <p:nvPr/>
        </p:nvSpPr>
        <p:spPr>
          <a:xfrm>
            <a:off x="6291072" y="1993392"/>
            <a:ext cx="2414016" cy="457200"/>
          </a:xfrm>
          <a:prstGeom prst="rect">
            <a:avLst/>
          </a:prstGeom>
          <a:noFill/>
          <a:ln/>
        </p:spPr>
        <p:txBody>
          <a:bodyPr wrap="square" lIns="0" tIns="0" rIns="0" bIns="0" rtlCol="0" anchor="ctr"/>
          <a:lstStyle/>
          <a:p>
            <a:pPr indent="0" marL="0">
              <a:buNone/>
            </a:pPr>
            <a:r>
              <a:rPr lang="en-US" sz="2200" b="1" dirty="0">
                <a:solidFill>
                  <a:srgbClr val="043F52"/>
                </a:solidFill>
                <a:latin typeface="Calibri" pitchFamily="34" charset="0"/>
                <a:ea typeface="Calibri" pitchFamily="34" charset="-122"/>
                <a:cs typeface="Calibri" pitchFamily="34" charset="-120"/>
              </a:rPr>
              <a:t>+143 M al mes</a:t>
            </a:r>
            <a:endParaRPr lang="en-US" sz="2200" dirty="0"/>
          </a:p>
        </p:txBody>
      </p:sp>
      <p:sp>
        <p:nvSpPr>
          <p:cNvPr id="11" name="Text 8"/>
          <p:cNvSpPr txBox="1"/>
          <p:nvPr/>
        </p:nvSpPr>
        <p:spPr>
          <a:xfrm>
            <a:off x="6291072" y="2487168"/>
            <a:ext cx="2414016" cy="228600"/>
          </a:xfrm>
          <a:prstGeom prst="rect">
            <a:avLst/>
          </a:prstGeom>
          <a:noFill/>
          <a:ln/>
        </p:spPr>
        <p:txBody>
          <a:bodyPr wrap="square" lIns="0" tIns="0" rIns="0" bIns="0" rtlCol="0" anchor="t"/>
          <a:lstStyle/>
          <a:p>
            <a:pPr indent="0" marL="0">
              <a:buNone/>
            </a:pPr>
            <a:r>
              <a:rPr lang="en-US" sz="1100" dirty="0">
                <a:solidFill>
                  <a:srgbClr val="043F52"/>
                </a:solidFill>
                <a:latin typeface="Calibri" pitchFamily="34" charset="0"/>
                <a:ea typeface="Calibri" pitchFamily="34" charset="-122"/>
                <a:cs typeface="Calibri" pitchFamily="34" charset="-120"/>
              </a:rPr>
              <a:t>frente a hoy, si las conversiones reportadas se cumplen en producción.</a:t>
            </a:r>
            <a:endParaRPr lang="en-US" sz="1100" dirty="0"/>
          </a:p>
        </p:txBody>
      </p:sp>
      <p:sp>
        <p:nvSpPr>
          <p:cNvPr id="12" name="POR RENOVACIÓN"/>
          <p:cNvSpPr/>
          <p:nvPr/>
        </p:nvSpPr>
        <p:spPr>
          <a:xfrm>
            <a:off x="8988552" y="1645920"/>
            <a:ext cx="2743200" cy="1143000"/>
          </a:xfrm>
          <a:prstGeom prst="roundRect">
            <a:avLst>
              <a:gd name="adj" fmla="val 9600"/>
            </a:avLst>
          </a:prstGeom>
          <a:solidFill>
            <a:srgbClr val="EEF8F7"/>
          </a:solidFill>
          <a:ln w="12700">
            <a:solidFill>
              <a:srgbClr val="EEF8F7"/>
            </a:solidFill>
            <a:prstDash val="solid"/>
          </a:ln>
        </p:spPr>
      </p:sp>
      <p:sp>
        <p:nvSpPr>
          <p:cNvPr id="13" name="Text 10"/>
          <p:cNvSpPr txBox="1"/>
          <p:nvPr/>
        </p:nvSpPr>
        <p:spPr>
          <a:xfrm>
            <a:off x="9153144" y="1755648"/>
            <a:ext cx="2414016" cy="274320"/>
          </a:xfrm>
          <a:prstGeom prst="rect">
            <a:avLst/>
          </a:prstGeom>
          <a:noFill/>
          <a:ln/>
        </p:spPr>
        <p:txBody>
          <a:bodyPr wrap="square" lIns="0" tIns="0" rIns="0" bIns="0" rtlCol="0" anchor="ctr"/>
          <a:lstStyle/>
          <a:p>
            <a:pPr indent="0" marL="0">
              <a:buNone/>
            </a:pPr>
            <a:r>
              <a:rPr lang="en-US" sz="1100" b="1" spc="150" kern="0" dirty="0">
                <a:solidFill>
                  <a:srgbClr val="043F52"/>
                </a:solidFill>
                <a:latin typeface="Calibri" pitchFamily="34" charset="0"/>
                <a:ea typeface="Calibri" pitchFamily="34" charset="-122"/>
                <a:cs typeface="Calibri" pitchFamily="34" charset="-120"/>
              </a:rPr>
              <a:t>POR RENOVACIÓN</a:t>
            </a:r>
            <a:endParaRPr lang="en-US" sz="1100" dirty="0"/>
          </a:p>
        </p:txBody>
      </p:sp>
      <p:sp>
        <p:nvSpPr>
          <p:cNvPr id="14" name="Text 11"/>
          <p:cNvSpPr txBox="1"/>
          <p:nvPr/>
        </p:nvSpPr>
        <p:spPr>
          <a:xfrm>
            <a:off x="9153144" y="1993392"/>
            <a:ext cx="2414016" cy="457200"/>
          </a:xfrm>
          <a:prstGeom prst="rect">
            <a:avLst/>
          </a:prstGeom>
          <a:noFill/>
          <a:ln/>
        </p:spPr>
        <p:txBody>
          <a:bodyPr wrap="square" lIns="0" tIns="0" rIns="0" bIns="0" rtlCol="0" anchor="ctr"/>
          <a:lstStyle/>
          <a:p>
            <a:pPr indent="0" marL="0">
              <a:buNone/>
            </a:pPr>
            <a:r>
              <a:rPr lang="en-US" sz="2200" b="1" dirty="0">
                <a:solidFill>
                  <a:srgbClr val="043F52"/>
                </a:solidFill>
                <a:latin typeface="Calibri" pitchFamily="34" charset="0"/>
                <a:ea typeface="Calibri" pitchFamily="34" charset="-122"/>
                <a:cs typeface="Calibri" pitchFamily="34" charset="-120"/>
              </a:rPr>
              <a:t>B 337 k, A 290 k</a:t>
            </a:r>
            <a:endParaRPr lang="en-US" sz="2200" dirty="0"/>
          </a:p>
        </p:txBody>
      </p:sp>
      <p:sp>
        <p:nvSpPr>
          <p:cNvPr id="15" name="Text 12"/>
          <p:cNvSpPr txBox="1"/>
          <p:nvPr/>
        </p:nvSpPr>
        <p:spPr>
          <a:xfrm>
            <a:off x="9153144" y="2487168"/>
            <a:ext cx="2414016" cy="228600"/>
          </a:xfrm>
          <a:prstGeom prst="rect">
            <a:avLst/>
          </a:prstGeom>
          <a:noFill/>
          <a:ln/>
        </p:spPr>
        <p:txBody>
          <a:bodyPr wrap="square" lIns="0" tIns="0" rIns="0" bIns="0" rtlCol="0" anchor="t"/>
          <a:lstStyle/>
          <a:p>
            <a:pPr indent="0" marL="0">
              <a:buNone/>
            </a:pPr>
            <a:r>
              <a:rPr lang="en-US" sz="1100" dirty="0">
                <a:solidFill>
                  <a:srgbClr val="043F52"/>
                </a:solidFill>
                <a:latin typeface="Calibri" pitchFamily="34" charset="0"/>
                <a:ea typeface="Calibri" pitchFamily="34" charset="-122"/>
                <a:cs typeface="Calibri" pitchFamily="34" charset="-120"/>
              </a:rPr>
              <a:t>la menor mora de B vale más que la mayor conversión de A.</a:t>
            </a:r>
            <a:endParaRPr lang="en-US" sz="1100" dirty="0"/>
          </a:p>
        </p:txBody>
      </p:sp>
      <p:sp>
        <p:nvSpPr>
          <p:cNvPr id="16" name="Text 13"/>
          <p:cNvSpPr txBox="1"/>
          <p:nvPr/>
        </p:nvSpPr>
        <p:spPr>
          <a:xfrm>
            <a:off x="6126480" y="2880360"/>
            <a:ext cx="5605272" cy="292608"/>
          </a:xfrm>
          <a:prstGeom prst="rect">
            <a:avLst/>
          </a:prstGeom>
          <a:noFill/>
          <a:ln/>
        </p:spPr>
        <p:txBody>
          <a:bodyPr wrap="square" lIns="0" tIns="0" rIns="0" bIns="0" rtlCol="0" anchor="ctr"/>
          <a:lstStyle/>
          <a:p>
            <a:pPr indent="0" marL="0">
              <a:buNone/>
            </a:pPr>
            <a:r>
              <a:rPr lang="en-US" sz="1200" b="1" dirty="0">
                <a:solidFill>
                  <a:srgbClr val="043F52"/>
                </a:solidFill>
                <a:latin typeface="Calibri" pitchFamily="34" charset="0"/>
                <a:ea typeface="Calibri" pitchFamily="34" charset="-122"/>
                <a:cs typeface="Calibri" pitchFamily="34" charset="-120"/>
              </a:rPr>
              <a:t>Lo que el cálculo no prueba</a:t>
            </a:r>
            <a:endParaRPr lang="en-US" sz="1200" dirty="0"/>
          </a:p>
        </p:txBody>
      </p:sp>
      <p:sp>
        <p:nvSpPr>
          <p:cNvPr id="17" name="Text 14"/>
          <p:cNvSpPr txBox="1"/>
          <p:nvPr/>
        </p:nvSpPr>
        <p:spPr>
          <a:xfrm>
            <a:off x="6126480" y="3172968"/>
            <a:ext cx="5605272" cy="1417320"/>
          </a:xfrm>
          <a:prstGeom prst="rect">
            <a:avLst/>
          </a:prstGeom>
          <a:noFill/>
          <a:ln/>
        </p:spPr>
        <p:txBody>
          <a:bodyPr wrap="square" lIns="0" tIns="0" rIns="0" bIns="0" rtlCol="0" anchor="t"/>
          <a:lstStyle/>
          <a:p>
            <a:pPr marL="177800" indent="-177800">
              <a:spcAft>
                <a:spcPts val="200"/>
              </a:spcAft>
              <a:buSzPct val="100000"/>
              <a:buChar char="•"/>
            </a:pPr>
            <a:r>
              <a:rPr lang="en-US" sz="1100" dirty="0">
                <a:solidFill>
                  <a:srgbClr val="043F52"/>
                </a:solidFill>
                <a:latin typeface="Calibri" pitchFamily="34" charset="0"/>
                <a:ea typeface="Calibri" pitchFamily="34" charset="-122"/>
                <a:cs typeface="Calibri" pitchFamily="34" charset="-120"/>
              </a:rPr>
              <a:t>No es incremental: si, como sugiere la base, el 5 % del segmento de B renueva sin contacto, el 57 % de sus renovaciones ocurriría igual y el valor creado por el contacto sería de unos 103 millones.</a:t>
            </a:r>
            <a:endParaRPr lang="en-US" sz="1100" dirty="0"/>
          </a:p>
          <a:p>
            <a:pPr marL="177800" indent="-177800">
              <a:spcAft>
                <a:spcPts val="200"/>
              </a:spcAft>
              <a:buSzPct val="100000"/>
              <a:buChar char="•"/>
            </a:pPr>
            <a:r>
              <a:rPr lang="en-US" sz="1100" dirty="0">
                <a:solidFill>
                  <a:srgbClr val="043F52"/>
                </a:solidFill>
                <a:latin typeface="Calibri" pitchFamily="34" charset="0"/>
                <a:ea typeface="Calibri" pitchFamily="34" charset="-122"/>
                <a:cs typeface="Calibri" pitchFamily="34" charset="-120"/>
              </a:rPr>
              <a:t>La ventaja de B en conversión no es distinguible del azar y la de mora apenas lo es; B gana por ser más seguro y auditable.</a:t>
            </a:r>
            <a:endParaRPr lang="en-US" sz="1100" dirty="0"/>
          </a:p>
          <a:p>
            <a:pPr marL="177800" indent="-177800">
              <a:spcAft>
                <a:spcPts val="200"/>
              </a:spcAft>
              <a:buSzPct val="100000"/>
              <a:buChar char="•"/>
            </a:pPr>
            <a:r>
              <a:rPr lang="en-US" sz="1100" dirty="0">
                <a:solidFill>
                  <a:srgbClr val="043F52"/>
                </a:solidFill>
                <a:latin typeface="Calibri" pitchFamily="34" charset="0"/>
                <a:ea typeface="Calibri" pitchFamily="34" charset="-122"/>
                <a:cs typeface="Calibri" pitchFamily="34" charset="-120"/>
              </a:rPr>
              <a:t>A solo superaría a B con una mora real menor que 5,8 %; faltan el costo de contacto, la pérdida real por mora y el origen de las conversiones reportadas.</a:t>
            </a:r>
            <a:endParaRPr lang="en-US" sz="1100" dirty="0"/>
          </a:p>
        </p:txBody>
      </p:sp>
      <p:sp>
        <p:nvSpPr>
          <p:cNvPr id="18" name="Text 15"/>
          <p:cNvSpPr txBox="1"/>
          <p:nvPr/>
        </p:nvSpPr>
        <p:spPr>
          <a:xfrm>
            <a:off x="457200" y="4645152"/>
            <a:ext cx="11274552" cy="292608"/>
          </a:xfrm>
          <a:prstGeom prst="rect">
            <a:avLst/>
          </a:prstGeom>
          <a:noFill/>
          <a:ln/>
        </p:spPr>
        <p:txBody>
          <a:bodyPr wrap="square" lIns="0" tIns="0" rIns="0" bIns="0" rtlCol="0" anchor="ctr"/>
          <a:lstStyle/>
          <a:p>
            <a:pPr indent="0" marL="0">
              <a:buNone/>
            </a:pPr>
            <a:r>
              <a:rPr lang="en-US" sz="1200" b="1" dirty="0">
                <a:solidFill>
                  <a:srgbClr val="043F52"/>
                </a:solidFill>
                <a:latin typeface="Calibri" pitchFamily="34" charset="0"/>
                <a:ea typeface="Calibri" pitchFamily="34" charset="-122"/>
                <a:cs typeface="Calibri" pitchFamily="34" charset="-120"/>
              </a:rPr>
              <a:t>Cómo se reparten los 8.000: cada regional llena su cuota y los cupos sobrantes van donde más valen</a:t>
            </a:r>
            <a:endParaRPr lang="en-US" sz="1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937760"/>
          <a:ext cx="11274552" cy="914400"/>
        </p:xfrm>
        <a:graphic>
          <a:graphicData uri="http://schemas.openxmlformats.org/drawingml/2006/table">
            <a:tbl>
              <a:tblPr/>
              <a:tblGrid>
                <a:gridCol w="1188720"/>
                <a:gridCol w="914400"/>
                <a:gridCol w="2286000"/>
                <a:gridCol w="1737360"/>
                <a:gridCol w="1005840"/>
                <a:gridCol w="4142232"/>
              </a:tblGrid>
              <a:tr h="214884">
                <a:tc>
                  <a:txBody>
                    <a:bodyPr/>
                    <a:lstStyle/>
                    <a:p>
                      <a:pPr indent="0" marL="0">
                        <a:buNone/>
                      </a:pPr>
                      <a:r>
                        <a:rPr lang="en-US" sz="1050" b="1" dirty="0">
                          <a:solidFill>
                            <a:srgbClr val="043F52"/>
                          </a:solidFill>
                          <a:latin typeface="Calibri" pitchFamily="34" charset="0"/>
                          <a:ea typeface="Calibri" pitchFamily="34" charset="-122"/>
                          <a:cs typeface="Calibri" pitchFamily="34" charset="-120"/>
                        </a:rPr>
                        <a:t>Regional</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solidFill>
                      <a:srgbClr val="EEF8F7"/>
                    </a:solidFill>
                  </a:tcPr>
                </a:tc>
                <a:tc>
                  <a:txBody>
                    <a:bodyPr/>
                    <a:lstStyle/>
                    <a:p>
                      <a:pPr indent="0" marL="0">
                        <a:buNone/>
                      </a:pPr>
                      <a:r>
                        <a:rPr lang="en-US" sz="1050" b="1" dirty="0">
                          <a:solidFill>
                            <a:srgbClr val="043F52"/>
                          </a:solidFill>
                          <a:latin typeface="Calibri" pitchFamily="34" charset="0"/>
                          <a:ea typeface="Calibri" pitchFamily="34" charset="-122"/>
                          <a:cs typeface="Calibri" pitchFamily="34" charset="-120"/>
                        </a:rPr>
                        <a:t>Capacidad</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solidFill>
                      <a:srgbClr val="EEF8F7"/>
                    </a:solidFill>
                  </a:tcPr>
                </a:tc>
                <a:tc>
                  <a:txBody>
                    <a:bodyPr/>
                    <a:lstStyle/>
                    <a:p>
                      <a:pPr indent="0" marL="0">
                        <a:buNone/>
                      </a:pPr>
                      <a:r>
                        <a:rPr lang="en-US" sz="1050" b="1" dirty="0">
                          <a:solidFill>
                            <a:srgbClr val="043F52"/>
                          </a:solidFill>
                          <a:latin typeface="Calibri" pitchFamily="34" charset="0"/>
                          <a:ea typeface="Calibri" pitchFamily="34" charset="-122"/>
                          <a:cs typeface="Calibri" pitchFamily="34" charset="-120"/>
                        </a:rPr>
                        <a:t>Contactos que exigiría un ranking único</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solidFill>
                      <a:srgbClr val="EEF8F7"/>
                    </a:solidFill>
                  </a:tcPr>
                </a:tc>
                <a:tc>
                  <a:txBody>
                    <a:bodyPr/>
                    <a:lstStyle/>
                    <a:p>
                      <a:pPr indent="0" marL="0">
                        <a:buNone/>
                      </a:pPr>
                      <a:r>
                        <a:rPr lang="en-US" sz="1050" b="1" dirty="0">
                          <a:solidFill>
                            <a:srgbClr val="043F52"/>
                          </a:solidFill>
                          <a:latin typeface="Calibri" pitchFamily="34" charset="0"/>
                          <a:ea typeface="Calibri" pitchFamily="34" charset="-122"/>
                          <a:cs typeface="Calibri" pitchFamily="34" charset="-120"/>
                        </a:rPr>
                        <a:t>Frente a la capacidad</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solidFill>
                      <a:srgbClr val="EEF8F7"/>
                    </a:solidFill>
                  </a:tcPr>
                </a:tc>
                <a:tc>
                  <a:txBody>
                    <a:bodyPr/>
                    <a:lstStyle/>
                    <a:p>
                      <a:pPr indent="0" marL="0">
                        <a:buNone/>
                      </a:pPr>
                      <a:r>
                        <a:rPr lang="en-US" sz="1050" b="1" dirty="0">
                          <a:solidFill>
                            <a:srgbClr val="043F52"/>
                          </a:solidFill>
                          <a:latin typeface="Calibri" pitchFamily="34" charset="0"/>
                          <a:ea typeface="Calibri" pitchFamily="34" charset="-122"/>
                          <a:cs typeface="Calibri" pitchFamily="34" charset="-120"/>
                        </a:rPr>
                        <a:t>Mora histórica</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solidFill>
                      <a:srgbClr val="EEF8F7"/>
                    </a:solidFill>
                  </a:tcPr>
                </a:tc>
                <a:tc>
                  <a:txBody>
                    <a:bodyPr/>
                    <a:lstStyle/>
                    <a:p>
                      <a:pPr indent="0" marL="0">
                        <a:buNone/>
                      </a:pPr>
                      <a:r>
                        <a:rPr lang="en-US" sz="1050" b="1" dirty="0">
                          <a:solidFill>
                            <a:srgbClr val="043F52"/>
                          </a:solidFill>
                          <a:latin typeface="Calibri" pitchFamily="34" charset="0"/>
                          <a:ea typeface="Calibri" pitchFamily="34" charset="-122"/>
                          <a:cs typeface="Calibri" pitchFamily="34" charset="-120"/>
                        </a:rPr>
                        <a:t>Regla</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solidFill>
                      <a:srgbClr val="EEF8F7"/>
                    </a:solidFill>
                  </a:tcPr>
                </a:tc>
              </a:tr>
              <a:tr h="214884">
                <a:tc>
                  <a:txBody>
                    <a:bodyPr/>
                    <a:lstStyle/>
                    <a:p>
                      <a:pPr indent="0" marL="0">
                        <a:buNone/>
                      </a:pPr>
                      <a:r>
                        <a:rPr lang="en-US" sz="1050" dirty="0">
                          <a:solidFill>
                            <a:srgbClr val="043F52"/>
                          </a:solidFill>
                          <a:latin typeface="Calibri" pitchFamily="34" charset="0"/>
                          <a:ea typeface="Calibri" pitchFamily="34" charset="-122"/>
                          <a:cs typeface="Calibri" pitchFamily="34" charset="-120"/>
                        </a:rPr>
                        <a:t>Suroccidente</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tcPr>
                </a:tc>
                <a:tc>
                  <a:txBody>
                    <a:bodyPr/>
                    <a:lstStyle/>
                    <a:p>
                      <a:pPr indent="0" marL="0">
                        <a:buNone/>
                      </a:pPr>
                      <a:r>
                        <a:rPr lang="en-US" sz="1050" dirty="0">
                          <a:solidFill>
                            <a:srgbClr val="043F52"/>
                          </a:solidFill>
                          <a:latin typeface="Calibri" pitchFamily="34" charset="0"/>
                          <a:ea typeface="Calibri" pitchFamily="34" charset="-122"/>
                          <a:cs typeface="Calibri" pitchFamily="34" charset="-120"/>
                        </a:rPr>
                        <a:t>2.600</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tcPr>
                </a:tc>
                <a:tc>
                  <a:txBody>
                    <a:bodyPr/>
                    <a:lstStyle/>
                    <a:p>
                      <a:pPr indent="0" marL="0">
                        <a:buNone/>
                      </a:pPr>
                      <a:r>
                        <a:rPr lang="en-US" sz="1050" dirty="0">
                          <a:solidFill>
                            <a:srgbClr val="043F52"/>
                          </a:solidFill>
                          <a:latin typeface="Calibri" pitchFamily="34" charset="0"/>
                          <a:ea typeface="Calibri" pitchFamily="34" charset="-122"/>
                          <a:cs typeface="Calibri" pitchFamily="34" charset="-120"/>
                        </a:rPr>
                        <a:t>≈ 2.400</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tcPr>
                </a:tc>
                <a:tc>
                  <a:txBody>
                    <a:bodyPr/>
                    <a:lstStyle/>
                    <a:p>
                      <a:pPr indent="0" marL="0">
                        <a:buNone/>
                      </a:pPr>
                      <a:r>
                        <a:rPr lang="en-US" sz="1050" dirty="0">
                          <a:solidFill>
                            <a:srgbClr val="6B5300"/>
                          </a:solidFill>
                          <a:latin typeface="Calibri" pitchFamily="34" charset="0"/>
                          <a:ea typeface="Calibri" pitchFamily="34" charset="-122"/>
                          <a:cs typeface="Calibri" pitchFamily="34" charset="-120"/>
                        </a:rPr>
                        <a:t>≈ 200 cupos sin usar</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tcPr>
                </a:tc>
                <a:tc>
                  <a:txBody>
                    <a:bodyPr/>
                    <a:lstStyle/>
                    <a:p>
                      <a:pPr indent="0" marL="0">
                        <a:buNone/>
                      </a:pPr>
                      <a:r>
                        <a:rPr lang="en-US" sz="1050" dirty="0">
                          <a:solidFill>
                            <a:srgbClr val="043F52"/>
                          </a:solidFill>
                          <a:latin typeface="Calibri" pitchFamily="34" charset="0"/>
                          <a:ea typeface="Calibri" pitchFamily="34" charset="-122"/>
                          <a:cs typeface="Calibri" pitchFamily="34" charset="-120"/>
                        </a:rPr>
                        <a:t>5,4 %</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tcPr>
                </a:tc>
                <a:tc>
                  <a:txBody>
                    <a:bodyPr/>
                    <a:lstStyle/>
                    <a:p>
                      <a:pPr indent="0" marL="0">
                        <a:buNone/>
                      </a:pPr>
                      <a:r>
                        <a:rPr lang="en-US" sz="1050" dirty="0">
                          <a:solidFill>
                            <a:srgbClr val="043F52"/>
                          </a:solidFill>
                          <a:latin typeface="Calibri" pitchFamily="34" charset="0"/>
                          <a:ea typeface="Calibri" pitchFamily="34" charset="-122"/>
                          <a:cs typeface="Calibri" pitchFamily="34" charset="-120"/>
                        </a:rPr>
                        <a:t>Llena su cuota con su propio ranking y cede los cupos que no use.</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tcPr>
                </a:tc>
              </a:tr>
              <a:tr h="214884">
                <a:tc>
                  <a:txBody>
                    <a:bodyPr/>
                    <a:lstStyle/>
                    <a:p>
                      <a:pPr indent="0" marL="0">
                        <a:buNone/>
                      </a:pPr>
                      <a:r>
                        <a:rPr lang="en-US" sz="1050" dirty="0">
                          <a:solidFill>
                            <a:srgbClr val="043F52"/>
                          </a:solidFill>
                          <a:latin typeface="Calibri" pitchFamily="34" charset="0"/>
                          <a:ea typeface="Calibri" pitchFamily="34" charset="-122"/>
                          <a:cs typeface="Calibri" pitchFamily="34" charset="-120"/>
                        </a:rPr>
                        <a:t>Centro</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tcPr>
                </a:tc>
                <a:tc>
                  <a:txBody>
                    <a:bodyPr/>
                    <a:lstStyle/>
                    <a:p>
                      <a:pPr indent="0" marL="0">
                        <a:buNone/>
                      </a:pPr>
                      <a:r>
                        <a:rPr lang="en-US" sz="1050" dirty="0">
                          <a:solidFill>
                            <a:srgbClr val="043F52"/>
                          </a:solidFill>
                          <a:latin typeface="Calibri" pitchFamily="34" charset="0"/>
                          <a:ea typeface="Calibri" pitchFamily="34" charset="-122"/>
                          <a:cs typeface="Calibri" pitchFamily="34" charset="-120"/>
                        </a:rPr>
                        <a:t>1.900</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tcPr>
                </a:tc>
                <a:tc>
                  <a:txBody>
                    <a:bodyPr/>
                    <a:lstStyle/>
                    <a:p>
                      <a:pPr indent="0" marL="0">
                        <a:buNone/>
                      </a:pPr>
                      <a:r>
                        <a:rPr lang="en-US" sz="1050" dirty="0">
                          <a:solidFill>
                            <a:srgbClr val="043F52"/>
                          </a:solidFill>
                          <a:latin typeface="Calibri" pitchFamily="34" charset="0"/>
                          <a:ea typeface="Calibri" pitchFamily="34" charset="-122"/>
                          <a:cs typeface="Calibri" pitchFamily="34" charset="-120"/>
                        </a:rPr>
                        <a:t>≈ 2.100</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tcPr>
                </a:tc>
                <a:tc>
                  <a:txBody>
                    <a:bodyPr/>
                    <a:lstStyle/>
                    <a:p>
                      <a:pPr indent="0" marL="0">
                        <a:buNone/>
                      </a:pPr>
                      <a:r>
                        <a:rPr lang="en-US" sz="1050" dirty="0">
                          <a:solidFill>
                            <a:srgbClr val="8F3A14"/>
                          </a:solidFill>
                          <a:latin typeface="Calibri" pitchFamily="34" charset="0"/>
                          <a:ea typeface="Calibri" pitchFamily="34" charset="-122"/>
                          <a:cs typeface="Calibri" pitchFamily="34" charset="-120"/>
                        </a:rPr>
                        <a:t>≈ 200 clientes sin gestor</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tcPr>
                </a:tc>
                <a:tc>
                  <a:txBody>
                    <a:bodyPr/>
                    <a:lstStyle/>
                    <a:p>
                      <a:pPr indent="0" marL="0">
                        <a:buNone/>
                      </a:pPr>
                      <a:r>
                        <a:rPr lang="en-US" sz="1050" dirty="0">
                          <a:solidFill>
                            <a:srgbClr val="043F52"/>
                          </a:solidFill>
                          <a:latin typeface="Calibri" pitchFamily="34" charset="0"/>
                          <a:ea typeface="Calibri" pitchFamily="34" charset="-122"/>
                          <a:cs typeface="Calibri" pitchFamily="34" charset="-120"/>
                        </a:rPr>
                        <a:t>4,7 %</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tcPr>
                </a:tc>
                <a:tc>
                  <a:txBody>
                    <a:bodyPr/>
                    <a:lstStyle/>
                    <a:p>
                      <a:pPr indent="0" marL="0">
                        <a:buNone/>
                      </a:pPr>
                      <a:r>
                        <a:rPr lang="en-US" sz="1050" dirty="0">
                          <a:solidFill>
                            <a:srgbClr val="043F52"/>
                          </a:solidFill>
                          <a:latin typeface="Calibri" pitchFamily="34" charset="0"/>
                          <a:ea typeface="Calibri" pitchFamily="34" charset="-122"/>
                          <a:cs typeface="Calibri" pitchFamily="34" charset="-120"/>
                        </a:rPr>
                        <a:t>Lista semanal para evitar la saturación de fin de mes.</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tcPr>
                </a:tc>
              </a:tr>
              <a:tr h="214884">
                <a:tc>
                  <a:txBody>
                    <a:bodyPr/>
                    <a:lstStyle/>
                    <a:p>
                      <a:pPr indent="0" marL="0">
                        <a:buNone/>
                      </a:pPr>
                      <a:r>
                        <a:rPr lang="en-US" sz="1050" dirty="0">
                          <a:solidFill>
                            <a:srgbClr val="043F52"/>
                          </a:solidFill>
                          <a:latin typeface="Calibri" pitchFamily="34" charset="0"/>
                          <a:ea typeface="Calibri" pitchFamily="34" charset="-122"/>
                          <a:cs typeface="Calibri" pitchFamily="34" charset="-120"/>
                        </a:rPr>
                        <a:t>Norte</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tcPr>
                </a:tc>
                <a:tc>
                  <a:txBody>
                    <a:bodyPr/>
                    <a:lstStyle/>
                    <a:p>
                      <a:pPr indent="0" marL="0">
                        <a:buNone/>
                      </a:pPr>
                      <a:r>
                        <a:rPr lang="en-US" sz="1050" dirty="0">
                          <a:solidFill>
                            <a:srgbClr val="043F52"/>
                          </a:solidFill>
                          <a:latin typeface="Calibri" pitchFamily="34" charset="0"/>
                          <a:ea typeface="Calibri" pitchFamily="34" charset="-122"/>
                          <a:cs typeface="Calibri" pitchFamily="34" charset="-120"/>
                        </a:rPr>
                        <a:t>1.200</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tcPr>
                </a:tc>
                <a:tc>
                  <a:txBody>
                    <a:bodyPr/>
                    <a:lstStyle/>
                    <a:p>
                      <a:pPr indent="0" marL="0">
                        <a:buNone/>
                      </a:pPr>
                      <a:r>
                        <a:rPr lang="en-US" sz="1050" dirty="0">
                          <a:solidFill>
                            <a:srgbClr val="043F52"/>
                          </a:solidFill>
                          <a:latin typeface="Calibri" pitchFamily="34" charset="0"/>
                          <a:ea typeface="Calibri" pitchFamily="34" charset="-122"/>
                          <a:cs typeface="Calibri" pitchFamily="34" charset="-120"/>
                        </a:rPr>
                        <a:t>≈ 1.300</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tcPr>
                </a:tc>
                <a:tc>
                  <a:txBody>
                    <a:bodyPr/>
                    <a:lstStyle/>
                    <a:p>
                      <a:pPr indent="0" marL="0">
                        <a:buNone/>
                      </a:pPr>
                      <a:r>
                        <a:rPr lang="en-US" sz="1050" dirty="0">
                          <a:solidFill>
                            <a:srgbClr val="8F3A14"/>
                          </a:solidFill>
                          <a:latin typeface="Calibri" pitchFamily="34" charset="0"/>
                          <a:ea typeface="Calibri" pitchFamily="34" charset="-122"/>
                          <a:cs typeface="Calibri" pitchFamily="34" charset="-120"/>
                        </a:rPr>
                        <a:t>≈ 100 clientes sin gestor</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tcPr>
                </a:tc>
                <a:tc>
                  <a:txBody>
                    <a:bodyPr/>
                    <a:lstStyle/>
                    <a:p>
                      <a:pPr indent="0" marL="0">
                        <a:buNone/>
                      </a:pPr>
                      <a:r>
                        <a:rPr lang="en-US" sz="1050" dirty="0">
                          <a:solidFill>
                            <a:srgbClr val="043F52"/>
                          </a:solidFill>
                          <a:latin typeface="Calibri" pitchFamily="34" charset="0"/>
                          <a:ea typeface="Calibri" pitchFamily="34" charset="-122"/>
                          <a:cs typeface="Calibri" pitchFamily="34" charset="-120"/>
                        </a:rPr>
                        <a:t>6,8 %</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tcPr>
                </a:tc>
                <a:tc>
                  <a:txBody>
                    <a:bodyPr/>
                    <a:lstStyle/>
                    <a:p>
                      <a:pPr indent="0" marL="0">
                        <a:buNone/>
                      </a:pPr>
                      <a:r>
                        <a:rPr lang="en-US" sz="1050" dirty="0">
                          <a:solidFill>
                            <a:srgbClr val="043F52"/>
                          </a:solidFill>
                          <a:latin typeface="Calibri" pitchFamily="34" charset="0"/>
                          <a:ea typeface="Calibri" pitchFamily="34" charset="-122"/>
                          <a:cs typeface="Calibri" pitchFamily="34" charset="-120"/>
                        </a:rPr>
                        <a:t>El último contacto vale 85 k: recibe los cupos transferidos.</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tcPr>
                </a:tc>
              </a:tr>
              <a:tr h="214884">
                <a:tc>
                  <a:txBody>
                    <a:bodyPr/>
                    <a:lstStyle/>
                    <a:p>
                      <a:pPr indent="0" marL="0">
                        <a:buNone/>
                      </a:pPr>
                      <a:r>
                        <a:rPr lang="en-US" sz="1050" dirty="0">
                          <a:solidFill>
                            <a:srgbClr val="043F52"/>
                          </a:solidFill>
                          <a:latin typeface="Calibri" pitchFamily="34" charset="0"/>
                          <a:ea typeface="Calibri" pitchFamily="34" charset="-122"/>
                          <a:cs typeface="Calibri" pitchFamily="34" charset="-120"/>
                        </a:rPr>
                        <a:t>Eje Cafetero</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tcPr>
                </a:tc>
                <a:tc>
                  <a:txBody>
                    <a:bodyPr/>
                    <a:lstStyle/>
                    <a:p>
                      <a:pPr indent="0" marL="0">
                        <a:buNone/>
                      </a:pPr>
                      <a:r>
                        <a:rPr lang="en-US" sz="1050" dirty="0">
                          <a:solidFill>
                            <a:srgbClr val="043F52"/>
                          </a:solidFill>
                          <a:latin typeface="Calibri" pitchFamily="34" charset="0"/>
                          <a:ea typeface="Calibri" pitchFamily="34" charset="-122"/>
                          <a:cs typeface="Calibri" pitchFamily="34" charset="-120"/>
                        </a:rPr>
                        <a:t>1.000</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tcPr>
                </a:tc>
                <a:tc>
                  <a:txBody>
                    <a:bodyPr/>
                    <a:lstStyle/>
                    <a:p>
                      <a:pPr indent="0" marL="0">
                        <a:buNone/>
                      </a:pPr>
                      <a:r>
                        <a:rPr lang="en-US" sz="1050" dirty="0">
                          <a:solidFill>
                            <a:srgbClr val="043F52"/>
                          </a:solidFill>
                          <a:latin typeface="Calibri" pitchFamily="34" charset="0"/>
                          <a:ea typeface="Calibri" pitchFamily="34" charset="-122"/>
                          <a:cs typeface="Calibri" pitchFamily="34" charset="-120"/>
                        </a:rPr>
                        <a:t>≈ 1.100</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tcPr>
                </a:tc>
                <a:tc>
                  <a:txBody>
                    <a:bodyPr/>
                    <a:lstStyle/>
                    <a:p>
                      <a:pPr indent="0" marL="0">
                        <a:buNone/>
                      </a:pPr>
                      <a:r>
                        <a:rPr lang="en-US" sz="1050" dirty="0">
                          <a:solidFill>
                            <a:srgbClr val="8F3A14"/>
                          </a:solidFill>
                          <a:latin typeface="Calibri" pitchFamily="34" charset="0"/>
                          <a:ea typeface="Calibri" pitchFamily="34" charset="-122"/>
                          <a:cs typeface="Calibri" pitchFamily="34" charset="-120"/>
                        </a:rPr>
                        <a:t>≈ 100 clientes sin gestor</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tcPr>
                </a:tc>
                <a:tc>
                  <a:txBody>
                    <a:bodyPr/>
                    <a:lstStyle/>
                    <a:p>
                      <a:pPr indent="0" marL="0">
                        <a:buNone/>
                      </a:pPr>
                      <a:r>
                        <a:rPr lang="en-US" sz="1050" dirty="0">
                          <a:solidFill>
                            <a:srgbClr val="043F52"/>
                          </a:solidFill>
                          <a:latin typeface="Calibri" pitchFamily="34" charset="0"/>
                          <a:ea typeface="Calibri" pitchFamily="34" charset="-122"/>
                          <a:cs typeface="Calibri" pitchFamily="34" charset="-120"/>
                        </a:rPr>
                        <a:t>4,9 %</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tcPr>
                </a:tc>
                <a:tc>
                  <a:txBody>
                    <a:bodyPr/>
                    <a:lstStyle/>
                    <a:p>
                      <a:pPr indent="0" marL="0">
                        <a:buNone/>
                      </a:pPr>
                      <a:r>
                        <a:rPr lang="en-US" sz="1050" dirty="0">
                          <a:solidFill>
                            <a:srgbClr val="043F52"/>
                          </a:solidFill>
                          <a:latin typeface="Calibri" pitchFamily="34" charset="0"/>
                          <a:ea typeface="Calibri" pitchFamily="34" charset="-122"/>
                          <a:cs typeface="Calibri" pitchFamily="34" charset="-120"/>
                        </a:rPr>
                        <a:t>Segundo en valor del último contacto (82 k).</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tcPr>
                </a:tc>
              </a:tr>
              <a:tr h="214884">
                <a:tc>
                  <a:txBody>
                    <a:bodyPr/>
                    <a:lstStyle/>
                    <a:p>
                      <a:pPr indent="0" marL="0">
                        <a:buNone/>
                      </a:pPr>
                      <a:r>
                        <a:rPr lang="en-US" sz="1050" dirty="0">
                          <a:solidFill>
                            <a:srgbClr val="043F52"/>
                          </a:solidFill>
                          <a:latin typeface="Calibri" pitchFamily="34" charset="0"/>
                          <a:ea typeface="Calibri" pitchFamily="34" charset="-122"/>
                          <a:cs typeface="Calibri" pitchFamily="34" charset="-120"/>
                        </a:rPr>
                        <a:t>Oriente</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tcPr>
                </a:tc>
                <a:tc>
                  <a:txBody>
                    <a:bodyPr/>
                    <a:lstStyle/>
                    <a:p>
                      <a:pPr indent="0" marL="0">
                        <a:buNone/>
                      </a:pPr>
                      <a:r>
                        <a:rPr lang="en-US" sz="1050" dirty="0">
                          <a:solidFill>
                            <a:srgbClr val="043F52"/>
                          </a:solidFill>
                          <a:latin typeface="Calibri" pitchFamily="34" charset="0"/>
                          <a:ea typeface="Calibri" pitchFamily="34" charset="-122"/>
                          <a:cs typeface="Calibri" pitchFamily="34" charset="-120"/>
                        </a:rPr>
                        <a:t>1.300</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tcPr>
                </a:tc>
                <a:tc>
                  <a:txBody>
                    <a:bodyPr/>
                    <a:lstStyle/>
                    <a:p>
                      <a:pPr indent="0" marL="0">
                        <a:buNone/>
                      </a:pPr>
                      <a:r>
                        <a:rPr lang="en-US" sz="1050" dirty="0">
                          <a:solidFill>
                            <a:srgbClr val="043F52"/>
                          </a:solidFill>
                          <a:latin typeface="Calibri" pitchFamily="34" charset="0"/>
                          <a:ea typeface="Calibri" pitchFamily="34" charset="-122"/>
                          <a:cs typeface="Calibri" pitchFamily="34" charset="-120"/>
                        </a:rPr>
                        <a:t>≈ 1.100</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tcPr>
                </a:tc>
                <a:tc>
                  <a:txBody>
                    <a:bodyPr/>
                    <a:lstStyle/>
                    <a:p>
                      <a:pPr indent="0" marL="0">
                        <a:buNone/>
                      </a:pPr>
                      <a:r>
                        <a:rPr lang="en-US" sz="1050" dirty="0">
                          <a:solidFill>
                            <a:srgbClr val="6B5300"/>
                          </a:solidFill>
                          <a:latin typeface="Calibri" pitchFamily="34" charset="0"/>
                          <a:ea typeface="Calibri" pitchFamily="34" charset="-122"/>
                          <a:cs typeface="Calibri" pitchFamily="34" charset="-120"/>
                        </a:rPr>
                        <a:t>≈ 200 cupos sin usar</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tcPr>
                </a:tc>
                <a:tc>
                  <a:txBody>
                    <a:bodyPr/>
                    <a:lstStyle/>
                    <a:p>
                      <a:pPr indent="0" marL="0">
                        <a:buNone/>
                      </a:pPr>
                      <a:r>
                        <a:rPr lang="en-US" sz="1050" dirty="0">
                          <a:solidFill>
                            <a:srgbClr val="043F52"/>
                          </a:solidFill>
                          <a:latin typeface="Calibri" pitchFamily="34" charset="0"/>
                          <a:ea typeface="Calibri" pitchFamily="34" charset="-122"/>
                          <a:cs typeface="Calibri" pitchFamily="34" charset="-120"/>
                        </a:rPr>
                        <a:t>5,5 %</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tcPr>
                </a:tc>
                <a:tc>
                  <a:txBody>
                    <a:bodyPr/>
                    <a:lstStyle/>
                    <a:p>
                      <a:pPr indent="0" marL="0">
                        <a:buNone/>
                      </a:pPr>
                      <a:r>
                        <a:rPr lang="en-US" sz="1050" dirty="0">
                          <a:solidFill>
                            <a:srgbClr val="043F52"/>
                          </a:solidFill>
                          <a:latin typeface="Calibri" pitchFamily="34" charset="0"/>
                          <a:ea typeface="Calibri" pitchFamily="34" charset="-122"/>
                          <a:cs typeface="Calibri" pitchFamily="34" charset="-120"/>
                        </a:rPr>
                        <a:t>El último contacto vale 65 k: cede cupos, con un tope a pactar.</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tcPr>
                </a:tc>
              </a:tr>
            </a:tbl>
          </a:graphicData>
        </a:graphic>
      </p:graphicFrame>
      <p:sp>
        <p:nvSpPr>
          <p:cNvPr id="20" name="Text 16"/>
          <p:cNvSpPr txBox="1"/>
          <p:nvPr/>
        </p:nvSpPr>
        <p:spPr>
          <a:xfrm>
            <a:off x="457200" y="6245352"/>
            <a:ext cx="11274552" cy="182880"/>
          </a:xfrm>
          <a:prstGeom prst="rect">
            <a:avLst/>
          </a:prstGeom>
          <a:noFill/>
          <a:ln/>
        </p:spPr>
        <p:txBody>
          <a:bodyPr wrap="square" lIns="0" tIns="0" rIns="0" bIns="0" rtlCol="0" anchor="ctr"/>
          <a:lstStyle/>
          <a:p>
            <a:pPr indent="0" marL="0">
              <a:buNone/>
            </a:pPr>
            <a:r>
              <a:rPr lang="en-US" sz="1100" i="1" dirty="0">
                <a:solidFill>
                  <a:srgbClr val="4A6A72"/>
                </a:solidFill>
                <a:latin typeface="Calibri" pitchFamily="34" charset="0"/>
                <a:ea typeface="Calibri" pitchFamily="34" charset="-122"/>
                <a:cs typeface="Calibri" pitchFamily="34" charset="-120"/>
              </a:rPr>
              <a:t>Modelo simple, junio a agosto (696 clientes); proyección aproximada a partir de la muestra.</a:t>
            </a:r>
            <a:endParaRPr lang="en-US" sz="11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4A6A72"/>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457200" y="320040"/>
            <a:ext cx="11274552" cy="502920"/>
          </a:xfrm>
          <a:prstGeom prst="rect">
            <a:avLst/>
          </a:prstGeom>
          <a:noFill/>
          <a:ln/>
        </p:spPr>
        <p:txBody>
          <a:bodyPr wrap="square" lIns="0" tIns="0" rIns="0" bIns="0" rtlCol="0" anchor="t"/>
          <a:lstStyle/>
          <a:p>
            <a:pPr algn="l" indent="0" marL="0">
              <a:buNone/>
            </a:pPr>
            <a:r>
              <a:rPr lang="en-US" sz="2400" b="1" dirty="0">
                <a:solidFill>
                  <a:srgbClr val="043F52"/>
                </a:solidFill>
              </a:rPr>
              <a:t>5 · Cómo probamos que funciona y cómo controlamos el riesgo</a:t>
            </a:r>
            <a:endParaRPr lang="en-US" sz="2400" dirty="0"/>
          </a:p>
        </p:txBody>
      </p:sp>
      <p:sp>
        <p:nvSpPr>
          <p:cNvPr id="3" name="Respuesta"/>
          <p:cNvSpPr/>
          <p:nvPr/>
        </p:nvSpPr>
        <p:spPr>
          <a:xfrm>
            <a:off x="457200" y="868680"/>
            <a:ext cx="54864" cy="658368"/>
          </a:xfrm>
          <a:prstGeom prst="rect">
            <a:avLst/>
          </a:prstGeom>
          <a:solidFill>
            <a:srgbClr val="009786"/>
          </a:solidFill>
          <a:ln w="12700">
            <a:solidFill>
              <a:srgbClr val="009786"/>
            </a:solidFill>
            <a:prstDash val="solid"/>
          </a:ln>
        </p:spPr>
      </p:sp>
      <p:sp>
        <p:nvSpPr>
          <p:cNvPr id="4" name="Text 2"/>
          <p:cNvSpPr txBox="1"/>
          <p:nvPr/>
        </p:nvSpPr>
        <p:spPr>
          <a:xfrm>
            <a:off x="640080" y="868680"/>
            <a:ext cx="11091672" cy="658368"/>
          </a:xfrm>
          <a:prstGeom prst="rect">
            <a:avLst/>
          </a:prstGeom>
          <a:noFill/>
          <a:ln/>
        </p:spPr>
        <p:txBody>
          <a:bodyPr wrap="square" lIns="0" tIns="0" rIns="0" bIns="0" rtlCol="0" anchor="ctr"/>
          <a:lstStyle/>
          <a:p>
            <a:pPr indent="0" marL="0">
              <a:lnSpc>
                <a:spcPct val="110000"/>
              </a:lnSpc>
              <a:buNone/>
            </a:pPr>
            <a:r>
              <a:rPr lang="en-US" sz="1250" dirty="0">
                <a:solidFill>
                  <a:srgbClr val="043F52"/>
                </a:solidFill>
                <a:latin typeface="Calibri" pitchFamily="34" charset="0"/>
                <a:ea typeface="Calibri" pitchFamily="34" charset="-122"/>
                <a:cs typeface="Calibri" pitchFamily="34" charset="-120"/>
              </a:rPr>
              <a:t>Con un piloto de dos meses: partimos el universo en dos mitades al azar, la herramienta actual elige en una y B en la otra, y dejamos 800 clientes del top de B sin contactar para medir si la llamada crea renovaciones. El riesgo no se prueba en el piloto: ambos brazos usan el mismo corte de Riesgos y la mora se vigila por cosecha mensual.</a:t>
            </a:r>
            <a:endParaRPr lang="en-US" sz="1250" dirty="0"/>
          </a:p>
        </p:txBody>
      </p:sp>
      <p:sp>
        <p:nvSpPr>
          <p:cNvPr id="5" name="Text 3"/>
          <p:cNvSpPr txBox="1"/>
          <p:nvPr/>
        </p:nvSpPr>
        <p:spPr>
          <a:xfrm>
            <a:off x="457200" y="1645920"/>
            <a:ext cx="6858000" cy="292608"/>
          </a:xfrm>
          <a:prstGeom prst="rect">
            <a:avLst/>
          </a:prstGeom>
          <a:noFill/>
          <a:ln/>
        </p:spPr>
        <p:txBody>
          <a:bodyPr wrap="square" lIns="0" tIns="0" rIns="0" bIns="0" rtlCol="0" anchor="ctr"/>
          <a:lstStyle/>
          <a:p>
            <a:pPr indent="0" marL="0">
              <a:buNone/>
            </a:pPr>
            <a:r>
              <a:rPr lang="en-US" sz="1200" b="1" dirty="0">
                <a:solidFill>
                  <a:srgbClr val="043F52"/>
                </a:solidFill>
                <a:latin typeface="Calibri" pitchFamily="34" charset="0"/>
                <a:ea typeface="Calibri" pitchFamily="34" charset="-122"/>
                <a:cs typeface="Calibri" pitchFamily="34" charset="-120"/>
              </a:rPr>
              <a:t>Diseño: el universo se parte en dos mitades al azar, con el mismo corte de Riesgos</a:t>
            </a:r>
            <a:endParaRPr lang="en-US" sz="1200" dirty="0"/>
          </a:p>
        </p:txBody>
      </p:sp>
      <p:sp>
        <p:nvSpPr>
          <p:cNvPr id="6" name="Lista actual (champion)"/>
          <p:cNvSpPr/>
          <p:nvPr/>
        </p:nvSpPr>
        <p:spPr>
          <a:xfrm>
            <a:off x="457200" y="1965960"/>
            <a:ext cx="2194560" cy="1051560"/>
          </a:xfrm>
          <a:prstGeom prst="roundRect">
            <a:avLst>
              <a:gd name="adj" fmla="val 10435"/>
            </a:avLst>
          </a:prstGeom>
          <a:solidFill>
            <a:srgbClr val="EEF8F7"/>
          </a:solidFill>
          <a:ln w="12700">
            <a:solidFill>
              <a:srgbClr val="EEF8F7"/>
            </a:solidFill>
            <a:prstDash val="solid"/>
          </a:ln>
        </p:spPr>
      </p:sp>
      <p:sp>
        <p:nvSpPr>
          <p:cNvPr id="7" name="Text 5"/>
          <p:cNvSpPr txBox="1"/>
          <p:nvPr/>
        </p:nvSpPr>
        <p:spPr>
          <a:xfrm>
            <a:off x="594360" y="2057400"/>
            <a:ext cx="1920240" cy="256032"/>
          </a:xfrm>
          <a:prstGeom prst="rect">
            <a:avLst/>
          </a:prstGeom>
          <a:noFill/>
          <a:ln/>
        </p:spPr>
        <p:txBody>
          <a:bodyPr wrap="square" lIns="0" tIns="0" rIns="0" bIns="0" rtlCol="0" anchor="ctr"/>
          <a:lstStyle/>
          <a:p>
            <a:pPr indent="0" marL="0">
              <a:buNone/>
            </a:pPr>
            <a:r>
              <a:rPr lang="en-US" sz="1100" b="1" dirty="0">
                <a:solidFill>
                  <a:srgbClr val="043F52"/>
                </a:solidFill>
                <a:latin typeface="Calibri" pitchFamily="34" charset="0"/>
                <a:ea typeface="Calibri" pitchFamily="34" charset="-122"/>
                <a:cs typeface="Calibri" pitchFamily="34" charset="-120"/>
              </a:rPr>
              <a:t>Lista actual (champion)</a:t>
            </a:r>
            <a:endParaRPr lang="en-US" sz="1100" dirty="0"/>
          </a:p>
        </p:txBody>
      </p:sp>
      <p:sp>
        <p:nvSpPr>
          <p:cNvPr id="8" name="Text 6"/>
          <p:cNvSpPr txBox="1"/>
          <p:nvPr/>
        </p:nvSpPr>
        <p:spPr>
          <a:xfrm>
            <a:off x="594360" y="2331720"/>
            <a:ext cx="1920240" cy="594360"/>
          </a:xfrm>
          <a:prstGeom prst="rect">
            <a:avLst/>
          </a:prstGeom>
          <a:noFill/>
          <a:ln/>
        </p:spPr>
        <p:txBody>
          <a:bodyPr wrap="square" lIns="0" tIns="0" rIns="0" bIns="0" rtlCol="0" anchor="t"/>
          <a:lstStyle/>
          <a:p>
            <a:pPr indent="0" marL="0">
              <a:buNone/>
            </a:pPr>
            <a:r>
              <a:rPr lang="en-US" sz="1150" dirty="0">
                <a:solidFill>
                  <a:srgbClr val="043F52"/>
                </a:solidFill>
                <a:latin typeface="Calibri" pitchFamily="34" charset="0"/>
                <a:ea typeface="Calibri" pitchFamily="34" charset="-122"/>
                <a:cs typeface="Calibri" pitchFamily="34" charset="-120"/>
              </a:rPr>
              <a:t>La herramienta actual elige sus 4.000 en una mitad del universo.</a:t>
            </a:r>
            <a:endParaRPr lang="en-US" sz="1150" dirty="0"/>
          </a:p>
        </p:txBody>
      </p:sp>
      <p:sp>
        <p:nvSpPr>
          <p:cNvPr id="9" name="Lista nueva"/>
          <p:cNvSpPr/>
          <p:nvPr/>
        </p:nvSpPr>
        <p:spPr>
          <a:xfrm>
            <a:off x="2788920" y="1965960"/>
            <a:ext cx="2194560" cy="1051560"/>
          </a:xfrm>
          <a:prstGeom prst="roundRect">
            <a:avLst>
              <a:gd name="adj" fmla="val 10435"/>
            </a:avLst>
          </a:prstGeom>
          <a:solidFill>
            <a:srgbClr val="9CE0D9"/>
          </a:solidFill>
          <a:ln w="12700">
            <a:solidFill>
              <a:srgbClr val="9CE0D9"/>
            </a:solidFill>
            <a:prstDash val="solid"/>
          </a:ln>
        </p:spPr>
      </p:sp>
      <p:sp>
        <p:nvSpPr>
          <p:cNvPr id="10" name="Text 8"/>
          <p:cNvSpPr txBox="1"/>
          <p:nvPr/>
        </p:nvSpPr>
        <p:spPr>
          <a:xfrm>
            <a:off x="2926080" y="2057400"/>
            <a:ext cx="1920240" cy="256032"/>
          </a:xfrm>
          <a:prstGeom prst="rect">
            <a:avLst/>
          </a:prstGeom>
          <a:noFill/>
          <a:ln/>
        </p:spPr>
        <p:txBody>
          <a:bodyPr wrap="square" lIns="0" tIns="0" rIns="0" bIns="0" rtlCol="0" anchor="ctr"/>
          <a:lstStyle/>
          <a:p>
            <a:pPr indent="0" marL="0">
              <a:buNone/>
            </a:pPr>
            <a:r>
              <a:rPr lang="en-US" sz="1100" b="1" dirty="0">
                <a:solidFill>
                  <a:srgbClr val="043F52"/>
                </a:solidFill>
                <a:latin typeface="Calibri" pitchFamily="34" charset="0"/>
                <a:ea typeface="Calibri" pitchFamily="34" charset="-122"/>
                <a:cs typeface="Calibri" pitchFamily="34" charset="-120"/>
              </a:rPr>
              <a:t>Lista nueva</a:t>
            </a:r>
            <a:endParaRPr lang="en-US" sz="1100" dirty="0"/>
          </a:p>
        </p:txBody>
      </p:sp>
      <p:sp>
        <p:nvSpPr>
          <p:cNvPr id="11" name="Text 9"/>
          <p:cNvSpPr txBox="1"/>
          <p:nvPr/>
        </p:nvSpPr>
        <p:spPr>
          <a:xfrm>
            <a:off x="2926080" y="2331720"/>
            <a:ext cx="1920240" cy="594360"/>
          </a:xfrm>
          <a:prstGeom prst="rect">
            <a:avLst/>
          </a:prstGeom>
          <a:noFill/>
          <a:ln/>
        </p:spPr>
        <p:txBody>
          <a:bodyPr wrap="square" lIns="0" tIns="0" rIns="0" bIns="0" rtlCol="0" anchor="t"/>
          <a:lstStyle/>
          <a:p>
            <a:pPr indent="0" marL="0">
              <a:buNone/>
            </a:pPr>
            <a:r>
              <a:rPr lang="en-US" sz="1150" dirty="0">
                <a:solidFill>
                  <a:srgbClr val="043F52"/>
                </a:solidFill>
                <a:latin typeface="Calibri" pitchFamily="34" charset="0"/>
                <a:ea typeface="Calibri" pitchFamily="34" charset="-122"/>
                <a:cs typeface="Calibri" pitchFamily="34" charset="-120"/>
              </a:rPr>
              <a:t>B ordena la otra mitad con cuotas por regional y toma sus 4.800 mejores.</a:t>
            </a:r>
            <a:endParaRPr lang="en-US" sz="1150" dirty="0"/>
          </a:p>
        </p:txBody>
      </p:sp>
      <p:sp>
        <p:nvSpPr>
          <p:cNvPr id="12" name="Grupo de control"/>
          <p:cNvSpPr/>
          <p:nvPr/>
        </p:nvSpPr>
        <p:spPr>
          <a:xfrm>
            <a:off x="5120640" y="1965960"/>
            <a:ext cx="2194560" cy="1051560"/>
          </a:xfrm>
          <a:prstGeom prst="roundRect">
            <a:avLst>
              <a:gd name="adj" fmla="val 10435"/>
            </a:avLst>
          </a:prstGeom>
          <a:solidFill>
            <a:srgbClr val="D4C8FE"/>
          </a:solidFill>
          <a:ln w="12700">
            <a:solidFill>
              <a:srgbClr val="D4C8FE"/>
            </a:solidFill>
            <a:prstDash val="solid"/>
          </a:ln>
        </p:spPr>
      </p:sp>
      <p:sp>
        <p:nvSpPr>
          <p:cNvPr id="13" name="Text 11"/>
          <p:cNvSpPr txBox="1"/>
          <p:nvPr/>
        </p:nvSpPr>
        <p:spPr>
          <a:xfrm>
            <a:off x="5257800" y="2057400"/>
            <a:ext cx="1920240" cy="256032"/>
          </a:xfrm>
          <a:prstGeom prst="rect">
            <a:avLst/>
          </a:prstGeom>
          <a:noFill/>
          <a:ln/>
        </p:spPr>
        <p:txBody>
          <a:bodyPr wrap="square" lIns="0" tIns="0" rIns="0" bIns="0" rtlCol="0" anchor="ctr"/>
          <a:lstStyle/>
          <a:p>
            <a:pPr indent="0" marL="0">
              <a:buNone/>
            </a:pPr>
            <a:r>
              <a:rPr lang="en-US" sz="1100" b="1" dirty="0">
                <a:solidFill>
                  <a:srgbClr val="043F52"/>
                </a:solidFill>
                <a:latin typeface="Calibri" pitchFamily="34" charset="0"/>
                <a:ea typeface="Calibri" pitchFamily="34" charset="-122"/>
                <a:cs typeface="Calibri" pitchFamily="34" charset="-120"/>
              </a:rPr>
              <a:t>Grupo de control</a:t>
            </a:r>
            <a:endParaRPr lang="en-US" sz="1100" dirty="0"/>
          </a:p>
        </p:txBody>
      </p:sp>
      <p:sp>
        <p:nvSpPr>
          <p:cNvPr id="14" name="Text 12"/>
          <p:cNvSpPr txBox="1"/>
          <p:nvPr/>
        </p:nvSpPr>
        <p:spPr>
          <a:xfrm>
            <a:off x="5257800" y="2331720"/>
            <a:ext cx="1920240" cy="594360"/>
          </a:xfrm>
          <a:prstGeom prst="rect">
            <a:avLst/>
          </a:prstGeom>
          <a:noFill/>
          <a:ln/>
        </p:spPr>
        <p:txBody>
          <a:bodyPr wrap="square" lIns="0" tIns="0" rIns="0" bIns="0" rtlCol="0" anchor="t"/>
          <a:lstStyle/>
          <a:p>
            <a:pPr indent="0" marL="0">
              <a:buNone/>
            </a:pPr>
            <a:r>
              <a:rPr lang="en-US" sz="1150" dirty="0">
                <a:solidFill>
                  <a:srgbClr val="043F52"/>
                </a:solidFill>
                <a:latin typeface="Calibri" pitchFamily="34" charset="0"/>
                <a:ea typeface="Calibri" pitchFamily="34" charset="-122"/>
                <a:cs typeface="Calibri" pitchFamily="34" charset="-120"/>
              </a:rPr>
              <a:t>800 de esos 4.800, elegidos al azar, no se contactan: son el grupo de control.</a:t>
            </a:r>
            <a:endParaRPr lang="en-US" sz="1150" dirty="0"/>
          </a:p>
        </p:txBody>
      </p:sp>
      <p:sp>
        <p:nvSpPr>
          <p:cNvPr id="15" name="Text 13"/>
          <p:cNvSpPr txBox="1"/>
          <p:nvPr/>
        </p:nvSpPr>
        <p:spPr>
          <a:xfrm>
            <a:off x="457200" y="3127248"/>
            <a:ext cx="6858000" cy="1463040"/>
          </a:xfrm>
          <a:prstGeom prst="rect">
            <a:avLst/>
          </a:prstGeom>
          <a:noFill/>
          <a:ln/>
        </p:spPr>
        <p:txBody>
          <a:bodyPr wrap="square" lIns="0" tIns="0" rIns="0" bIns="0" rtlCol="0" anchor="t"/>
          <a:lstStyle/>
          <a:p>
            <a:pPr marL="177800" indent="-177800">
              <a:spcAft>
                <a:spcPts val="200"/>
              </a:spcAft>
              <a:buSzPct val="100000"/>
              <a:buChar char="•"/>
            </a:pPr>
            <a:r>
              <a:rPr lang="en-US" sz="1100" b="1" dirty="0">
                <a:solidFill>
                  <a:srgbClr val="043F52"/>
                </a:solidFill>
                <a:latin typeface="Calibri" pitchFamily="34" charset="0"/>
                <a:ea typeface="Calibri" pitchFamily="34" charset="-122"/>
                <a:cs typeface="Calibri" pitchFamily="34" charset="-120"/>
              </a:rPr>
              <a:t>Calidad de la lista: </a:t>
            </a:r>
            <a:pPr indent="0" marL="0">
              <a:spcAft>
                <a:spcPts val="200"/>
              </a:spcAft>
              <a:buNone/>
            </a:pPr>
            <a:r>
              <a:rPr lang="en-US" sz="1100" dirty="0">
                <a:solidFill>
                  <a:srgbClr val="043F52"/>
                </a:solidFill>
                <a:latin typeface="Calibri" pitchFamily="34" charset="0"/>
                <a:ea typeface="Calibri" pitchFamily="34" charset="-122"/>
                <a:cs typeface="Calibri" pitchFamily="34" charset="-120"/>
              </a:rPr>
              <a:t>una mejora de 3,6 % a 5,4 % se detecta en un mes con 4.000 contactos por brazo.</a:t>
            </a:r>
            <a:endParaRPr lang="en-US" sz="1100" dirty="0"/>
          </a:p>
          <a:p>
            <a:pPr marL="177800" indent="-177800">
              <a:spcAft>
                <a:spcPts val="200"/>
              </a:spcAft>
              <a:buSzPct val="100000"/>
              <a:buChar char="•"/>
            </a:pPr>
            <a:r>
              <a:rPr lang="en-US" sz="1100" b="1" dirty="0">
                <a:solidFill>
                  <a:srgbClr val="043F52"/>
                </a:solidFill>
                <a:latin typeface="Calibri" pitchFamily="34" charset="0"/>
                <a:ea typeface="Calibri" pitchFamily="34" charset="-122"/>
                <a:cs typeface="Calibri" pitchFamily="34" charset="-120"/>
              </a:rPr>
              <a:t>Efecto del contacto: </a:t>
            </a:r>
            <a:pPr indent="0" marL="0">
              <a:spcAft>
                <a:spcPts val="200"/>
              </a:spcAft>
              <a:buNone/>
            </a:pPr>
            <a:r>
              <a:rPr lang="en-US" sz="1100" dirty="0">
                <a:solidFill>
                  <a:srgbClr val="043F52"/>
                </a:solidFill>
                <a:latin typeface="Calibri" pitchFamily="34" charset="0"/>
                <a:ea typeface="Calibri" pitchFamily="34" charset="-122"/>
                <a:cs typeface="Calibri" pitchFamily="34" charset="-120"/>
              </a:rPr>
              <a:t>si el contacto añade 3,8 puntos sobre el 5 % que renueva solo, el grupo de control lo muestra en menos de un mes; si añade 1,7, en poco más de dos.</a:t>
            </a:r>
            <a:endParaRPr lang="en-US" sz="1100" dirty="0"/>
          </a:p>
          <a:p>
            <a:pPr marL="177800" indent="-177800">
              <a:spcAft>
                <a:spcPts val="200"/>
              </a:spcAft>
              <a:buSzPct val="100000"/>
              <a:buChar char="•"/>
            </a:pPr>
            <a:r>
              <a:rPr lang="en-US" sz="1100" b="1" dirty="0">
                <a:solidFill>
                  <a:srgbClr val="043F52"/>
                </a:solidFill>
                <a:latin typeface="Calibri" pitchFamily="34" charset="0"/>
                <a:ea typeface="Calibri" pitchFamily="34" charset="-122"/>
                <a:cs typeface="Calibri" pitchFamily="34" charset="-120"/>
              </a:rPr>
              <a:t>Riesgo: </a:t>
            </a:r>
            <a:pPr indent="0" marL="0">
              <a:spcAft>
                <a:spcPts val="200"/>
              </a:spcAft>
              <a:buNone/>
            </a:pPr>
            <a:r>
              <a:rPr lang="en-US" sz="1100" dirty="0">
                <a:solidFill>
                  <a:srgbClr val="043F52"/>
                </a:solidFill>
                <a:latin typeface="Calibri" pitchFamily="34" charset="0"/>
                <a:ea typeface="Calibri" pitchFamily="34" charset="-122"/>
                <a:cs typeface="Calibri" pitchFamily="34" charset="-120"/>
              </a:rPr>
              <a:t>no se prueba aquí. Mismo corte de Riesgos en ambos brazos y seguimiento de la mora de cada cosecha.</a:t>
            </a:r>
            <a:endParaRPr lang="en-US" sz="1100" dirty="0"/>
          </a:p>
          <a:p>
            <a:pPr marL="177800" indent="-177800">
              <a:spcAft>
                <a:spcPts val="200"/>
              </a:spcAft>
              <a:buSzPct val="100000"/>
              <a:buChar char="•"/>
            </a:pPr>
            <a:r>
              <a:rPr lang="en-US" sz="1100" b="1" dirty="0">
                <a:solidFill>
                  <a:srgbClr val="043F52"/>
                </a:solidFill>
                <a:latin typeface="Calibri" pitchFamily="34" charset="0"/>
                <a:ea typeface="Calibri" pitchFamily="34" charset="-122"/>
                <a:cs typeface="Calibri" pitchFamily="34" charset="-120"/>
              </a:rPr>
              <a:t>Límite: </a:t>
            </a:r>
            <a:pPr indent="0" marL="0">
              <a:spcAft>
                <a:spcPts val="200"/>
              </a:spcAft>
              <a:buNone/>
            </a:pPr>
            <a:r>
              <a:rPr lang="en-US" sz="1100" dirty="0">
                <a:solidFill>
                  <a:srgbClr val="043F52"/>
                </a:solidFill>
                <a:latin typeface="Calibri" pitchFamily="34" charset="0"/>
                <a:ea typeface="Calibri" pitchFamily="34" charset="-122"/>
                <a:cs typeface="Calibri" pitchFamily="34" charset="-120"/>
              </a:rPr>
              <a:t>no mediremos si la herramienta actual crea renovaciones; añadir 400 de control allí costaría unos 2,3 millones al mes.</a:t>
            </a:r>
            <a:endParaRPr lang="en-US" sz="1100" dirty="0"/>
          </a:p>
        </p:txBody>
      </p:sp>
      <p:sp>
        <p:nvSpPr>
          <p:cNvPr id="16" name="Text 14"/>
          <p:cNvSpPr txBox="1"/>
          <p:nvPr/>
        </p:nvSpPr>
        <p:spPr>
          <a:xfrm>
            <a:off x="7589520" y="1645920"/>
            <a:ext cx="4142232" cy="292608"/>
          </a:xfrm>
          <a:prstGeom prst="rect">
            <a:avLst/>
          </a:prstGeom>
          <a:noFill/>
          <a:ln/>
        </p:spPr>
        <p:txBody>
          <a:bodyPr wrap="square" lIns="0" tIns="0" rIns="0" bIns="0" rtlCol="0" anchor="ctr"/>
          <a:lstStyle/>
          <a:p>
            <a:pPr indent="0" marL="0">
              <a:buNone/>
            </a:pPr>
            <a:r>
              <a:rPr lang="en-US" sz="1200" b="1" dirty="0">
                <a:solidFill>
                  <a:srgbClr val="043F52"/>
                </a:solidFill>
                <a:latin typeface="Calibri" pitchFamily="34" charset="0"/>
                <a:ea typeface="Calibri" pitchFamily="34" charset="-122"/>
                <a:cs typeface="Calibri" pitchFamily="34" charset="-120"/>
              </a:rPr>
              <a:t>Reglas de decisión, escritas antes del piloto</a:t>
            </a:r>
            <a:endParaRPr lang="en-US" sz="1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7589520" y="1965960"/>
          <a:ext cx="4142232" cy="914400"/>
        </p:xfrm>
        <a:graphic>
          <a:graphicData uri="http://schemas.openxmlformats.org/drawingml/2006/table">
            <a:tbl>
              <a:tblPr/>
              <a:tblGrid>
                <a:gridCol w="2057400"/>
                <a:gridCol w="2084832"/>
              </a:tblGrid>
              <a:tr h="329184">
                <a:tc>
                  <a:txBody>
                    <a:bodyPr/>
                    <a:lstStyle/>
                    <a:p>
                      <a:pPr indent="0" marL="0">
                        <a:buNone/>
                      </a:pPr>
                      <a:r>
                        <a:rPr lang="en-US" sz="1050" b="1" dirty="0">
                          <a:solidFill>
                            <a:srgbClr val="043F52"/>
                          </a:solidFill>
                          <a:latin typeface="Calibri" pitchFamily="34" charset="0"/>
                          <a:ea typeface="Calibri" pitchFamily="34" charset="-122"/>
                          <a:cs typeface="Calibri" pitchFamily="34" charset="-120"/>
                        </a:rPr>
                        <a:t>Criterio</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solidFill>
                      <a:srgbClr val="EEF8F7"/>
                    </a:solidFill>
                  </a:tcPr>
                </a:tc>
                <a:tc>
                  <a:txBody>
                    <a:bodyPr/>
                    <a:lstStyle/>
                    <a:p>
                      <a:pPr indent="0" marL="0">
                        <a:buNone/>
                      </a:pPr>
                      <a:r>
                        <a:rPr lang="en-US" sz="1050" b="1" dirty="0">
                          <a:solidFill>
                            <a:srgbClr val="043F52"/>
                          </a:solidFill>
                          <a:latin typeface="Calibri" pitchFamily="34" charset="0"/>
                          <a:ea typeface="Calibri" pitchFamily="34" charset="-122"/>
                          <a:cs typeface="Calibri" pitchFamily="34" charset="-120"/>
                        </a:rPr>
                        <a:t>Se adopta si</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solidFill>
                      <a:srgbClr val="EEF8F7"/>
                    </a:solidFill>
                  </a:tcPr>
                </a:tc>
              </a:tr>
              <a:tr h="329184">
                <a:tc>
                  <a:txBody>
                    <a:bodyPr/>
                    <a:lstStyle/>
                    <a:p>
                      <a:pPr indent="0" marL="0">
                        <a:buNone/>
                      </a:pPr>
                      <a:r>
                        <a:rPr lang="en-US" sz="1050" dirty="0">
                          <a:solidFill>
                            <a:srgbClr val="043F52"/>
                          </a:solidFill>
                          <a:latin typeface="Calibri" pitchFamily="34" charset="0"/>
                          <a:ea typeface="Calibri" pitchFamily="34" charset="-122"/>
                          <a:cs typeface="Calibri" pitchFamily="34" charset="-120"/>
                        </a:rPr>
                        <a:t>La lista nueva convierte más que la actual</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tcPr>
                </a:tc>
                <a:tc>
                  <a:txBody>
                    <a:bodyPr/>
                    <a:lstStyle/>
                    <a:p>
                      <a:pPr indent="0" marL="0">
                        <a:buNone/>
                      </a:pPr>
                      <a:r>
                        <a:rPr lang="en-US" sz="1050" dirty="0">
                          <a:solidFill>
                            <a:srgbClr val="043F52"/>
                          </a:solidFill>
                          <a:latin typeface="Calibri" pitchFamily="34" charset="0"/>
                          <a:ea typeface="Calibri" pitchFamily="34" charset="-122"/>
                          <a:cs typeface="Calibri" pitchFamily="34" charset="-120"/>
                        </a:rPr>
                        <a:t>al menos 1,5 puntos más, con diferencia estadísticamente clara</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tcPr>
                </a:tc>
              </a:tr>
              <a:tr h="329184">
                <a:tc>
                  <a:txBody>
                    <a:bodyPr/>
                    <a:lstStyle/>
                    <a:p>
                      <a:pPr indent="0" marL="0">
                        <a:buNone/>
                      </a:pPr>
                      <a:r>
                        <a:rPr lang="en-US" sz="1050" dirty="0">
                          <a:solidFill>
                            <a:srgbClr val="043F52"/>
                          </a:solidFill>
                          <a:latin typeface="Calibri" pitchFamily="34" charset="0"/>
                          <a:ea typeface="Calibri" pitchFamily="34" charset="-122"/>
                          <a:cs typeface="Calibri" pitchFamily="34" charset="-120"/>
                        </a:rPr>
                        <a:t>Contactar crea renovaciones frente al grupo de control</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tcPr>
                </a:tc>
                <a:tc>
                  <a:txBody>
                    <a:bodyPr/>
                    <a:lstStyle/>
                    <a:p>
                      <a:pPr indent="0" marL="0">
                        <a:buNone/>
                      </a:pPr>
                      <a:r>
                        <a:rPr lang="en-US" sz="1050" dirty="0">
                          <a:solidFill>
                            <a:srgbClr val="043F52"/>
                          </a:solidFill>
                          <a:latin typeface="Calibri" pitchFamily="34" charset="0"/>
                          <a:ea typeface="Calibri" pitchFamily="34" charset="-122"/>
                          <a:cs typeface="Calibri" pitchFamily="34" charset="-120"/>
                        </a:rPr>
                        <a:t>diferencia estadísticamente clara</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tcPr>
                </a:tc>
              </a:tr>
              <a:tr h="329184">
                <a:tc>
                  <a:txBody>
                    <a:bodyPr/>
                    <a:lstStyle/>
                    <a:p>
                      <a:pPr indent="0" marL="0">
                        <a:buNone/>
                      </a:pPr>
                      <a:r>
                        <a:rPr lang="en-US" sz="1050" dirty="0">
                          <a:solidFill>
                            <a:srgbClr val="043F52"/>
                          </a:solidFill>
                          <a:latin typeface="Calibri" pitchFamily="34" charset="0"/>
                          <a:ea typeface="Calibri" pitchFamily="34" charset="-122"/>
                          <a:cs typeface="Calibri" pitchFamily="34" charset="-120"/>
                        </a:rPr>
                        <a:t>Mora 30+ de renovados</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tcPr>
                </a:tc>
                <a:tc>
                  <a:txBody>
                    <a:bodyPr/>
                    <a:lstStyle/>
                    <a:p>
                      <a:pPr indent="0" marL="0">
                        <a:buNone/>
                      </a:pPr>
                      <a:r>
                        <a:rPr lang="en-US" sz="1050" dirty="0">
                          <a:solidFill>
                            <a:srgbClr val="043F52"/>
                          </a:solidFill>
                          <a:latin typeface="Calibri" pitchFamily="34" charset="0"/>
                          <a:ea typeface="Calibri" pitchFamily="34" charset="-122"/>
                          <a:cs typeface="Calibri" pitchFamily="34" charset="-120"/>
                        </a:rPr>
                        <a:t>no supera la actual en más de 1 punto</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tcPr>
                </a:tc>
              </a:tr>
              <a:tr h="329184">
                <a:tc>
                  <a:txBody>
                    <a:bodyPr/>
                    <a:lstStyle/>
                    <a:p>
                      <a:pPr indent="0" marL="0">
                        <a:buNone/>
                      </a:pPr>
                      <a:r>
                        <a:rPr lang="en-US" sz="1050" dirty="0">
                          <a:solidFill>
                            <a:srgbClr val="043F52"/>
                          </a:solidFill>
                          <a:latin typeface="Calibri" pitchFamily="34" charset="0"/>
                          <a:ea typeface="Calibri" pitchFamily="34" charset="-122"/>
                          <a:cs typeface="Calibri" pitchFamily="34" charset="-120"/>
                        </a:rPr>
                        <a:t>Quejas y bajas por 1.000</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tcPr>
                </a:tc>
                <a:tc>
                  <a:txBody>
                    <a:bodyPr/>
                    <a:lstStyle/>
                    <a:p>
                      <a:pPr indent="0" marL="0">
                        <a:buNone/>
                      </a:pPr>
                      <a:r>
                        <a:rPr lang="en-US" sz="1050" dirty="0">
                          <a:solidFill>
                            <a:srgbClr val="043F52"/>
                          </a:solidFill>
                          <a:latin typeface="Calibri" pitchFamily="34" charset="0"/>
                          <a:ea typeface="Calibri" pitchFamily="34" charset="-122"/>
                          <a:cs typeface="Calibri" pitchFamily="34" charset="-120"/>
                        </a:rPr>
                        <a:t>no peores que hoy</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tcPr>
                </a:tc>
              </a:tr>
              <a:tr h="329184">
                <a:tc>
                  <a:txBody>
                    <a:bodyPr/>
                    <a:lstStyle/>
                    <a:p>
                      <a:pPr indent="0" marL="0">
                        <a:buNone/>
                      </a:pPr>
                      <a:r>
                        <a:rPr lang="en-US" sz="1050" dirty="0">
                          <a:solidFill>
                            <a:srgbClr val="043F52"/>
                          </a:solidFill>
                          <a:latin typeface="Calibri" pitchFamily="34" charset="0"/>
                          <a:ea typeface="Calibri" pitchFamily="34" charset="-122"/>
                          <a:cs typeface="Calibri" pitchFamily="34" charset="-120"/>
                        </a:rPr>
                        <a:t>La lista se ejecutó y la asignación al azar se cumplió</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tcPr>
                </a:tc>
                <a:tc>
                  <a:txBody>
                    <a:bodyPr/>
                    <a:lstStyle/>
                    <a:p>
                      <a:pPr indent="0" marL="0">
                        <a:buNone/>
                      </a:pPr>
                      <a:r>
                        <a:rPr lang="en-US" sz="1050" dirty="0">
                          <a:solidFill>
                            <a:srgbClr val="043F52"/>
                          </a:solidFill>
                          <a:latin typeface="Calibri" pitchFamily="34" charset="0"/>
                          <a:ea typeface="Calibri" pitchFamily="34" charset="-122"/>
                          <a:cs typeface="Calibri" pitchFamily="34" charset="-120"/>
                        </a:rPr>
                        <a:t>al menos 90 % por regional; sin sesgo de asignación</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tcPr>
                </a:tc>
              </a:tr>
            </a:tbl>
          </a:graphicData>
        </a:graphic>
      </p:graphicFrame>
      <p:sp>
        <p:nvSpPr>
          <p:cNvPr id="18" name="Text 15"/>
          <p:cNvSpPr txBox="1"/>
          <p:nvPr/>
        </p:nvSpPr>
        <p:spPr>
          <a:xfrm>
            <a:off x="457200" y="4343400"/>
            <a:ext cx="6858000" cy="292608"/>
          </a:xfrm>
          <a:prstGeom prst="rect">
            <a:avLst/>
          </a:prstGeom>
          <a:noFill/>
          <a:ln/>
        </p:spPr>
        <p:txBody>
          <a:bodyPr wrap="square" lIns="0" tIns="0" rIns="0" bIns="0" rtlCol="0" anchor="ctr"/>
          <a:lstStyle/>
          <a:p>
            <a:pPr indent="0" marL="0">
              <a:buNone/>
            </a:pPr>
            <a:r>
              <a:rPr lang="en-US" sz="1200" b="1" dirty="0">
                <a:solidFill>
                  <a:srgbClr val="043F52"/>
                </a:solidFill>
                <a:latin typeface="Calibri" pitchFamily="34" charset="0"/>
                <a:ea typeface="Calibri" pitchFamily="34" charset="-122"/>
                <a:cs typeface="Calibri" pitchFamily="34" charset="-120"/>
              </a:rPr>
              <a:t>Monitoreo durante los tres meses</a:t>
            </a:r>
            <a:endParaRPr lang="en-US" sz="1200" dirty="0"/>
          </a:p>
        </p:txBody>
      </p:sp>
      <p:graphicFrame>
        <p:nvGraphicFramePr>
          <p:cNvPr id="11" name="Table 1"/>
          <p:cNvGraphicFramePr>
            <a:graphicFrameLocks noGrp="1"/>
          </p:cNvGraphicFramePr>
          <p:nvPr>
            <p:extLst>
              <p:ext uri="{D42A27DB-BD31-4B8C-83A1-F6EECF244321}">
                <p14:modId xmlns:p14="http://schemas.microsoft.com/office/powerpoint/2010/main" val="1579011935"/>
              </p:ext>
            </p:extLst>
          </p:nvPr>
        </p:nvGraphicFramePr>
        <p:xfrm>
          <a:off x="457200" y="4636008"/>
          <a:ext cx="6858000" cy="914400"/>
        </p:xfrm>
        <a:graphic>
          <a:graphicData uri="http://schemas.openxmlformats.org/drawingml/2006/table">
            <a:tbl>
              <a:tblPr/>
              <a:tblGrid>
                <a:gridCol w="960120"/>
                <a:gridCol w="3337560"/>
                <a:gridCol w="2560320"/>
              </a:tblGrid>
              <a:tr h="196596">
                <a:tc>
                  <a:txBody>
                    <a:bodyPr/>
                    <a:lstStyle/>
                    <a:p>
                      <a:pPr indent="0" marL="0">
                        <a:buNone/>
                      </a:pPr>
                      <a:r>
                        <a:rPr lang="en-US" sz="1050" b="1" dirty="0">
                          <a:solidFill>
                            <a:srgbClr val="043F52"/>
                          </a:solidFill>
                          <a:latin typeface="Calibri" pitchFamily="34" charset="0"/>
                          <a:ea typeface="Calibri" pitchFamily="34" charset="-122"/>
                          <a:cs typeface="Calibri" pitchFamily="34" charset="-120"/>
                        </a:rPr>
                        <a:t>Dimensión</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solidFill>
                      <a:srgbClr val="EEF8F7"/>
                    </a:solidFill>
                  </a:tcPr>
                </a:tc>
                <a:tc>
                  <a:txBody>
                    <a:bodyPr/>
                    <a:lstStyle/>
                    <a:p>
                      <a:pPr indent="0" marL="0">
                        <a:buNone/>
                      </a:pPr>
                      <a:r>
                        <a:rPr lang="en-US" sz="1050" b="1" dirty="0">
                          <a:solidFill>
                            <a:srgbClr val="043F52"/>
                          </a:solidFill>
                          <a:latin typeface="Calibri" pitchFamily="34" charset="0"/>
                          <a:ea typeface="Calibri" pitchFamily="34" charset="-122"/>
                          <a:cs typeface="Calibri" pitchFamily="34" charset="-120"/>
                        </a:rPr>
                        <a:t>Qué se vigila</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solidFill>
                      <a:srgbClr val="EEF8F7"/>
                    </a:solidFill>
                  </a:tcPr>
                </a:tc>
                <a:tc>
                  <a:txBody>
                    <a:bodyPr/>
                    <a:lstStyle/>
                    <a:p>
                      <a:pPr indent="0" marL="0">
                        <a:buNone/>
                      </a:pPr>
                      <a:r>
                        <a:rPr lang="en-US" sz="1050" b="1" dirty="0">
                          <a:solidFill>
                            <a:srgbClr val="043F52"/>
                          </a:solidFill>
                          <a:latin typeface="Calibri" pitchFamily="34" charset="0"/>
                          <a:ea typeface="Calibri" pitchFamily="34" charset="-122"/>
                          <a:cs typeface="Calibri" pitchFamily="34" charset="-120"/>
                        </a:rPr>
                        <a:t>Acción</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solidFill>
                      <a:srgbClr val="EEF8F7"/>
                    </a:solidFill>
                  </a:tcPr>
                </a:tc>
              </a:tr>
              <a:tr h="196596">
                <a:tc>
                  <a:txBody>
                    <a:bodyPr/>
                    <a:lstStyle/>
                    <a:p>
                      <a:pPr indent="0" marL="0">
                        <a:buNone/>
                      </a:pPr>
                      <a:r>
                        <a:rPr lang="en-US" sz="1050" dirty="0">
                          <a:solidFill>
                            <a:srgbClr val="043F52"/>
                          </a:solidFill>
                          <a:latin typeface="Calibri" pitchFamily="34" charset="0"/>
                          <a:ea typeface="Calibri" pitchFamily="34" charset="-122"/>
                          <a:cs typeface="Calibri" pitchFamily="34" charset="-120"/>
                        </a:rPr>
                        <a:t>Datos</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tcPr>
                </a:tc>
                <a:tc>
                  <a:txBody>
                    <a:bodyPr/>
                    <a:lstStyle/>
                    <a:p>
                      <a:pPr indent="0" marL="0">
                        <a:buNone/>
                      </a:pPr>
                      <a:r>
                        <a:rPr lang="en-US" sz="1050" dirty="0">
                          <a:solidFill>
                            <a:srgbClr val="043F52"/>
                          </a:solidFill>
                          <a:latin typeface="Calibri" pitchFamily="34" charset="0"/>
                          <a:ea typeface="Calibri" pitchFamily="34" charset="-122"/>
                          <a:cs typeface="Calibri" pitchFamily="34" charset="-120"/>
                        </a:rPr>
                        <a:t>Validación de cada corte: formatos, rangos y fechas</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tcPr>
                </a:tc>
                <a:tc>
                  <a:txBody>
                    <a:bodyPr/>
                    <a:lstStyle/>
                    <a:p>
                      <a:pPr indent="0" marL="0">
                        <a:buNone/>
                      </a:pPr>
                      <a:r>
                        <a:rPr lang="en-US" sz="1050" dirty="0">
                          <a:solidFill>
                            <a:srgbClr val="043F52"/>
                          </a:solidFill>
                          <a:latin typeface="Calibri" pitchFamily="34" charset="0"/>
                          <a:ea typeface="Calibri" pitchFamily="34" charset="-122"/>
                          <a:cs typeface="Calibri" pitchFamily="34" charset="-120"/>
                        </a:rPr>
                        <a:t>Si falla, no se puntúa</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tcPr>
                </a:tc>
              </a:tr>
              <a:tr h="196596">
                <a:tc>
                  <a:txBody>
                    <a:bodyPr/>
                    <a:lstStyle/>
                    <a:p>
                      <a:pPr indent="0" marL="0">
                        <a:buNone/>
                      </a:pPr>
                      <a:r>
                        <a:rPr lang="en-US" sz="1050" dirty="0">
                          <a:solidFill>
                            <a:srgbClr val="043F52"/>
                          </a:solidFill>
                          <a:latin typeface="Calibri" pitchFamily="34" charset="0"/>
                          <a:ea typeface="Calibri" pitchFamily="34" charset="-122"/>
                          <a:cs typeface="Calibri" pitchFamily="34" charset="-120"/>
                        </a:rPr>
                        <a:t>Población</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tcPr>
                </a:tc>
                <a:tc>
                  <a:txBody>
                    <a:bodyPr/>
                    <a:lstStyle/>
                    <a:p>
                      <a:pPr indent="0" marL="0">
                        <a:buNone/>
                      </a:pPr>
                      <a:r>
                        <a:rPr lang="en-US" sz="1050" dirty="0">
                          <a:solidFill>
                            <a:srgbClr val="043F52"/>
                          </a:solidFill>
                          <a:latin typeface="Calibri" pitchFamily="34" charset="0"/>
                          <a:ea typeface="Calibri" pitchFamily="34" charset="-122"/>
                          <a:cs typeface="Calibri" pitchFamily="34" charset="-120"/>
                        </a:rPr>
                        <a:t>Cambios en la población (PSI del score y de cada variable)</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tcPr>
                </a:tc>
                <a:tc>
                  <a:txBody>
                    <a:bodyPr/>
                    <a:lstStyle/>
                    <a:p>
                      <a:pPr indent="0" marL="0">
                        <a:buNone/>
                      </a:pPr>
                      <a:r>
                        <a:rPr lang="en-US" sz="1050" dirty="0">
                          <a:solidFill>
                            <a:srgbClr val="043F52"/>
                          </a:solidFill>
                          <a:latin typeface="Calibri" pitchFamily="34" charset="0"/>
                          <a:ea typeface="Calibri" pitchFamily="34" charset="-122"/>
                          <a:cs typeface="Calibri" pitchFamily="34" charset="-120"/>
                        </a:rPr>
                        <a:t>Investigar desde 0,10; revalidar desde 0,25</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tcPr>
                </a:tc>
              </a:tr>
              <a:tr h="196596">
                <a:tc>
                  <a:txBody>
                    <a:bodyPr/>
                    <a:lstStyle/>
                    <a:p>
                      <a:pPr indent="0" marL="0">
                        <a:buNone/>
                      </a:pPr>
                      <a:r>
                        <a:rPr lang="en-US" sz="1050" dirty="0">
                          <a:solidFill>
                            <a:srgbClr val="043F52"/>
                          </a:solidFill>
                          <a:latin typeface="Calibri" pitchFamily="34" charset="0"/>
                          <a:ea typeface="Calibri" pitchFamily="34" charset="-122"/>
                          <a:cs typeface="Calibri" pitchFamily="34" charset="-120"/>
                        </a:rPr>
                        <a:t>Desempeño</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tcPr>
                </a:tc>
                <a:tc>
                  <a:txBody>
                    <a:bodyPr/>
                    <a:lstStyle/>
                    <a:p>
                      <a:pPr indent="0" marL="0">
                        <a:buNone/>
                      </a:pPr>
                      <a:r>
                        <a:rPr lang="en-US" sz="1050" dirty="0">
                          <a:solidFill>
                            <a:srgbClr val="043F52"/>
                          </a:solidFill>
                          <a:latin typeface="Calibri" pitchFamily="34" charset="0"/>
                          <a:ea typeface="Calibri" pitchFamily="34" charset="-122"/>
                          <a:cs typeface="Calibri" pitchFamily="34" charset="-120"/>
                        </a:rPr>
                        <a:t>Resultado real del modelo cuando el dato madura (30 a 60 días)</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tcPr>
                </a:tc>
                <a:tc>
                  <a:txBody>
                    <a:bodyPr/>
                    <a:lstStyle/>
                    <a:p>
                      <a:pPr indent="0" marL="0">
                        <a:buNone/>
                      </a:pPr>
                      <a:r>
                        <a:rPr lang="en-US" sz="1050" dirty="0">
                          <a:solidFill>
                            <a:srgbClr val="043F52"/>
                          </a:solidFill>
                          <a:latin typeface="Calibri" pitchFamily="34" charset="0"/>
                          <a:ea typeface="Calibri" pitchFamily="34" charset="-122"/>
                          <a:cs typeface="Calibri" pitchFamily="34" charset="-120"/>
                        </a:rPr>
                        <a:t>Recalibrar o volver a la herramienta actual</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tcPr>
                </a:tc>
              </a:tr>
              <a:tr h="196596">
                <a:tc>
                  <a:txBody>
                    <a:bodyPr/>
                    <a:lstStyle/>
                    <a:p>
                      <a:pPr indent="0" marL="0">
                        <a:buNone/>
                      </a:pPr>
                      <a:r>
                        <a:rPr lang="en-US" sz="1050" dirty="0">
                          <a:solidFill>
                            <a:srgbClr val="043F52"/>
                          </a:solidFill>
                          <a:latin typeface="Calibri" pitchFamily="34" charset="0"/>
                          <a:ea typeface="Calibri" pitchFamily="34" charset="-122"/>
                          <a:cs typeface="Calibri" pitchFamily="34" charset="-120"/>
                        </a:rPr>
                        <a:t>Riesgo</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tcPr>
                </a:tc>
                <a:tc>
                  <a:txBody>
                    <a:bodyPr/>
                    <a:lstStyle/>
                    <a:p>
                      <a:pPr indent="0" marL="0">
                        <a:buNone/>
                      </a:pPr>
                      <a:r>
                        <a:rPr lang="en-US" sz="1050" dirty="0">
                          <a:solidFill>
                            <a:srgbClr val="043F52"/>
                          </a:solidFill>
                          <a:latin typeface="Calibri" pitchFamily="34" charset="0"/>
                          <a:ea typeface="Calibri" pitchFamily="34" charset="-122"/>
                          <a:cs typeface="Calibri" pitchFamily="34" charset="-120"/>
                        </a:rPr>
                        <a:t>Mora 30+ de cada cosecha mensual, por brazo y regional</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tcPr>
                </a:tc>
                <a:tc>
                  <a:txBody>
                    <a:bodyPr/>
                    <a:lstStyle/>
                    <a:p>
                      <a:pPr indent="0" marL="0">
                        <a:buNone/>
                      </a:pPr>
                      <a:r>
                        <a:rPr lang="en-US" sz="1050" dirty="0">
                          <a:solidFill>
                            <a:srgbClr val="043F52"/>
                          </a:solidFill>
                          <a:latin typeface="Calibri" pitchFamily="34" charset="0"/>
                          <a:ea typeface="Calibri" pitchFamily="34" charset="-122"/>
                          <a:cs typeface="Calibri" pitchFamily="34" charset="-120"/>
                        </a:rPr>
                        <a:t>Endurecer el corte o pausar</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tcPr>
                </a:tc>
              </a:tr>
              <a:tr h="196596">
                <a:tc>
                  <a:txBody>
                    <a:bodyPr/>
                    <a:lstStyle/>
                    <a:p>
                      <a:pPr indent="0" marL="0">
                        <a:buNone/>
                      </a:pPr>
                      <a:r>
                        <a:rPr lang="en-US" sz="1050" dirty="0">
                          <a:solidFill>
                            <a:srgbClr val="043F52"/>
                          </a:solidFill>
                          <a:latin typeface="Calibri" pitchFamily="34" charset="0"/>
                          <a:ea typeface="Calibri" pitchFamily="34" charset="-122"/>
                          <a:cs typeface="Calibri" pitchFamily="34" charset="-120"/>
                        </a:rPr>
                        <a:t>Operación</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tcPr>
                </a:tc>
                <a:tc>
                  <a:txBody>
                    <a:bodyPr/>
                    <a:lstStyle/>
                    <a:p>
                      <a:pPr indent="0" marL="0">
                        <a:buNone/>
                      </a:pPr>
                      <a:r>
                        <a:rPr lang="en-US" sz="1050" dirty="0">
                          <a:solidFill>
                            <a:srgbClr val="043F52"/>
                          </a:solidFill>
                          <a:latin typeface="Calibri" pitchFamily="34" charset="0"/>
                          <a:ea typeface="Calibri" pitchFamily="34" charset="-122"/>
                          <a:cs typeface="Calibri" pitchFamily="34" charset="-120"/>
                        </a:rPr>
                        <a:t>Lista contactada por regional y semana</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tcPr>
                </a:tc>
                <a:tc>
                  <a:txBody>
                    <a:bodyPr/>
                    <a:lstStyle/>
                    <a:p>
                      <a:pPr indent="0" marL="0">
                        <a:buNone/>
                      </a:pPr>
                      <a:r>
                        <a:rPr lang="en-US" sz="1050" dirty="0">
                          <a:solidFill>
                            <a:srgbClr val="043F52"/>
                          </a:solidFill>
                          <a:latin typeface="Calibri" pitchFamily="34" charset="0"/>
                          <a:ea typeface="Calibri" pitchFamily="34" charset="-122"/>
                          <a:cs typeface="Calibri" pitchFamily="34" charset="-120"/>
                        </a:rPr>
                        <a:t>Reasignar cupos</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tcPr>
                </a:tc>
              </a:tr>
              <a:tr h="196596">
                <a:tc>
                  <a:txBody>
                    <a:bodyPr/>
                    <a:lstStyle/>
                    <a:p>
                      <a:pPr indent="0" marL="0">
                        <a:buNone/>
                      </a:pPr>
                      <a:r>
                        <a:rPr lang="en-US" sz="1050" dirty="0">
                          <a:solidFill>
                            <a:srgbClr val="043F52"/>
                          </a:solidFill>
                          <a:latin typeface="Calibri" pitchFamily="34" charset="0"/>
                          <a:ea typeface="Calibri" pitchFamily="34" charset="-122"/>
                          <a:cs typeface="Calibri" pitchFamily="34" charset="-120"/>
                        </a:rPr>
                        <a:t>Experiencia</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tcPr>
                </a:tc>
                <a:tc>
                  <a:txBody>
                    <a:bodyPr/>
                    <a:lstStyle/>
                    <a:p>
                      <a:pPr indent="0" marL="0">
                        <a:buNone/>
                      </a:pPr>
                      <a:r>
                        <a:rPr lang="en-US" sz="1050" dirty="0">
                          <a:solidFill>
                            <a:srgbClr val="043F52"/>
                          </a:solidFill>
                          <a:latin typeface="Calibri" pitchFamily="34" charset="0"/>
                          <a:ea typeface="Calibri" pitchFamily="34" charset="-122"/>
                          <a:cs typeface="Calibri" pitchFamily="34" charset="-120"/>
                        </a:rPr>
                        <a:t>Quejas y bajas por 1.000 contactos</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tcPr>
                </a:tc>
                <a:tc>
                  <a:txBody>
                    <a:bodyPr/>
                    <a:lstStyle/>
                    <a:p>
                      <a:pPr indent="0" marL="0">
                        <a:buNone/>
                      </a:pPr>
                      <a:r>
                        <a:rPr lang="en-US" sz="1050" dirty="0">
                          <a:solidFill>
                            <a:srgbClr val="043F52"/>
                          </a:solidFill>
                          <a:latin typeface="Calibri" pitchFamily="34" charset="0"/>
                          <a:ea typeface="Calibri" pitchFamily="34" charset="-122"/>
                          <a:cs typeface="Calibri" pitchFamily="34" charset="-120"/>
                        </a:rPr>
                        <a:t>Pausar</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tcPr>
                </a:tc>
              </a:tr>
            </a:tbl>
          </a:graphicData>
        </a:graphic>
      </p:graphicFrame>
      <p:sp>
        <p:nvSpPr>
          <p:cNvPr id="20" name="Text 16"/>
          <p:cNvSpPr txBox="1"/>
          <p:nvPr/>
        </p:nvSpPr>
        <p:spPr>
          <a:xfrm>
            <a:off x="7589520" y="4114800"/>
            <a:ext cx="4142232" cy="292608"/>
          </a:xfrm>
          <a:prstGeom prst="rect">
            <a:avLst/>
          </a:prstGeom>
          <a:noFill/>
          <a:ln/>
        </p:spPr>
        <p:txBody>
          <a:bodyPr wrap="square" lIns="0" tIns="0" rIns="0" bIns="0" rtlCol="0" anchor="ctr"/>
          <a:lstStyle/>
          <a:p>
            <a:pPr indent="0" marL="0">
              <a:buNone/>
            </a:pPr>
            <a:r>
              <a:rPr lang="en-US" sz="1200" b="1" dirty="0">
                <a:solidFill>
                  <a:srgbClr val="043F52"/>
                </a:solidFill>
                <a:latin typeface="Calibri" pitchFamily="34" charset="0"/>
                <a:ea typeface="Calibri" pitchFamily="34" charset="-122"/>
                <a:cs typeface="Calibri" pitchFamily="34" charset="-120"/>
              </a:rPr>
              <a:t>No se libera si</a:t>
            </a:r>
            <a:endParaRPr lang="en-US" sz="1200" dirty="0"/>
          </a:p>
        </p:txBody>
      </p:sp>
      <p:sp>
        <p:nvSpPr>
          <p:cNvPr id="21" name="Text 17"/>
          <p:cNvSpPr txBox="1"/>
          <p:nvPr/>
        </p:nvSpPr>
        <p:spPr>
          <a:xfrm>
            <a:off x="7589520" y="4407408"/>
            <a:ext cx="4142232" cy="2011680"/>
          </a:xfrm>
          <a:prstGeom prst="rect">
            <a:avLst/>
          </a:prstGeom>
          <a:noFill/>
          <a:ln/>
        </p:spPr>
        <p:txBody>
          <a:bodyPr wrap="square" lIns="0" tIns="0" rIns="0" bIns="0" rtlCol="0" anchor="t"/>
          <a:lstStyle/>
          <a:p>
            <a:pPr marL="177800" indent="-177800">
              <a:spcAft>
                <a:spcPts val="200"/>
              </a:spcAft>
              <a:buSzPct val="100000"/>
              <a:buChar char="•"/>
            </a:pPr>
            <a:r>
              <a:rPr lang="en-US" sz="1100" dirty="0">
                <a:solidFill>
                  <a:srgbClr val="043F52"/>
                </a:solidFill>
                <a:latin typeface="Calibri" pitchFamily="34" charset="0"/>
                <a:ea typeface="Calibri" pitchFamily="34" charset="-122"/>
                <a:cs typeface="Calibri" pitchFamily="34" charset="-120"/>
              </a:rPr>
              <a:t>Alguna variable no existe en producción al momento de puntuar, o el modelo se validó sin respetar el tiempo.</a:t>
            </a:r>
            <a:endParaRPr lang="en-US" sz="1100" dirty="0"/>
          </a:p>
          <a:p>
            <a:pPr marL="177800" indent="-177800">
              <a:spcAft>
                <a:spcPts val="200"/>
              </a:spcAft>
              <a:buSzPct val="100000"/>
              <a:buChar char="•"/>
            </a:pPr>
            <a:r>
              <a:rPr lang="en-US" sz="1100" dirty="0">
                <a:solidFill>
                  <a:srgbClr val="043F52"/>
                </a:solidFill>
                <a:latin typeface="Calibri" pitchFamily="34" charset="0"/>
                <a:ea typeface="Calibri" pitchFamily="34" charset="-122"/>
                <a:cs typeface="Calibri" pitchFamily="34" charset="-120"/>
              </a:rPr>
              <a:t>No hay calibración verificada, grupo de control, plan de vuelta atrás ni dueño de cada alerta.</a:t>
            </a:r>
            <a:endParaRPr lang="en-US" sz="1100" dirty="0"/>
          </a:p>
          <a:p>
            <a:pPr marL="177800" indent="-177800">
              <a:spcAft>
                <a:spcPts val="200"/>
              </a:spcAft>
              <a:buSzPct val="100000"/>
              <a:buChar char="•"/>
            </a:pPr>
            <a:r>
              <a:rPr lang="en-US" sz="1100" dirty="0">
                <a:solidFill>
                  <a:srgbClr val="043F52"/>
                </a:solidFill>
                <a:latin typeface="Calibri" pitchFamily="34" charset="0"/>
                <a:ea typeface="Calibri" pitchFamily="34" charset="-122"/>
                <a:cs typeface="Calibri" pitchFamily="34" charset="-120"/>
              </a:rPr>
              <a:t>La operación no ejecuta al menos el 90 % de la lista: el modelo no se está probando.</a:t>
            </a:r>
            <a:endParaRPr lang="en-US" sz="1100" dirty="0"/>
          </a:p>
          <a:p>
            <a:pPr marL="177800" indent="-177800">
              <a:spcAft>
                <a:spcPts val="200"/>
              </a:spcAft>
              <a:buSzPct val="100000"/>
              <a:buChar char="•"/>
            </a:pPr>
            <a:r>
              <a:rPr lang="en-US" sz="1100" dirty="0">
                <a:solidFill>
                  <a:srgbClr val="043F52"/>
                </a:solidFill>
                <a:latin typeface="Calibri" pitchFamily="34" charset="0"/>
                <a:ea typeface="Calibri" pitchFamily="34" charset="-122"/>
                <a:cs typeface="Calibri" pitchFamily="34" charset="-120"/>
              </a:rPr>
              <a:t>La selección excluye a un grupo o regional sin una explicación de negocio.</a:t>
            </a:r>
            <a:endParaRPr lang="en-US" sz="11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4A6A72"/>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457200" y="320040"/>
            <a:ext cx="11274552" cy="502920"/>
          </a:xfrm>
          <a:prstGeom prst="rect">
            <a:avLst/>
          </a:prstGeom>
          <a:noFill/>
          <a:ln/>
        </p:spPr>
        <p:txBody>
          <a:bodyPr wrap="square" lIns="0" tIns="0" rIns="0" bIns="0" rtlCol="0" anchor="t"/>
          <a:lstStyle/>
          <a:p>
            <a:pPr algn="l" indent="0" marL="0">
              <a:buNone/>
            </a:pPr>
            <a:r>
              <a:rPr lang="en-US" sz="2400" b="1" dirty="0">
                <a:solidFill>
                  <a:srgbClr val="043F52"/>
                </a:solidFill>
              </a:rPr>
              <a:t>6 · Qué recomendamos hacer ahora</a:t>
            </a:r>
            <a:endParaRPr lang="en-US" sz="2400" dirty="0"/>
          </a:p>
        </p:txBody>
      </p:sp>
      <p:sp>
        <p:nvSpPr>
          <p:cNvPr id="3" name="Respuesta"/>
          <p:cNvSpPr/>
          <p:nvPr/>
        </p:nvSpPr>
        <p:spPr>
          <a:xfrm>
            <a:off x="457200" y="868680"/>
            <a:ext cx="54864" cy="658368"/>
          </a:xfrm>
          <a:prstGeom prst="rect">
            <a:avLst/>
          </a:prstGeom>
          <a:solidFill>
            <a:srgbClr val="009786"/>
          </a:solidFill>
          <a:ln w="12700">
            <a:solidFill>
              <a:srgbClr val="009786"/>
            </a:solidFill>
            <a:prstDash val="solid"/>
          </a:ln>
        </p:spPr>
      </p:sp>
      <p:sp>
        <p:nvSpPr>
          <p:cNvPr id="4" name="Text 2"/>
          <p:cNvSpPr txBox="1"/>
          <p:nvPr/>
        </p:nvSpPr>
        <p:spPr>
          <a:xfrm>
            <a:off x="640080" y="868680"/>
            <a:ext cx="11091672" cy="658368"/>
          </a:xfrm>
          <a:prstGeom prst="rect">
            <a:avLst/>
          </a:prstGeom>
          <a:noFill/>
          <a:ln/>
        </p:spPr>
        <p:txBody>
          <a:bodyPr wrap="square" lIns="0" tIns="0" rIns="0" bIns="0" rtlCol="0" anchor="ctr"/>
          <a:lstStyle/>
          <a:p>
            <a:pPr indent="0" marL="0">
              <a:lnSpc>
                <a:spcPct val="110000"/>
              </a:lnSpc>
              <a:buNone/>
            </a:pPr>
            <a:r>
              <a:rPr lang="en-US" sz="1250" dirty="0">
                <a:solidFill>
                  <a:srgbClr val="043F52"/>
                </a:solidFill>
                <a:latin typeface="Calibri" pitchFamily="34" charset="0"/>
                <a:ea typeface="Calibri" pitchFamily="34" charset="-122"/>
                <a:cs typeface="Calibri" pitchFamily="34" charset="-120"/>
              </a:rPr>
              <a:t>Aprobar desde el próximo corte un piloto de dos meses con B y grupo de control; no liberar C; condicionar A a la verificación de sus variables y D a los datos del piloto; y fijar hoy el KPI y los cinco guardrails con un responsable cada uno.</a:t>
            </a:r>
            <a:endParaRPr lang="en-US" sz="1250" dirty="0"/>
          </a:p>
        </p:txBody>
      </p:sp>
      <p:sp>
        <p:nvSpPr>
          <p:cNvPr id="5" name="Decisión 1"/>
          <p:cNvSpPr/>
          <p:nvPr/>
        </p:nvSpPr>
        <p:spPr>
          <a:xfrm>
            <a:off x="457200" y="1645920"/>
            <a:ext cx="3657600" cy="1417320"/>
          </a:xfrm>
          <a:prstGeom prst="roundRect">
            <a:avLst>
              <a:gd name="adj" fmla="val 7742"/>
            </a:avLst>
          </a:prstGeom>
          <a:solidFill>
            <a:srgbClr val="9CE0D9"/>
          </a:solidFill>
          <a:ln w="12700">
            <a:solidFill>
              <a:srgbClr val="9CE0D9"/>
            </a:solidFill>
            <a:prstDash val="solid"/>
          </a:ln>
        </p:spPr>
      </p:sp>
      <p:sp>
        <p:nvSpPr>
          <p:cNvPr id="6" name="Text 4"/>
          <p:cNvSpPr txBox="1"/>
          <p:nvPr/>
        </p:nvSpPr>
        <p:spPr>
          <a:xfrm>
            <a:off x="640080" y="1719072"/>
            <a:ext cx="548640" cy="457200"/>
          </a:xfrm>
          <a:prstGeom prst="rect">
            <a:avLst/>
          </a:prstGeom>
          <a:noFill/>
          <a:ln/>
        </p:spPr>
        <p:txBody>
          <a:bodyPr wrap="square" lIns="0" tIns="0" rIns="0" bIns="0" rtlCol="0" anchor="ctr"/>
          <a:lstStyle/>
          <a:p>
            <a:pPr indent="0" marL="0">
              <a:buNone/>
            </a:pPr>
            <a:r>
              <a:rPr lang="en-US" sz="2800" b="1" dirty="0">
                <a:solidFill>
                  <a:srgbClr val="043F52"/>
                </a:solidFill>
                <a:latin typeface="Calibri" pitchFamily="34" charset="0"/>
                <a:ea typeface="Calibri" pitchFamily="34" charset="-122"/>
                <a:cs typeface="Calibri" pitchFamily="34" charset="-120"/>
              </a:rPr>
              <a:t>1</a:t>
            </a:r>
            <a:endParaRPr lang="en-US" sz="2800" dirty="0"/>
          </a:p>
        </p:txBody>
      </p:sp>
      <p:sp>
        <p:nvSpPr>
          <p:cNvPr id="7" name="Text 5"/>
          <p:cNvSpPr txBox="1"/>
          <p:nvPr/>
        </p:nvSpPr>
        <p:spPr>
          <a:xfrm>
            <a:off x="1188720" y="1737360"/>
            <a:ext cx="2788920" cy="420624"/>
          </a:xfrm>
          <a:prstGeom prst="rect">
            <a:avLst/>
          </a:prstGeom>
          <a:noFill/>
          <a:ln/>
        </p:spPr>
        <p:txBody>
          <a:bodyPr wrap="square" lIns="0" tIns="0" rIns="0" bIns="0" rtlCol="0" anchor="ctr"/>
          <a:lstStyle/>
          <a:p>
            <a:pPr indent="0" marL="0">
              <a:buNone/>
            </a:pPr>
            <a:r>
              <a:rPr lang="en-US" sz="1300" b="1" dirty="0">
                <a:solidFill>
                  <a:srgbClr val="043F52"/>
                </a:solidFill>
                <a:latin typeface="Calibri" pitchFamily="34" charset="0"/>
                <a:ea typeface="Calibri" pitchFamily="34" charset="-122"/>
                <a:cs typeface="Calibri" pitchFamily="34" charset="-120"/>
              </a:rPr>
              <a:t>Aprobar el piloto</a:t>
            </a:r>
            <a:endParaRPr lang="en-US" sz="1300" dirty="0"/>
          </a:p>
        </p:txBody>
      </p:sp>
      <p:sp>
        <p:nvSpPr>
          <p:cNvPr id="8" name="Text 6"/>
          <p:cNvSpPr txBox="1"/>
          <p:nvPr/>
        </p:nvSpPr>
        <p:spPr>
          <a:xfrm>
            <a:off x="640080" y="2212848"/>
            <a:ext cx="3291840" cy="804672"/>
          </a:xfrm>
          <a:prstGeom prst="rect">
            <a:avLst/>
          </a:prstGeom>
          <a:noFill/>
          <a:ln/>
        </p:spPr>
        <p:txBody>
          <a:bodyPr wrap="square" lIns="0" tIns="0" rIns="0" bIns="0" rtlCol="0" anchor="t"/>
          <a:lstStyle/>
          <a:p>
            <a:pPr indent="0" marL="0">
              <a:buNone/>
            </a:pPr>
            <a:r>
              <a:rPr lang="en-US" sz="1100" dirty="0">
                <a:solidFill>
                  <a:srgbClr val="043F52"/>
                </a:solidFill>
                <a:latin typeface="Calibri" pitchFamily="34" charset="0"/>
                <a:ea typeface="Calibri" pitchFamily="34" charset="-122"/>
                <a:cs typeface="Calibri" pitchFamily="34" charset="-120"/>
              </a:rPr>
              <a:t>Dos meses, tres brazos, 8.000 contactos al mes.</a:t>
            </a:r>
            <a:endParaRPr lang="en-US" sz="1100" dirty="0"/>
          </a:p>
        </p:txBody>
      </p:sp>
      <p:sp>
        <p:nvSpPr>
          <p:cNvPr id="9" name="Decisión 2"/>
          <p:cNvSpPr/>
          <p:nvPr/>
        </p:nvSpPr>
        <p:spPr>
          <a:xfrm>
            <a:off x="4251960" y="1645920"/>
            <a:ext cx="3657600" cy="1417320"/>
          </a:xfrm>
          <a:prstGeom prst="roundRect">
            <a:avLst>
              <a:gd name="adj" fmla="val 7742"/>
            </a:avLst>
          </a:prstGeom>
          <a:solidFill>
            <a:srgbClr val="A1DAFC"/>
          </a:solidFill>
          <a:ln w="12700">
            <a:solidFill>
              <a:srgbClr val="A1DAFC"/>
            </a:solidFill>
            <a:prstDash val="solid"/>
          </a:ln>
        </p:spPr>
      </p:sp>
      <p:sp>
        <p:nvSpPr>
          <p:cNvPr id="10" name="Text 8"/>
          <p:cNvSpPr txBox="1"/>
          <p:nvPr/>
        </p:nvSpPr>
        <p:spPr>
          <a:xfrm>
            <a:off x="4434840" y="1719072"/>
            <a:ext cx="548640" cy="457200"/>
          </a:xfrm>
          <a:prstGeom prst="rect">
            <a:avLst/>
          </a:prstGeom>
          <a:noFill/>
          <a:ln/>
        </p:spPr>
        <p:txBody>
          <a:bodyPr wrap="square" lIns="0" tIns="0" rIns="0" bIns="0" rtlCol="0" anchor="ctr"/>
          <a:lstStyle/>
          <a:p>
            <a:pPr indent="0" marL="0">
              <a:buNone/>
            </a:pPr>
            <a:r>
              <a:rPr lang="en-US" sz="2800" b="1" dirty="0">
                <a:solidFill>
                  <a:srgbClr val="043F52"/>
                </a:solidFill>
                <a:latin typeface="Calibri" pitchFamily="34" charset="0"/>
                <a:ea typeface="Calibri" pitchFamily="34" charset="-122"/>
                <a:cs typeface="Calibri" pitchFamily="34" charset="-120"/>
              </a:rPr>
              <a:t>2</a:t>
            </a:r>
            <a:endParaRPr lang="en-US" sz="2800" dirty="0"/>
          </a:p>
        </p:txBody>
      </p:sp>
      <p:sp>
        <p:nvSpPr>
          <p:cNvPr id="11" name="Text 9"/>
          <p:cNvSpPr txBox="1"/>
          <p:nvPr/>
        </p:nvSpPr>
        <p:spPr>
          <a:xfrm>
            <a:off x="4983480" y="1737360"/>
            <a:ext cx="2788920" cy="420624"/>
          </a:xfrm>
          <a:prstGeom prst="rect">
            <a:avLst/>
          </a:prstGeom>
          <a:noFill/>
          <a:ln/>
        </p:spPr>
        <p:txBody>
          <a:bodyPr wrap="square" lIns="0" tIns="0" rIns="0" bIns="0" rtlCol="0" anchor="ctr"/>
          <a:lstStyle/>
          <a:p>
            <a:pPr indent="0" marL="0">
              <a:buNone/>
            </a:pPr>
            <a:r>
              <a:rPr lang="en-US" sz="1300" b="1" dirty="0">
                <a:solidFill>
                  <a:srgbClr val="043F52"/>
                </a:solidFill>
                <a:latin typeface="Calibri" pitchFamily="34" charset="0"/>
                <a:ea typeface="Calibri" pitchFamily="34" charset="-122"/>
                <a:cs typeface="Calibri" pitchFamily="34" charset="-120"/>
              </a:rPr>
              <a:t>No liberar C; condicionar A y D</a:t>
            </a:r>
            <a:endParaRPr lang="en-US" sz="1300" dirty="0"/>
          </a:p>
        </p:txBody>
      </p:sp>
      <p:sp>
        <p:nvSpPr>
          <p:cNvPr id="12" name="Text 10"/>
          <p:cNvSpPr txBox="1"/>
          <p:nvPr/>
        </p:nvSpPr>
        <p:spPr>
          <a:xfrm>
            <a:off x="4434840" y="2212848"/>
            <a:ext cx="3291840" cy="804672"/>
          </a:xfrm>
          <a:prstGeom prst="rect">
            <a:avLst/>
          </a:prstGeom>
          <a:noFill/>
          <a:ln/>
        </p:spPr>
        <p:txBody>
          <a:bodyPr wrap="square" lIns="0" tIns="0" rIns="0" bIns="0" rtlCol="0" anchor="t"/>
          <a:lstStyle/>
          <a:p>
            <a:pPr indent="0" marL="0">
              <a:buNone/>
            </a:pPr>
            <a:r>
              <a:rPr lang="en-US" sz="1100" dirty="0">
                <a:solidFill>
                  <a:srgbClr val="043F52"/>
                </a:solidFill>
                <a:latin typeface="Calibri" pitchFamily="34" charset="0"/>
                <a:ea typeface="Calibri" pitchFamily="34" charset="-122"/>
                <a:cs typeface="Calibri" pitchFamily="34" charset="-120"/>
              </a:rPr>
              <a:t>C usa información que no existe al priorizar; A solo tras verificar cada variable; D se evalúa con los datos del grupo de control.</a:t>
            </a:r>
            <a:endParaRPr lang="en-US" sz="1100" dirty="0"/>
          </a:p>
        </p:txBody>
      </p:sp>
      <p:sp>
        <p:nvSpPr>
          <p:cNvPr id="13" name="Decisión 3"/>
          <p:cNvSpPr/>
          <p:nvPr/>
        </p:nvSpPr>
        <p:spPr>
          <a:xfrm>
            <a:off x="8046720" y="1645920"/>
            <a:ext cx="3657600" cy="1417320"/>
          </a:xfrm>
          <a:prstGeom prst="roundRect">
            <a:avLst>
              <a:gd name="adj" fmla="val 7742"/>
            </a:avLst>
          </a:prstGeom>
          <a:solidFill>
            <a:srgbClr val="D4C8FE"/>
          </a:solidFill>
          <a:ln w="12700">
            <a:solidFill>
              <a:srgbClr val="D4C8FE"/>
            </a:solidFill>
            <a:prstDash val="solid"/>
          </a:ln>
        </p:spPr>
      </p:sp>
      <p:sp>
        <p:nvSpPr>
          <p:cNvPr id="14" name="Text 12"/>
          <p:cNvSpPr txBox="1"/>
          <p:nvPr/>
        </p:nvSpPr>
        <p:spPr>
          <a:xfrm>
            <a:off x="8229600" y="1719072"/>
            <a:ext cx="548640" cy="457200"/>
          </a:xfrm>
          <a:prstGeom prst="rect">
            <a:avLst/>
          </a:prstGeom>
          <a:noFill/>
          <a:ln/>
        </p:spPr>
        <p:txBody>
          <a:bodyPr wrap="square" lIns="0" tIns="0" rIns="0" bIns="0" rtlCol="0" anchor="ctr"/>
          <a:lstStyle/>
          <a:p>
            <a:pPr indent="0" marL="0">
              <a:buNone/>
            </a:pPr>
            <a:r>
              <a:rPr lang="en-US" sz="2800" b="1" dirty="0">
                <a:solidFill>
                  <a:srgbClr val="043F52"/>
                </a:solidFill>
                <a:latin typeface="Calibri" pitchFamily="34" charset="0"/>
                <a:ea typeface="Calibri" pitchFamily="34" charset="-122"/>
                <a:cs typeface="Calibri" pitchFamily="34" charset="-120"/>
              </a:rPr>
              <a:t>3</a:t>
            </a:r>
            <a:endParaRPr lang="en-US" sz="2800" dirty="0"/>
          </a:p>
        </p:txBody>
      </p:sp>
      <p:sp>
        <p:nvSpPr>
          <p:cNvPr id="15" name="Text 13"/>
          <p:cNvSpPr txBox="1"/>
          <p:nvPr/>
        </p:nvSpPr>
        <p:spPr>
          <a:xfrm>
            <a:off x="8778240" y="1737360"/>
            <a:ext cx="2788920" cy="420624"/>
          </a:xfrm>
          <a:prstGeom prst="rect">
            <a:avLst/>
          </a:prstGeom>
          <a:noFill/>
          <a:ln/>
        </p:spPr>
        <p:txBody>
          <a:bodyPr wrap="square" lIns="0" tIns="0" rIns="0" bIns="0" rtlCol="0" anchor="ctr"/>
          <a:lstStyle/>
          <a:p>
            <a:pPr indent="0" marL="0">
              <a:buNone/>
            </a:pPr>
            <a:r>
              <a:rPr lang="en-US" sz="1300" b="1" dirty="0">
                <a:solidFill>
                  <a:srgbClr val="043F52"/>
                </a:solidFill>
                <a:latin typeface="Calibri" pitchFamily="34" charset="0"/>
                <a:ea typeface="Calibri" pitchFamily="34" charset="-122"/>
                <a:cs typeface="Calibri" pitchFamily="34" charset="-120"/>
              </a:rPr>
              <a:t>Fijar KPI y guardrails</a:t>
            </a:r>
            <a:endParaRPr lang="en-US" sz="1300" dirty="0"/>
          </a:p>
        </p:txBody>
      </p:sp>
      <p:sp>
        <p:nvSpPr>
          <p:cNvPr id="16" name="Text 14"/>
          <p:cNvSpPr txBox="1"/>
          <p:nvPr/>
        </p:nvSpPr>
        <p:spPr>
          <a:xfrm>
            <a:off x="8229600" y="2212848"/>
            <a:ext cx="3291840" cy="804672"/>
          </a:xfrm>
          <a:prstGeom prst="rect">
            <a:avLst/>
          </a:prstGeom>
          <a:noFill/>
          <a:ln/>
        </p:spPr>
        <p:txBody>
          <a:bodyPr wrap="square" lIns="0" tIns="0" rIns="0" bIns="0" rtlCol="0" anchor="t"/>
          <a:lstStyle/>
          <a:p>
            <a:pPr indent="0" marL="0">
              <a:buNone/>
            </a:pPr>
            <a:r>
              <a:rPr lang="en-US" sz="1100" dirty="0">
                <a:solidFill>
                  <a:srgbClr val="043F52"/>
                </a:solidFill>
                <a:latin typeface="Calibri" pitchFamily="34" charset="0"/>
                <a:ea typeface="Calibri" pitchFamily="34" charset="-122"/>
                <a:cs typeface="Calibri" pitchFamily="34" charset="-120"/>
              </a:rPr>
              <a:t>Pesos ganados por contacto, netos de mora y frente a control; cinco guardrails con umbral y responsable.</a:t>
            </a:r>
            <a:endParaRPr lang="en-US" sz="1100" dirty="0"/>
          </a:p>
        </p:txBody>
      </p:sp>
      <p:sp>
        <p:nvSpPr>
          <p:cNvPr id="17" name="Text 15"/>
          <p:cNvSpPr txBox="1"/>
          <p:nvPr/>
        </p:nvSpPr>
        <p:spPr>
          <a:xfrm>
            <a:off x="457200" y="3246120"/>
            <a:ext cx="5486400" cy="292608"/>
          </a:xfrm>
          <a:prstGeom prst="rect">
            <a:avLst/>
          </a:prstGeom>
          <a:noFill/>
          <a:ln/>
        </p:spPr>
        <p:txBody>
          <a:bodyPr wrap="square" lIns="0" tIns="0" rIns="0" bIns="0" rtlCol="0" anchor="ctr"/>
          <a:lstStyle/>
          <a:p>
            <a:pPr indent="0" marL="0">
              <a:buNone/>
            </a:pPr>
            <a:r>
              <a:rPr lang="en-US" sz="1200" b="1" dirty="0">
                <a:solidFill>
                  <a:srgbClr val="043F52"/>
                </a:solidFill>
                <a:latin typeface="Calibri" pitchFamily="34" charset="0"/>
                <a:ea typeface="Calibri" pitchFamily="34" charset="-122"/>
                <a:cs typeface="Calibri" pitchFamily="34" charset="-120"/>
              </a:rPr>
              <a:t>Ruta de 90 días</a:t>
            </a:r>
            <a:endParaRPr lang="en-US" sz="1200" dirty="0"/>
          </a:p>
        </p:txBody>
      </p:sp>
      <p:sp>
        <p:nvSpPr>
          <p:cNvPr id="18" name="Paso 1"/>
          <p:cNvSpPr/>
          <p:nvPr/>
        </p:nvSpPr>
        <p:spPr>
          <a:xfrm>
            <a:off x="457200" y="3721608"/>
            <a:ext cx="310896" cy="310896"/>
          </a:xfrm>
          <a:prstGeom prst="ellipse">
            <a:avLst/>
          </a:prstGeom>
          <a:solidFill>
            <a:srgbClr val="9CE0D9"/>
          </a:solidFill>
          <a:ln w="12700">
            <a:solidFill>
              <a:srgbClr val="9CE0D9"/>
            </a:solidFill>
            <a:prstDash val="solid"/>
          </a:ln>
        </p:spPr>
      </p:sp>
      <p:sp>
        <p:nvSpPr>
          <p:cNvPr id="19" name="Text 17"/>
          <p:cNvSpPr txBox="1"/>
          <p:nvPr/>
        </p:nvSpPr>
        <p:spPr>
          <a:xfrm>
            <a:off x="457200" y="3721608"/>
            <a:ext cx="310896" cy="310896"/>
          </a:xfrm>
          <a:prstGeom prst="rect">
            <a:avLst/>
          </a:prstGeom>
          <a:noFill/>
          <a:ln/>
        </p:spPr>
        <p:txBody>
          <a:bodyPr wrap="square" lIns="0" tIns="0" rIns="0" bIns="0" rtlCol="0" anchor="ctr"/>
          <a:lstStyle/>
          <a:p>
            <a:pPr algn="ctr" indent="0" marL="0">
              <a:buNone/>
            </a:pPr>
            <a:r>
              <a:rPr lang="en-US" sz="1100" b="1" dirty="0">
                <a:solidFill>
                  <a:srgbClr val="043F52"/>
                </a:solidFill>
                <a:latin typeface="Calibri" pitchFamily="34" charset="0"/>
                <a:ea typeface="Calibri" pitchFamily="34" charset="-122"/>
                <a:cs typeface="Calibri" pitchFamily="34" charset="-120"/>
              </a:rPr>
              <a:t>1</a:t>
            </a:r>
            <a:endParaRPr lang="en-US" sz="1100" dirty="0"/>
          </a:p>
        </p:txBody>
      </p:sp>
      <p:sp>
        <p:nvSpPr>
          <p:cNvPr id="20" name="Text 18"/>
          <p:cNvSpPr txBox="1"/>
          <p:nvPr/>
        </p:nvSpPr>
        <p:spPr>
          <a:xfrm>
            <a:off x="896112" y="3611880"/>
            <a:ext cx="6309360" cy="548640"/>
          </a:xfrm>
          <a:prstGeom prst="rect">
            <a:avLst/>
          </a:prstGeom>
          <a:noFill/>
          <a:ln/>
        </p:spPr>
        <p:txBody>
          <a:bodyPr wrap="square" lIns="0" tIns="0" rIns="0" bIns="0" rtlCol="0" anchor="ctr"/>
          <a:lstStyle/>
          <a:p>
            <a:pPr indent="0" marL="0">
              <a:buNone/>
            </a:pPr>
            <a:r>
              <a:rPr lang="en-US" sz="1150" b="1" dirty="0">
                <a:solidFill>
                  <a:srgbClr val="043F52"/>
                </a:solidFill>
                <a:latin typeface="Calibri" pitchFamily="34" charset="0"/>
                <a:ea typeface="Calibri" pitchFamily="34" charset="-122"/>
                <a:cs typeface="Calibri" pitchFamily="34" charset="-120"/>
              </a:rPr>
              <a:t>Semanas 1 a 2. </a:t>
            </a:r>
            <a:pPr indent="0" marL="0">
              <a:buNone/>
            </a:pPr>
            <a:r>
              <a:rPr lang="en-US" sz="1150" dirty="0">
                <a:solidFill>
                  <a:srgbClr val="043F52"/>
                </a:solidFill>
                <a:latin typeface="Calibri" pitchFamily="34" charset="0"/>
                <a:ea typeface="Calibri" pitchFamily="34" charset="-122"/>
                <a:cs typeface="Calibri" pitchFamily="34" charset="-120"/>
              </a:rPr>
              <a:t>Definir sobre qué se mide el 12 %, cómo se contacta hoy y qué permite el uso del buró.</a:t>
            </a:r>
            <a:endParaRPr lang="en-US" sz="1150" dirty="0"/>
          </a:p>
        </p:txBody>
      </p:sp>
      <p:sp>
        <p:nvSpPr>
          <p:cNvPr id="21" name="Paso 2"/>
          <p:cNvSpPr/>
          <p:nvPr/>
        </p:nvSpPr>
        <p:spPr>
          <a:xfrm>
            <a:off x="457200" y="4398264"/>
            <a:ext cx="310896" cy="310896"/>
          </a:xfrm>
          <a:prstGeom prst="ellipse">
            <a:avLst/>
          </a:prstGeom>
          <a:solidFill>
            <a:srgbClr val="9CE0D9"/>
          </a:solidFill>
          <a:ln w="12700">
            <a:solidFill>
              <a:srgbClr val="9CE0D9"/>
            </a:solidFill>
            <a:prstDash val="solid"/>
          </a:ln>
        </p:spPr>
      </p:sp>
      <p:sp>
        <p:nvSpPr>
          <p:cNvPr id="22" name="Text 20"/>
          <p:cNvSpPr txBox="1"/>
          <p:nvPr/>
        </p:nvSpPr>
        <p:spPr>
          <a:xfrm>
            <a:off x="457200" y="4398264"/>
            <a:ext cx="310896" cy="310896"/>
          </a:xfrm>
          <a:prstGeom prst="rect">
            <a:avLst/>
          </a:prstGeom>
          <a:noFill/>
          <a:ln/>
        </p:spPr>
        <p:txBody>
          <a:bodyPr wrap="square" lIns="0" tIns="0" rIns="0" bIns="0" rtlCol="0" anchor="ctr"/>
          <a:lstStyle/>
          <a:p>
            <a:pPr algn="ctr" indent="0" marL="0">
              <a:buNone/>
            </a:pPr>
            <a:r>
              <a:rPr lang="en-US" sz="1100" b="1" dirty="0">
                <a:solidFill>
                  <a:srgbClr val="043F52"/>
                </a:solidFill>
                <a:latin typeface="Calibri" pitchFamily="34" charset="0"/>
                <a:ea typeface="Calibri" pitchFamily="34" charset="-122"/>
                <a:cs typeface="Calibri" pitchFamily="34" charset="-120"/>
              </a:rPr>
              <a:t>2</a:t>
            </a:r>
            <a:endParaRPr lang="en-US" sz="1100" dirty="0"/>
          </a:p>
        </p:txBody>
      </p:sp>
      <p:sp>
        <p:nvSpPr>
          <p:cNvPr id="23" name="Text 21"/>
          <p:cNvSpPr txBox="1"/>
          <p:nvPr/>
        </p:nvSpPr>
        <p:spPr>
          <a:xfrm>
            <a:off x="896112" y="4288536"/>
            <a:ext cx="6309360" cy="548640"/>
          </a:xfrm>
          <a:prstGeom prst="rect">
            <a:avLst/>
          </a:prstGeom>
          <a:noFill/>
          <a:ln/>
        </p:spPr>
        <p:txBody>
          <a:bodyPr wrap="square" lIns="0" tIns="0" rIns="0" bIns="0" rtlCol="0" anchor="ctr"/>
          <a:lstStyle/>
          <a:p>
            <a:pPr indent="0" marL="0">
              <a:buNone/>
            </a:pPr>
            <a:r>
              <a:rPr lang="en-US" sz="1150" b="1" dirty="0">
                <a:solidFill>
                  <a:srgbClr val="043F52"/>
                </a:solidFill>
                <a:latin typeface="Calibri" pitchFamily="34" charset="0"/>
                <a:ea typeface="Calibri" pitchFamily="34" charset="-122"/>
                <a:cs typeface="Calibri" pitchFamily="34" charset="-120"/>
              </a:rPr>
              <a:t>Semanas 3 a 4. </a:t>
            </a:r>
            <a:pPr indent="0" marL="0">
              <a:buNone/>
            </a:pPr>
            <a:r>
              <a:rPr lang="en-US" sz="1150" dirty="0">
                <a:solidFill>
                  <a:srgbClr val="043F52"/>
                </a:solidFill>
                <a:latin typeface="Calibri" pitchFamily="34" charset="0"/>
                <a:ea typeface="Calibri" pitchFamily="34" charset="-122"/>
                <a:cs typeface="Calibri" pitchFamily="34" charset="-120"/>
              </a:rPr>
              <a:t>Verificar variable por variable A y B; montar el flujo de datos con fechas garantizadas; fijar cuotas.</a:t>
            </a:r>
            <a:endParaRPr lang="en-US" sz="1150" dirty="0"/>
          </a:p>
        </p:txBody>
      </p:sp>
      <p:sp>
        <p:nvSpPr>
          <p:cNvPr id="24" name="Paso 3"/>
          <p:cNvSpPr/>
          <p:nvPr/>
        </p:nvSpPr>
        <p:spPr>
          <a:xfrm>
            <a:off x="457200" y="5074920"/>
            <a:ext cx="310896" cy="310896"/>
          </a:xfrm>
          <a:prstGeom prst="ellipse">
            <a:avLst/>
          </a:prstGeom>
          <a:solidFill>
            <a:srgbClr val="9CE0D9"/>
          </a:solidFill>
          <a:ln w="12700">
            <a:solidFill>
              <a:srgbClr val="9CE0D9"/>
            </a:solidFill>
            <a:prstDash val="solid"/>
          </a:ln>
        </p:spPr>
      </p:sp>
      <p:sp>
        <p:nvSpPr>
          <p:cNvPr id="25" name="Text 23"/>
          <p:cNvSpPr txBox="1"/>
          <p:nvPr/>
        </p:nvSpPr>
        <p:spPr>
          <a:xfrm>
            <a:off x="457200" y="5074920"/>
            <a:ext cx="310896" cy="310896"/>
          </a:xfrm>
          <a:prstGeom prst="rect">
            <a:avLst/>
          </a:prstGeom>
          <a:noFill/>
          <a:ln/>
        </p:spPr>
        <p:txBody>
          <a:bodyPr wrap="square" lIns="0" tIns="0" rIns="0" bIns="0" rtlCol="0" anchor="ctr"/>
          <a:lstStyle/>
          <a:p>
            <a:pPr algn="ctr" indent="0" marL="0">
              <a:buNone/>
            </a:pPr>
            <a:r>
              <a:rPr lang="en-US" sz="1100" b="1" dirty="0">
                <a:solidFill>
                  <a:srgbClr val="043F52"/>
                </a:solidFill>
                <a:latin typeface="Calibri" pitchFamily="34" charset="0"/>
                <a:ea typeface="Calibri" pitchFamily="34" charset="-122"/>
                <a:cs typeface="Calibri" pitchFamily="34" charset="-120"/>
              </a:rPr>
              <a:t>3</a:t>
            </a:r>
            <a:endParaRPr lang="en-US" sz="1100" dirty="0"/>
          </a:p>
        </p:txBody>
      </p:sp>
      <p:sp>
        <p:nvSpPr>
          <p:cNvPr id="26" name="Text 24"/>
          <p:cNvSpPr txBox="1"/>
          <p:nvPr/>
        </p:nvSpPr>
        <p:spPr>
          <a:xfrm>
            <a:off x="896112" y="4965192"/>
            <a:ext cx="6309360" cy="548640"/>
          </a:xfrm>
          <a:prstGeom prst="rect">
            <a:avLst/>
          </a:prstGeom>
          <a:noFill/>
          <a:ln/>
        </p:spPr>
        <p:txBody>
          <a:bodyPr wrap="square" lIns="0" tIns="0" rIns="0" bIns="0" rtlCol="0" anchor="ctr"/>
          <a:lstStyle/>
          <a:p>
            <a:pPr indent="0" marL="0">
              <a:buNone/>
            </a:pPr>
            <a:r>
              <a:rPr lang="en-US" sz="1150" b="1" dirty="0">
                <a:solidFill>
                  <a:srgbClr val="043F52"/>
                </a:solidFill>
                <a:latin typeface="Calibri" pitchFamily="34" charset="0"/>
                <a:ea typeface="Calibri" pitchFamily="34" charset="-122"/>
                <a:cs typeface="Calibri" pitchFamily="34" charset="-120"/>
              </a:rPr>
              <a:t>Meses 2 a 3. </a:t>
            </a:r>
            <a:pPr indent="0" marL="0">
              <a:buNone/>
            </a:pPr>
            <a:r>
              <a:rPr lang="en-US" sz="1150" dirty="0">
                <a:solidFill>
                  <a:srgbClr val="043F52"/>
                </a:solidFill>
                <a:latin typeface="Calibri" pitchFamily="34" charset="0"/>
                <a:ea typeface="Calibri" pitchFamily="34" charset="-122"/>
                <a:cs typeface="Calibri" pitchFamily="34" charset="-120"/>
              </a:rPr>
              <a:t>Piloto con grupo de control; monitoreo semanal; decisión con reglas escritas de antemano.</a:t>
            </a:r>
            <a:endParaRPr lang="en-US" sz="1150" dirty="0"/>
          </a:p>
        </p:txBody>
      </p:sp>
      <p:sp>
        <p:nvSpPr>
          <p:cNvPr id="27" name="Paso 4"/>
          <p:cNvSpPr/>
          <p:nvPr/>
        </p:nvSpPr>
        <p:spPr>
          <a:xfrm>
            <a:off x="457200" y="5751576"/>
            <a:ext cx="310896" cy="310896"/>
          </a:xfrm>
          <a:prstGeom prst="ellipse">
            <a:avLst/>
          </a:prstGeom>
          <a:solidFill>
            <a:srgbClr val="9CE0D9"/>
          </a:solidFill>
          <a:ln w="12700">
            <a:solidFill>
              <a:srgbClr val="9CE0D9"/>
            </a:solidFill>
            <a:prstDash val="solid"/>
          </a:ln>
        </p:spPr>
      </p:sp>
      <p:sp>
        <p:nvSpPr>
          <p:cNvPr id="28" name="Text 26"/>
          <p:cNvSpPr txBox="1"/>
          <p:nvPr/>
        </p:nvSpPr>
        <p:spPr>
          <a:xfrm>
            <a:off x="457200" y="5751576"/>
            <a:ext cx="310896" cy="310896"/>
          </a:xfrm>
          <a:prstGeom prst="rect">
            <a:avLst/>
          </a:prstGeom>
          <a:noFill/>
          <a:ln/>
        </p:spPr>
        <p:txBody>
          <a:bodyPr wrap="square" lIns="0" tIns="0" rIns="0" bIns="0" rtlCol="0" anchor="ctr"/>
          <a:lstStyle/>
          <a:p>
            <a:pPr algn="ctr" indent="0" marL="0">
              <a:buNone/>
            </a:pPr>
            <a:r>
              <a:rPr lang="en-US" sz="1100" b="1" dirty="0">
                <a:solidFill>
                  <a:srgbClr val="043F52"/>
                </a:solidFill>
                <a:latin typeface="Calibri" pitchFamily="34" charset="0"/>
                <a:ea typeface="Calibri" pitchFamily="34" charset="-122"/>
                <a:cs typeface="Calibri" pitchFamily="34" charset="-120"/>
              </a:rPr>
              <a:t>4</a:t>
            </a:r>
            <a:endParaRPr lang="en-US" sz="1100" dirty="0"/>
          </a:p>
        </p:txBody>
      </p:sp>
      <p:sp>
        <p:nvSpPr>
          <p:cNvPr id="29" name="Text 27"/>
          <p:cNvSpPr txBox="1"/>
          <p:nvPr/>
        </p:nvSpPr>
        <p:spPr>
          <a:xfrm>
            <a:off x="896112" y="5641848"/>
            <a:ext cx="6309360" cy="548640"/>
          </a:xfrm>
          <a:prstGeom prst="rect">
            <a:avLst/>
          </a:prstGeom>
          <a:noFill/>
          <a:ln/>
        </p:spPr>
        <p:txBody>
          <a:bodyPr wrap="square" lIns="0" tIns="0" rIns="0" bIns="0" rtlCol="0" anchor="ctr"/>
          <a:lstStyle/>
          <a:p>
            <a:pPr indent="0" marL="0">
              <a:buNone/>
            </a:pPr>
            <a:r>
              <a:rPr lang="en-US" sz="1150" b="1" dirty="0">
                <a:solidFill>
                  <a:srgbClr val="043F52"/>
                </a:solidFill>
                <a:latin typeface="Calibri" pitchFamily="34" charset="0"/>
                <a:ea typeface="Calibri" pitchFamily="34" charset="-122"/>
                <a:cs typeface="Calibri" pitchFamily="34" charset="-120"/>
              </a:rPr>
              <a:t>Mes 4 en adelante. </a:t>
            </a:r>
            <a:pPr indent="0" marL="0">
              <a:buNone/>
            </a:pPr>
            <a:r>
              <a:rPr lang="en-US" sz="1150" dirty="0">
                <a:solidFill>
                  <a:srgbClr val="043F52"/>
                </a:solidFill>
                <a:latin typeface="Calibri" pitchFamily="34" charset="0"/>
                <a:ea typeface="Calibri" pitchFamily="34" charset="-122"/>
                <a:cs typeface="Calibri" pitchFamily="34" charset="-120"/>
              </a:rPr>
              <a:t>Si el contacto crea renovaciones, escalar; si no, mantener la herramienta actual.</a:t>
            </a:r>
            <a:endParaRPr lang="en-US" sz="1150" dirty="0"/>
          </a:p>
        </p:txBody>
      </p:sp>
      <p:sp>
        <p:nvSpPr>
          <p:cNvPr id="30" name="Text 28"/>
          <p:cNvSpPr txBox="1"/>
          <p:nvPr/>
        </p:nvSpPr>
        <p:spPr>
          <a:xfrm>
            <a:off x="7406640" y="3246120"/>
            <a:ext cx="4325112" cy="292608"/>
          </a:xfrm>
          <a:prstGeom prst="rect">
            <a:avLst/>
          </a:prstGeom>
          <a:noFill/>
          <a:ln/>
        </p:spPr>
        <p:txBody>
          <a:bodyPr wrap="square" lIns="0" tIns="0" rIns="0" bIns="0" rtlCol="0" anchor="ctr"/>
          <a:lstStyle/>
          <a:p>
            <a:pPr indent="0" marL="0">
              <a:buNone/>
            </a:pPr>
            <a:r>
              <a:rPr lang="en-US" sz="1200" b="1" dirty="0">
                <a:solidFill>
                  <a:srgbClr val="043F52"/>
                </a:solidFill>
                <a:latin typeface="Calibri" pitchFamily="34" charset="0"/>
                <a:ea typeface="Calibri" pitchFamily="34" charset="-122"/>
                <a:cs typeface="Calibri" pitchFamily="34" charset="-120"/>
              </a:rPr>
              <a:t>Gobierno</a:t>
            </a:r>
            <a:endParaRPr lang="en-US" sz="1200" dirty="0"/>
          </a:p>
        </p:txBody>
      </p:sp>
      <p:sp>
        <p:nvSpPr>
          <p:cNvPr id="31" name="Text 29"/>
          <p:cNvSpPr txBox="1"/>
          <p:nvPr/>
        </p:nvSpPr>
        <p:spPr>
          <a:xfrm>
            <a:off x="7406640" y="3611880"/>
            <a:ext cx="4325112" cy="2743200"/>
          </a:xfrm>
          <a:prstGeom prst="rect">
            <a:avLst/>
          </a:prstGeom>
          <a:noFill/>
          <a:ln/>
        </p:spPr>
        <p:txBody>
          <a:bodyPr wrap="square" lIns="0" tIns="0" rIns="0" bIns="0" rtlCol="0" anchor="t"/>
          <a:lstStyle/>
          <a:p>
            <a:pPr marL="177800" indent="-177800">
              <a:spcAft>
                <a:spcPts val="400"/>
              </a:spcAft>
              <a:buSzPct val="100000"/>
              <a:buChar char="•"/>
            </a:pPr>
            <a:r>
              <a:rPr lang="en-US" sz="1100" b="1" dirty="0">
                <a:solidFill>
                  <a:srgbClr val="043F52"/>
                </a:solidFill>
                <a:latin typeface="Calibri" pitchFamily="34" charset="0"/>
                <a:ea typeface="Calibri" pitchFamily="34" charset="-122"/>
                <a:cs typeface="Calibri" pitchFamily="34" charset="-120"/>
              </a:rPr>
              <a:t>Equidad: </a:t>
            </a:r>
            <a:pPr indent="0" marL="0">
              <a:spcAft>
                <a:spcPts val="400"/>
              </a:spcAft>
              <a:buNone/>
            </a:pPr>
            <a:r>
              <a:rPr lang="en-US" sz="1100" dirty="0">
                <a:solidFill>
                  <a:srgbClr val="043F52"/>
                </a:solidFill>
                <a:latin typeface="Calibri" pitchFamily="34" charset="0"/>
                <a:ea typeface="Calibri" pitchFamily="34" charset="-122"/>
                <a:cs typeface="Calibri" pitchFamily="34" charset="-120"/>
              </a:rPr>
              <a:t>tasas de selección y conversión por regional, remesas y buró en cada corte.</a:t>
            </a:r>
            <a:endParaRPr lang="en-US" sz="1100" dirty="0"/>
          </a:p>
          <a:p>
            <a:pPr marL="177800" indent="-177800">
              <a:spcAft>
                <a:spcPts val="400"/>
              </a:spcAft>
              <a:buSzPct val="100000"/>
              <a:buChar char="•"/>
            </a:pPr>
            <a:r>
              <a:rPr lang="en-US" sz="1100" b="1" dirty="0">
                <a:solidFill>
                  <a:srgbClr val="043F52"/>
                </a:solidFill>
                <a:latin typeface="Calibri" pitchFamily="34" charset="0"/>
                <a:ea typeface="Calibri" pitchFamily="34" charset="-122"/>
                <a:cs typeface="Calibri" pitchFamily="34" charset="-120"/>
              </a:rPr>
              <a:t>Auditable: </a:t>
            </a:r>
            <a:pPr indent="0" marL="0">
              <a:spcAft>
                <a:spcPts val="400"/>
              </a:spcAft>
              <a:buNone/>
            </a:pPr>
            <a:r>
              <a:rPr lang="en-US" sz="1100" dirty="0">
                <a:solidFill>
                  <a:srgbClr val="043F52"/>
                </a:solidFill>
                <a:latin typeface="Calibri" pitchFamily="34" charset="0"/>
                <a:ea typeface="Calibri" pitchFamily="34" charset="-122"/>
                <a:cs typeface="Calibri" pitchFamily="34" charset="-120"/>
              </a:rPr>
              <a:t>ficha del modelo, ficha de la base, verificación de variables, plan de monitoreo y responsables por área.</a:t>
            </a:r>
            <a:endParaRPr lang="en-US" sz="1100" dirty="0"/>
          </a:p>
          <a:p>
            <a:pPr marL="177800" indent="-177800">
              <a:spcAft>
                <a:spcPts val="400"/>
              </a:spcAft>
              <a:buSzPct val="100000"/>
              <a:buChar char="•"/>
            </a:pPr>
            <a:r>
              <a:rPr lang="en-US" sz="1100" dirty="0">
                <a:solidFill>
                  <a:srgbClr val="043F52"/>
                </a:solidFill>
                <a:latin typeface="Calibri" pitchFamily="34" charset="0"/>
                <a:ea typeface="Calibri" pitchFamily="34" charset="-122"/>
                <a:cs typeface="Calibri" pitchFamily="34" charset="-120"/>
              </a:rPr>
              <a:t>La importancia de una variable no es su causa: al buró alto se le contactó más (37 % frente a 22 % sin contactar); solo el grupo de control prueba si llamar cambia el resultado.</a:t>
            </a:r>
            <a:endParaRPr lang="en-US" sz="11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4A6A72"/>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457200" y="320040"/>
            <a:ext cx="11274552" cy="502920"/>
          </a:xfrm>
          <a:prstGeom prst="rect">
            <a:avLst/>
          </a:prstGeom>
          <a:noFill/>
          <a:ln/>
        </p:spPr>
        <p:txBody>
          <a:bodyPr wrap="square" lIns="0" tIns="0" rIns="0" bIns="0" rtlCol="0" anchor="t"/>
          <a:lstStyle/>
          <a:p>
            <a:pPr algn="l" indent="0" marL="0">
              <a:buNone/>
            </a:pPr>
            <a:r>
              <a:rPr lang="en-US" sz="2400" b="1" dirty="0">
                <a:solidFill>
                  <a:srgbClr val="043F52"/>
                </a:solidFill>
              </a:rPr>
              <a:t>Anexo · Soporte técnico: réplica, economía, tamaños de muestra y variables</a:t>
            </a:r>
            <a:endParaRPr lang="en-US" sz="2400" dirty="0"/>
          </a:p>
        </p:txBody>
      </p:sp>
      <p:sp>
        <p:nvSpPr>
          <p:cNvPr id="3" name="Text 1"/>
          <p:cNvSpPr txBox="1"/>
          <p:nvPr/>
        </p:nvSpPr>
        <p:spPr>
          <a:xfrm>
            <a:off x="457200" y="1188720"/>
            <a:ext cx="6675120" cy="292608"/>
          </a:xfrm>
          <a:prstGeom prst="rect">
            <a:avLst/>
          </a:prstGeom>
          <a:noFill/>
          <a:ln/>
        </p:spPr>
        <p:txBody>
          <a:bodyPr wrap="square" lIns="0" tIns="0" rIns="0" bIns="0" rtlCol="0" anchor="ctr"/>
          <a:lstStyle/>
          <a:p>
            <a:pPr indent="0" marL="0">
              <a:buNone/>
            </a:pPr>
            <a:r>
              <a:rPr lang="en-US" sz="1200" b="1" dirty="0">
                <a:solidFill>
                  <a:srgbClr val="043F52"/>
                </a:solidFill>
                <a:latin typeface="Calibri" pitchFamily="34" charset="0"/>
                <a:ea typeface="Calibri" pitchFamily="34" charset="-122"/>
                <a:cs typeface="Calibri" pitchFamily="34" charset="-120"/>
              </a:rPr>
              <a:t>Réplica fuera de tiempo (train ≤ t−2, un corte de gap, test = t, t = mayo a agosto)</a:t>
            </a:r>
            <a:endParaRPr lang="en-US" sz="12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508760"/>
          <a:ext cx="6675120" cy="914400"/>
        </p:xfrm>
        <a:graphic>
          <a:graphicData uri="http://schemas.openxmlformats.org/drawingml/2006/table">
            <a:tbl>
              <a:tblPr/>
              <a:tblGrid>
                <a:gridCol w="2194560"/>
                <a:gridCol w="822960"/>
                <a:gridCol w="640080"/>
                <a:gridCol w="868680"/>
                <a:gridCol w="685800"/>
                <a:gridCol w="1005840"/>
                <a:gridCol w="457200"/>
              </a:tblGrid>
              <a:tr h="246888">
                <a:tc>
                  <a:txBody>
                    <a:bodyPr/>
                    <a:lstStyle/>
                    <a:p>
                      <a:pPr indent="0" marL="0">
                        <a:buNone/>
                      </a:pPr>
                      <a:r>
                        <a:rPr lang="en-US" sz="1050" b="1" dirty="0">
                          <a:solidFill>
                            <a:srgbClr val="043F52"/>
                          </a:solidFill>
                          <a:latin typeface="Calibri" pitchFamily="34" charset="0"/>
                          <a:ea typeface="Calibri" pitchFamily="34" charset="-122"/>
                          <a:cs typeface="Calibri" pitchFamily="34" charset="-120"/>
                        </a:rPr>
                        <a:t>Conjunto de variables</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solidFill>
                      <a:srgbClr val="EEF8F7"/>
                    </a:solidFill>
                  </a:tcPr>
                </a:tc>
                <a:tc>
                  <a:txBody>
                    <a:bodyPr/>
                    <a:lstStyle/>
                    <a:p>
                      <a:pPr indent="0" marL="0">
                        <a:buNone/>
                      </a:pPr>
                      <a:r>
                        <a:rPr lang="en-US" sz="1050" b="1" dirty="0">
                          <a:solidFill>
                            <a:srgbClr val="043F52"/>
                          </a:solidFill>
                          <a:latin typeface="Calibri" pitchFamily="34" charset="0"/>
                          <a:ea typeface="Calibri" pitchFamily="34" charset="-122"/>
                          <a:cs typeface="Calibri" pitchFamily="34" charset="-120"/>
                        </a:rPr>
                        <a:t>Modelo</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solidFill>
                      <a:srgbClr val="EEF8F7"/>
                    </a:solidFill>
                  </a:tcPr>
                </a:tc>
                <a:tc>
                  <a:txBody>
                    <a:bodyPr/>
                    <a:lstStyle/>
                    <a:p>
                      <a:pPr indent="0" marL="0">
                        <a:buNone/>
                      </a:pPr>
                      <a:r>
                        <a:rPr lang="en-US" sz="1050" b="1" dirty="0">
                          <a:solidFill>
                            <a:srgbClr val="043F52"/>
                          </a:solidFill>
                          <a:latin typeface="Calibri" pitchFamily="34" charset="0"/>
                          <a:ea typeface="Calibri" pitchFamily="34" charset="-122"/>
                          <a:cs typeface="Calibri" pitchFamily="34" charset="-120"/>
                        </a:rPr>
                        <a:t>AUC</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solidFill>
                      <a:srgbClr val="EEF8F7"/>
                    </a:solidFill>
                  </a:tcPr>
                </a:tc>
                <a:tc>
                  <a:txBody>
                    <a:bodyPr/>
                    <a:lstStyle/>
                    <a:p>
                      <a:pPr indent="0" marL="0">
                        <a:buNone/>
                      </a:pPr>
                      <a:r>
                        <a:rPr lang="en-US" sz="1050" b="1" dirty="0">
                          <a:solidFill>
                            <a:srgbClr val="043F52"/>
                          </a:solidFill>
                          <a:latin typeface="Calibri" pitchFamily="34" charset="0"/>
                          <a:ea typeface="Calibri" pitchFamily="34" charset="-122"/>
                          <a:cs typeface="Calibri" pitchFamily="34" charset="-120"/>
                        </a:rPr>
                        <a:t>Rango</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solidFill>
                      <a:srgbClr val="EEF8F7"/>
                    </a:solidFill>
                  </a:tcPr>
                </a:tc>
                <a:tc>
                  <a:txBody>
                    <a:bodyPr/>
                    <a:lstStyle/>
                    <a:p>
                      <a:pPr indent="0" marL="0">
                        <a:buNone/>
                      </a:pPr>
                      <a:r>
                        <a:rPr lang="en-US" sz="1050" b="1" dirty="0">
                          <a:solidFill>
                            <a:srgbClr val="043F52"/>
                          </a:solidFill>
                          <a:latin typeface="Calibri" pitchFamily="34" charset="0"/>
                          <a:ea typeface="Calibri" pitchFamily="34" charset="-122"/>
                          <a:cs typeface="Calibri" pitchFamily="34" charset="-120"/>
                        </a:rPr>
                        <a:t>PR-AUC</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solidFill>
                      <a:srgbClr val="EEF8F7"/>
                    </a:solidFill>
                  </a:tcPr>
                </a:tc>
                <a:tc>
                  <a:txBody>
                    <a:bodyPr/>
                    <a:lstStyle/>
                    <a:p>
                      <a:pPr indent="0" marL="0">
                        <a:buNone/>
                      </a:pPr>
                      <a:r>
                        <a:rPr lang="en-US" sz="1050" b="1" dirty="0">
                          <a:solidFill>
                            <a:srgbClr val="043F52"/>
                          </a:solidFill>
                          <a:latin typeface="Calibri" pitchFamily="34" charset="0"/>
                          <a:ea typeface="Calibri" pitchFamily="34" charset="-122"/>
                          <a:cs typeface="Calibri" pitchFamily="34" charset="-120"/>
                        </a:rPr>
                        <a:t>Calibración (pend.)</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solidFill>
                      <a:srgbClr val="EEF8F7"/>
                    </a:solidFill>
                  </a:tcPr>
                </a:tc>
                <a:tc>
                  <a:txBody>
                    <a:bodyPr/>
                    <a:lstStyle/>
                    <a:p>
                      <a:pPr indent="0" marL="0">
                        <a:buNone/>
                      </a:pPr>
                      <a:r>
                        <a:rPr lang="en-US" sz="1050" b="1" dirty="0">
                          <a:solidFill>
                            <a:srgbClr val="043F52"/>
                          </a:solidFill>
                          <a:latin typeface="Calibri" pitchFamily="34" charset="0"/>
                          <a:ea typeface="Calibri" pitchFamily="34" charset="-122"/>
                          <a:cs typeface="Calibri" pitchFamily="34" charset="-120"/>
                        </a:rPr>
                        <a:t>Brier</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solidFill>
                      <a:srgbClr val="EEF8F7"/>
                    </a:solidFill>
                  </a:tcPr>
                </a:tc>
              </a:tr>
              <a:tr h="246888">
                <a:tc>
                  <a:txBody>
                    <a:bodyPr/>
                    <a:lstStyle/>
                    <a:p>
                      <a:pPr indent="0" marL="0">
                        <a:buNone/>
                      </a:pPr>
                      <a:r>
                        <a:rPr lang="en-US" sz="1050" dirty="0">
                          <a:solidFill>
                            <a:srgbClr val="043F52"/>
                          </a:solidFill>
                          <a:latin typeface="Calibri" pitchFamily="34" charset="0"/>
                          <a:ea typeface="Calibri" pitchFamily="34" charset="-122"/>
                          <a:cs typeface="Calibri" pitchFamily="34" charset="-120"/>
                        </a:rPr>
                        <a:t>15 ex ante limpias</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tcPr>
                </a:tc>
                <a:tc>
                  <a:txBody>
                    <a:bodyPr/>
                    <a:lstStyle/>
                    <a:p>
                      <a:pPr indent="0" marL="0">
                        <a:buNone/>
                      </a:pPr>
                      <a:r>
                        <a:rPr lang="en-US" sz="1050" dirty="0">
                          <a:solidFill>
                            <a:srgbClr val="043F52"/>
                          </a:solidFill>
                          <a:latin typeface="Calibri" pitchFamily="34" charset="0"/>
                          <a:ea typeface="Calibri" pitchFamily="34" charset="-122"/>
                          <a:cs typeface="Calibri" pitchFamily="34" charset="-120"/>
                        </a:rPr>
                        <a:t>Logística</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tcPr>
                </a:tc>
                <a:tc>
                  <a:txBody>
                    <a:bodyPr/>
                    <a:lstStyle/>
                    <a:p>
                      <a:pPr indent="0" marL="0">
                        <a:buNone/>
                      </a:pPr>
                      <a:r>
                        <a:rPr lang="en-US" sz="1050" dirty="0">
                          <a:solidFill>
                            <a:srgbClr val="043F52"/>
                          </a:solidFill>
                          <a:latin typeface="Calibri" pitchFamily="34" charset="0"/>
                          <a:ea typeface="Calibri" pitchFamily="34" charset="-122"/>
                          <a:cs typeface="Calibri" pitchFamily="34" charset="-120"/>
                        </a:rPr>
                        <a:t>0,820</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tcPr>
                </a:tc>
                <a:tc>
                  <a:txBody>
                    <a:bodyPr/>
                    <a:lstStyle/>
                    <a:p>
                      <a:pPr indent="0" marL="0">
                        <a:buNone/>
                      </a:pPr>
                      <a:r>
                        <a:rPr lang="en-US" sz="1050" dirty="0">
                          <a:solidFill>
                            <a:srgbClr val="043F52"/>
                          </a:solidFill>
                          <a:latin typeface="Calibri" pitchFamily="34" charset="0"/>
                          <a:ea typeface="Calibri" pitchFamily="34" charset="-122"/>
                          <a:cs typeface="Calibri" pitchFamily="34" charset="-120"/>
                        </a:rPr>
                        <a:t>0,78–0,85</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tcPr>
                </a:tc>
                <a:tc>
                  <a:txBody>
                    <a:bodyPr/>
                    <a:lstStyle/>
                    <a:p>
                      <a:pPr indent="0" marL="0">
                        <a:buNone/>
                      </a:pPr>
                      <a:r>
                        <a:rPr lang="en-US" sz="1050" dirty="0">
                          <a:solidFill>
                            <a:srgbClr val="043F52"/>
                          </a:solidFill>
                          <a:latin typeface="Calibri" pitchFamily="34" charset="0"/>
                          <a:ea typeface="Calibri" pitchFamily="34" charset="-122"/>
                          <a:cs typeface="Calibri" pitchFamily="34" charset="-120"/>
                        </a:rPr>
                        <a:t>0,53</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tcPr>
                </a:tc>
                <a:tc>
                  <a:txBody>
                    <a:bodyPr/>
                    <a:lstStyle/>
                    <a:p>
                      <a:pPr indent="0" marL="0">
                        <a:buNone/>
                      </a:pPr>
                      <a:r>
                        <a:rPr lang="en-US" sz="1050" dirty="0">
                          <a:solidFill>
                            <a:srgbClr val="043F52"/>
                          </a:solidFill>
                          <a:latin typeface="Calibri" pitchFamily="34" charset="0"/>
                          <a:ea typeface="Calibri" pitchFamily="34" charset="-122"/>
                          <a:cs typeface="Calibri" pitchFamily="34" charset="-120"/>
                        </a:rPr>
                        <a:t>0,91</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tcPr>
                </a:tc>
                <a:tc>
                  <a:txBody>
                    <a:bodyPr/>
                    <a:lstStyle/>
                    <a:p>
                      <a:pPr indent="0" marL="0">
                        <a:buNone/>
                      </a:pPr>
                      <a:r>
                        <a:rPr lang="en-US" sz="1050" dirty="0">
                          <a:solidFill>
                            <a:srgbClr val="043F52"/>
                          </a:solidFill>
                          <a:latin typeface="Calibri" pitchFamily="34" charset="0"/>
                          <a:ea typeface="Calibri" pitchFamily="34" charset="-122"/>
                          <a:cs typeface="Calibri" pitchFamily="34" charset="-120"/>
                        </a:rPr>
                        <a:t>0,129</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tcPr>
                </a:tc>
              </a:tr>
              <a:tr h="246888">
                <a:tc>
                  <a:txBody>
                    <a:bodyPr/>
                    <a:lstStyle/>
                    <a:p>
                      <a:pPr indent="0" marL="0">
                        <a:buNone/>
                      </a:pPr>
                      <a:r>
                        <a:rPr lang="en-US" sz="1050" dirty="0">
                          <a:solidFill>
                            <a:srgbClr val="043F52"/>
                          </a:solidFill>
                          <a:latin typeface="Calibri" pitchFamily="34" charset="0"/>
                          <a:ea typeface="Calibri" pitchFamily="34" charset="-122"/>
                          <a:cs typeface="Calibri" pitchFamily="34" charset="-120"/>
                        </a:rPr>
                        <a:t>15 ex ante limpias</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tcPr>
                </a:tc>
                <a:tc>
                  <a:txBody>
                    <a:bodyPr/>
                    <a:lstStyle/>
                    <a:p>
                      <a:pPr indent="0" marL="0">
                        <a:buNone/>
                      </a:pPr>
                      <a:r>
                        <a:rPr lang="en-US" sz="1050" dirty="0">
                          <a:solidFill>
                            <a:srgbClr val="043F52"/>
                          </a:solidFill>
                          <a:latin typeface="Calibri" pitchFamily="34" charset="0"/>
                          <a:ea typeface="Calibri" pitchFamily="34" charset="-122"/>
                          <a:cs typeface="Calibri" pitchFamily="34" charset="-120"/>
                        </a:rPr>
                        <a:t>LightGBM</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tcPr>
                </a:tc>
                <a:tc>
                  <a:txBody>
                    <a:bodyPr/>
                    <a:lstStyle/>
                    <a:p>
                      <a:pPr indent="0" marL="0">
                        <a:buNone/>
                      </a:pPr>
                      <a:r>
                        <a:rPr lang="en-US" sz="1050" dirty="0">
                          <a:solidFill>
                            <a:srgbClr val="043F52"/>
                          </a:solidFill>
                          <a:latin typeface="Calibri" pitchFamily="34" charset="0"/>
                          <a:ea typeface="Calibri" pitchFamily="34" charset="-122"/>
                          <a:cs typeface="Calibri" pitchFamily="34" charset="-120"/>
                        </a:rPr>
                        <a:t>0,791</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tcPr>
                </a:tc>
                <a:tc>
                  <a:txBody>
                    <a:bodyPr/>
                    <a:lstStyle/>
                    <a:p>
                      <a:pPr indent="0" marL="0">
                        <a:buNone/>
                      </a:pPr>
                      <a:r>
                        <a:rPr lang="en-US" sz="1050" dirty="0">
                          <a:solidFill>
                            <a:srgbClr val="043F52"/>
                          </a:solidFill>
                          <a:latin typeface="Calibri" pitchFamily="34" charset="0"/>
                          <a:ea typeface="Calibri" pitchFamily="34" charset="-122"/>
                          <a:cs typeface="Calibri" pitchFamily="34" charset="-120"/>
                        </a:rPr>
                        <a:t>0,77–0,82</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tcPr>
                </a:tc>
                <a:tc>
                  <a:txBody>
                    <a:bodyPr/>
                    <a:lstStyle/>
                    <a:p>
                      <a:pPr indent="0" marL="0">
                        <a:buNone/>
                      </a:pPr>
                      <a:r>
                        <a:rPr lang="en-US" sz="1050" dirty="0">
                          <a:solidFill>
                            <a:srgbClr val="043F52"/>
                          </a:solidFill>
                          <a:latin typeface="Calibri" pitchFamily="34" charset="0"/>
                          <a:ea typeface="Calibri" pitchFamily="34" charset="-122"/>
                          <a:cs typeface="Calibri" pitchFamily="34" charset="-120"/>
                        </a:rPr>
                        <a:t>0,49</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tcPr>
                </a:tc>
                <a:tc>
                  <a:txBody>
                    <a:bodyPr/>
                    <a:lstStyle/>
                    <a:p>
                      <a:pPr indent="0" marL="0">
                        <a:buNone/>
                      </a:pPr>
                      <a:r>
                        <a:rPr lang="en-US" sz="1050" dirty="0">
                          <a:solidFill>
                            <a:srgbClr val="043F52"/>
                          </a:solidFill>
                          <a:latin typeface="Calibri" pitchFamily="34" charset="0"/>
                          <a:ea typeface="Calibri" pitchFamily="34" charset="-122"/>
                          <a:cs typeface="Calibri" pitchFamily="34" charset="-120"/>
                        </a:rPr>
                        <a:t>0,78</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tcPr>
                </a:tc>
                <a:tc>
                  <a:txBody>
                    <a:bodyPr/>
                    <a:lstStyle/>
                    <a:p>
                      <a:pPr indent="0" marL="0">
                        <a:buNone/>
                      </a:pPr>
                      <a:r>
                        <a:rPr lang="en-US" sz="1050" dirty="0">
                          <a:solidFill>
                            <a:srgbClr val="043F52"/>
                          </a:solidFill>
                          <a:latin typeface="Calibri" pitchFamily="34" charset="0"/>
                          <a:ea typeface="Calibri" pitchFamily="34" charset="-122"/>
                          <a:cs typeface="Calibri" pitchFamily="34" charset="-120"/>
                        </a:rPr>
                        <a:t>0,137</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tcPr>
                </a:tc>
              </a:tr>
              <a:tr h="246888">
                <a:tc>
                  <a:txBody>
                    <a:bodyPr/>
                    <a:lstStyle/>
                    <a:p>
                      <a:pPr indent="0" marL="0">
                        <a:buNone/>
                      </a:pPr>
                      <a:r>
                        <a:rPr lang="en-US" sz="1050" dirty="0">
                          <a:solidFill>
                            <a:srgbClr val="043F52"/>
                          </a:solidFill>
                          <a:latin typeface="Calibri" pitchFamily="34" charset="0"/>
                          <a:ea typeface="Calibri" pitchFamily="34" charset="-122"/>
                          <a:cs typeface="Calibri" pitchFamily="34" charset="-120"/>
                        </a:rPr>
                        <a:t>+ remesas, contactabilidad, regional</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tcPr>
                </a:tc>
                <a:tc>
                  <a:txBody>
                    <a:bodyPr/>
                    <a:lstStyle/>
                    <a:p>
                      <a:pPr indent="0" marL="0">
                        <a:buNone/>
                      </a:pPr>
                      <a:r>
                        <a:rPr lang="en-US" sz="1050" dirty="0">
                          <a:solidFill>
                            <a:srgbClr val="043F52"/>
                          </a:solidFill>
                          <a:latin typeface="Calibri" pitchFamily="34" charset="0"/>
                          <a:ea typeface="Calibri" pitchFamily="34" charset="-122"/>
                          <a:cs typeface="Calibri" pitchFamily="34" charset="-120"/>
                        </a:rPr>
                        <a:t>Logística</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tcPr>
                </a:tc>
                <a:tc>
                  <a:txBody>
                    <a:bodyPr/>
                    <a:lstStyle/>
                    <a:p>
                      <a:pPr indent="0" marL="0">
                        <a:buNone/>
                      </a:pPr>
                      <a:r>
                        <a:rPr lang="en-US" sz="1050" dirty="0">
                          <a:solidFill>
                            <a:srgbClr val="043F52"/>
                          </a:solidFill>
                          <a:latin typeface="Calibri" pitchFamily="34" charset="0"/>
                          <a:ea typeface="Calibri" pitchFamily="34" charset="-122"/>
                          <a:cs typeface="Calibri" pitchFamily="34" charset="-120"/>
                        </a:rPr>
                        <a:t>0,821</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tcPr>
                </a:tc>
                <a:tc>
                  <a:txBody>
                    <a:bodyPr/>
                    <a:lstStyle/>
                    <a:p>
                      <a:pPr indent="0" marL="0">
                        <a:buNone/>
                      </a:pPr>
                      <a:r>
                        <a:rPr lang="en-US" sz="1050" dirty="0">
                          <a:solidFill>
                            <a:srgbClr val="043F52"/>
                          </a:solidFill>
                          <a:latin typeface="Calibri" pitchFamily="34" charset="0"/>
                          <a:ea typeface="Calibri" pitchFamily="34" charset="-122"/>
                          <a:cs typeface="Calibri" pitchFamily="34" charset="-120"/>
                        </a:rPr>
                        <a:t>0,79–0,85</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tcPr>
                </a:tc>
                <a:tc>
                  <a:txBody>
                    <a:bodyPr/>
                    <a:lstStyle/>
                    <a:p>
                      <a:pPr indent="0" marL="0">
                        <a:buNone/>
                      </a:pPr>
                      <a:r>
                        <a:rPr lang="en-US" sz="1050" dirty="0">
                          <a:solidFill>
                            <a:srgbClr val="043F52"/>
                          </a:solidFill>
                          <a:latin typeface="Calibri" pitchFamily="34" charset="0"/>
                          <a:ea typeface="Calibri" pitchFamily="34" charset="-122"/>
                          <a:cs typeface="Calibri" pitchFamily="34" charset="-120"/>
                        </a:rPr>
                        <a:t>0,53</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tcPr>
                </a:tc>
                <a:tc>
                  <a:txBody>
                    <a:bodyPr/>
                    <a:lstStyle/>
                    <a:p>
                      <a:pPr indent="0" marL="0">
                        <a:buNone/>
                      </a:pPr>
                      <a:r>
                        <a:rPr lang="en-US" sz="1050" dirty="0">
                          <a:solidFill>
                            <a:srgbClr val="043F52"/>
                          </a:solidFill>
                          <a:latin typeface="Calibri" pitchFamily="34" charset="0"/>
                          <a:ea typeface="Calibri" pitchFamily="34" charset="-122"/>
                          <a:cs typeface="Calibri" pitchFamily="34" charset="-120"/>
                        </a:rPr>
                        <a:t>0,91</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tcPr>
                </a:tc>
                <a:tc>
                  <a:txBody>
                    <a:bodyPr/>
                    <a:lstStyle/>
                    <a:p>
                      <a:pPr indent="0" marL="0">
                        <a:buNone/>
                      </a:pPr>
                      <a:r>
                        <a:rPr lang="en-US" sz="1050" dirty="0">
                          <a:solidFill>
                            <a:srgbClr val="043F52"/>
                          </a:solidFill>
                          <a:latin typeface="Calibri" pitchFamily="34" charset="0"/>
                          <a:ea typeface="Calibri" pitchFamily="34" charset="-122"/>
                          <a:cs typeface="Calibri" pitchFamily="34" charset="-120"/>
                        </a:rPr>
                        <a:t>0,128</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tcPr>
                </a:tc>
              </a:tr>
              <a:tr h="246888">
                <a:tc>
                  <a:txBody>
                    <a:bodyPr/>
                    <a:lstStyle/>
                    <a:p>
                      <a:pPr indent="0" marL="0">
                        <a:buNone/>
                      </a:pPr>
                      <a:r>
                        <a:rPr lang="en-US" sz="1050" dirty="0">
                          <a:solidFill>
                            <a:srgbClr val="043F52"/>
                          </a:solidFill>
                          <a:latin typeface="Calibri" pitchFamily="34" charset="0"/>
                          <a:ea typeface="Calibri" pitchFamily="34" charset="-122"/>
                          <a:cs typeface="Calibri" pitchFamily="34" charset="-120"/>
                        </a:rPr>
                        <a:t>+ resultado_gestion_30d</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tcPr>
                </a:tc>
                <a:tc>
                  <a:txBody>
                    <a:bodyPr/>
                    <a:lstStyle/>
                    <a:p>
                      <a:pPr indent="0" marL="0">
                        <a:buNone/>
                      </a:pPr>
                      <a:r>
                        <a:rPr lang="en-US" sz="1050" dirty="0">
                          <a:solidFill>
                            <a:srgbClr val="043F52"/>
                          </a:solidFill>
                          <a:latin typeface="Calibri" pitchFamily="34" charset="0"/>
                          <a:ea typeface="Calibri" pitchFamily="34" charset="-122"/>
                          <a:cs typeface="Calibri" pitchFamily="34" charset="-120"/>
                        </a:rPr>
                        <a:t>Logística</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tcPr>
                </a:tc>
                <a:tc>
                  <a:txBody>
                    <a:bodyPr/>
                    <a:lstStyle/>
                    <a:p>
                      <a:pPr indent="0" marL="0">
                        <a:buNone/>
                      </a:pPr>
                      <a:r>
                        <a:rPr lang="en-US" sz="1050" dirty="0">
                          <a:solidFill>
                            <a:srgbClr val="043F52"/>
                          </a:solidFill>
                          <a:latin typeface="Calibri" pitchFamily="34" charset="0"/>
                          <a:ea typeface="Calibri" pitchFamily="34" charset="-122"/>
                          <a:cs typeface="Calibri" pitchFamily="34" charset="-120"/>
                        </a:rPr>
                        <a:t>0,944</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tcPr>
                </a:tc>
                <a:tc>
                  <a:txBody>
                    <a:bodyPr/>
                    <a:lstStyle/>
                    <a:p>
                      <a:pPr indent="0" marL="0">
                        <a:buNone/>
                      </a:pPr>
                      <a:r>
                        <a:rPr lang="en-US" sz="1050" dirty="0">
                          <a:solidFill>
                            <a:srgbClr val="043F52"/>
                          </a:solidFill>
                          <a:latin typeface="Calibri" pitchFamily="34" charset="0"/>
                          <a:ea typeface="Calibri" pitchFamily="34" charset="-122"/>
                          <a:cs typeface="Calibri" pitchFamily="34" charset="-120"/>
                        </a:rPr>
                        <a:t>0,93–0,97</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tcPr>
                </a:tc>
                <a:tc>
                  <a:txBody>
                    <a:bodyPr/>
                    <a:lstStyle/>
                    <a:p>
                      <a:pPr indent="0" marL="0">
                        <a:buNone/>
                      </a:pPr>
                      <a:r>
                        <a:rPr lang="en-US" sz="1050" dirty="0">
                          <a:solidFill>
                            <a:srgbClr val="043F52"/>
                          </a:solidFill>
                          <a:latin typeface="Calibri" pitchFamily="34" charset="0"/>
                          <a:ea typeface="Calibri" pitchFamily="34" charset="-122"/>
                          <a:cs typeface="Calibri" pitchFamily="34" charset="-120"/>
                        </a:rPr>
                        <a:t>0,85</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tcPr>
                </a:tc>
                <a:tc>
                  <a:txBody>
                    <a:bodyPr/>
                    <a:lstStyle/>
                    <a:p>
                      <a:pPr indent="0" marL="0">
                        <a:buNone/>
                      </a:pPr>
                      <a:r>
                        <a:rPr lang="en-US" sz="1050" dirty="0">
                          <a:solidFill>
                            <a:srgbClr val="043F52"/>
                          </a:solidFill>
                          <a:latin typeface="Calibri" pitchFamily="34" charset="0"/>
                          <a:ea typeface="Calibri" pitchFamily="34" charset="-122"/>
                          <a:cs typeface="Calibri" pitchFamily="34" charset="-120"/>
                        </a:rPr>
                        <a:t>0,99</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tcPr>
                </a:tc>
                <a:tc>
                  <a:txBody>
                    <a:bodyPr/>
                    <a:lstStyle/>
                    <a:p>
                      <a:pPr indent="0" marL="0">
                        <a:buNone/>
                      </a:pPr>
                      <a:r>
                        <a:rPr lang="en-US" sz="1050" dirty="0">
                          <a:solidFill>
                            <a:srgbClr val="043F52"/>
                          </a:solidFill>
                          <a:latin typeface="Calibri" pitchFamily="34" charset="0"/>
                          <a:ea typeface="Calibri" pitchFamily="34" charset="-122"/>
                          <a:cs typeface="Calibri" pitchFamily="34" charset="-120"/>
                        </a:rPr>
                        <a:t>0,067</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tcPr>
                </a:tc>
              </a:tr>
              <a:tr h="246888">
                <a:tc>
                  <a:txBody>
                    <a:bodyPr/>
                    <a:lstStyle/>
                    <a:p>
                      <a:pPr indent="0" marL="0">
                        <a:buNone/>
                      </a:pPr>
                      <a:r>
                        <a:rPr lang="en-US" sz="1050" dirty="0">
                          <a:solidFill>
                            <a:srgbClr val="043F52"/>
                          </a:solidFill>
                          <a:latin typeface="Calibri" pitchFamily="34" charset="0"/>
                          <a:ea typeface="Calibri" pitchFamily="34" charset="-122"/>
                          <a:cs typeface="Calibri" pitchFamily="34" charset="-120"/>
                        </a:rPr>
                        <a:t>+ dias_hasta_renovacion</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tcPr>
                </a:tc>
                <a:tc>
                  <a:txBody>
                    <a:bodyPr/>
                    <a:lstStyle/>
                    <a:p>
                      <a:pPr indent="0" marL="0">
                        <a:buNone/>
                      </a:pPr>
                      <a:r>
                        <a:rPr lang="en-US" sz="1050" dirty="0">
                          <a:solidFill>
                            <a:srgbClr val="043F52"/>
                          </a:solidFill>
                          <a:latin typeface="Calibri" pitchFamily="34" charset="0"/>
                          <a:ea typeface="Calibri" pitchFamily="34" charset="-122"/>
                          <a:cs typeface="Calibri" pitchFamily="34" charset="-120"/>
                        </a:rPr>
                        <a:t>LightGBM</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tcPr>
                </a:tc>
                <a:tc>
                  <a:txBody>
                    <a:bodyPr/>
                    <a:lstStyle/>
                    <a:p>
                      <a:pPr indent="0" marL="0">
                        <a:buNone/>
                      </a:pPr>
                      <a:r>
                        <a:rPr lang="en-US" sz="1050" dirty="0">
                          <a:solidFill>
                            <a:srgbClr val="043F52"/>
                          </a:solidFill>
                          <a:latin typeface="Calibri" pitchFamily="34" charset="0"/>
                          <a:ea typeface="Calibri" pitchFamily="34" charset="-122"/>
                          <a:cs typeface="Calibri" pitchFamily="34" charset="-120"/>
                        </a:rPr>
                        <a:t>1,000</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tcPr>
                </a:tc>
                <a:tc>
                  <a:txBody>
                    <a:bodyPr/>
                    <a:lstStyle/>
                    <a:p>
                      <a:pPr indent="0" marL="0">
                        <a:buNone/>
                      </a:pPr>
                      <a:r>
                        <a:rPr lang="en-US" sz="1050" dirty="0">
                          <a:solidFill>
                            <a:srgbClr val="043F52"/>
                          </a:solidFill>
                          <a:latin typeface="Calibri" pitchFamily="34" charset="0"/>
                          <a:ea typeface="Calibri" pitchFamily="34" charset="-122"/>
                          <a:cs typeface="Calibri" pitchFamily="34" charset="-120"/>
                        </a:rPr>
                        <a:t>1,00–1,00</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tcPr>
                </a:tc>
                <a:tc>
                  <a:txBody>
                    <a:bodyPr/>
                    <a:lstStyle/>
                    <a:p>
                      <a:pPr indent="0" marL="0">
                        <a:buNone/>
                      </a:pPr>
                      <a:r>
                        <a:rPr lang="en-US" sz="1050" dirty="0">
                          <a:solidFill>
                            <a:srgbClr val="043F52"/>
                          </a:solidFill>
                          <a:latin typeface="Calibri" pitchFamily="34" charset="0"/>
                          <a:ea typeface="Calibri" pitchFamily="34" charset="-122"/>
                          <a:cs typeface="Calibri" pitchFamily="34" charset="-120"/>
                        </a:rPr>
                        <a:t>1,00</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tcPr>
                </a:tc>
                <a:tc>
                  <a:txBody>
                    <a:bodyPr/>
                    <a:lstStyle/>
                    <a:p>
                      <a:pPr indent="0" marL="0">
                        <a:buNone/>
                      </a:pPr>
                      <a:r>
                        <a:rPr lang="en-US" sz="1050" dirty="0">
                          <a:solidFill>
                            <a:srgbClr val="043F52"/>
                          </a:solidFill>
                          <a:latin typeface="Calibri" pitchFamily="34" charset="0"/>
                          <a:ea typeface="Calibri" pitchFamily="34" charset="-122"/>
                          <a:cs typeface="Calibri" pitchFamily="34" charset="-120"/>
                        </a:rPr>
                        <a:t>1,00</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tcPr>
                </a:tc>
                <a:tc>
                  <a:txBody>
                    <a:bodyPr/>
                    <a:lstStyle/>
                    <a:p>
                      <a:pPr indent="0" marL="0">
                        <a:buNone/>
                      </a:pPr>
                      <a:r>
                        <a:rPr lang="en-US" sz="1050" dirty="0">
                          <a:solidFill>
                            <a:srgbClr val="043F52"/>
                          </a:solidFill>
                          <a:latin typeface="Calibri" pitchFamily="34" charset="0"/>
                          <a:ea typeface="Calibri" pitchFamily="34" charset="-122"/>
                          <a:cs typeface="Calibri" pitchFamily="34" charset="-120"/>
                        </a:rPr>
                        <a:t>0,000</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tcPr>
                </a:tc>
              </a:tr>
            </a:tbl>
          </a:graphicData>
        </a:graphic>
      </p:graphicFrame>
      <p:sp>
        <p:nvSpPr>
          <p:cNvPr id="5" name="Text 2"/>
          <p:cNvSpPr txBox="1"/>
          <p:nvPr/>
        </p:nvSpPr>
        <p:spPr>
          <a:xfrm>
            <a:off x="457200" y="3044952"/>
            <a:ext cx="6675120" cy="777240"/>
          </a:xfrm>
          <a:prstGeom prst="rect">
            <a:avLst/>
          </a:prstGeom>
          <a:noFill/>
          <a:ln/>
        </p:spPr>
        <p:txBody>
          <a:bodyPr wrap="square" lIns="0" tIns="0" rIns="0" bIns="0" rtlCol="0" anchor="ctr"/>
          <a:lstStyle/>
          <a:p>
            <a:pPr indent="0" marL="0">
              <a:buNone/>
            </a:pPr>
            <a:r>
              <a:rPr lang="en-US" sz="850" dirty="0">
                <a:solidFill>
                  <a:srgbClr val="4A6A72"/>
                </a:solidFill>
                <a:latin typeface="Calibri" pitchFamily="34" charset="0"/>
                <a:ea typeface="Calibri" pitchFamily="34" charset="-122"/>
                <a:cs typeface="Calibri" pitchFamily="34" charset="-120"/>
              </a:rPr>
              <a:t>Prevalencia de la base 20,2 %. Calibración: pendiente de observado sobre predicho (1 = perfecta); media predicha 0,197 vs. observada 0,207. Las conversiones «top 8k» de la hoja no son comparables con esta base. Sin gap (train &lt; t, abril a agosto): 0,82 / 0,80; k-fold aleatorio: 0,82. Coeficientes estandarizados del modelo limpio: score_buro 1,29; max_mora_6m −0,56; respondio_oferta_previa 0,27; el resto &lt; 0,15. Orgánico por tercil de buró (no contactados): alto 5,4 % (7/129, IC 2,7–10,8 %), contactados del tercil alto 53 %: parte del valor de B es orgánica y el holdout lo mide.</a:t>
            </a:r>
            <a:endParaRPr lang="en-US" sz="850" dirty="0"/>
          </a:p>
        </p:txBody>
      </p:sp>
      <p:sp>
        <p:nvSpPr>
          <p:cNvPr id="6" name="Text 3"/>
          <p:cNvSpPr txBox="1"/>
          <p:nvPr/>
        </p:nvSpPr>
        <p:spPr>
          <a:xfrm>
            <a:off x="7406640" y="1188720"/>
            <a:ext cx="4297680" cy="292608"/>
          </a:xfrm>
          <a:prstGeom prst="rect">
            <a:avLst/>
          </a:prstGeom>
          <a:noFill/>
          <a:ln/>
        </p:spPr>
        <p:txBody>
          <a:bodyPr wrap="square" lIns="0" tIns="0" rIns="0" bIns="0" rtlCol="0" anchor="ctr"/>
          <a:lstStyle/>
          <a:p>
            <a:pPr indent="0" marL="0">
              <a:buNone/>
            </a:pPr>
            <a:r>
              <a:rPr lang="en-US" sz="1200" b="1" dirty="0">
                <a:solidFill>
                  <a:srgbClr val="043F52"/>
                </a:solidFill>
                <a:latin typeface="Calibri" pitchFamily="34" charset="0"/>
                <a:ea typeface="Calibri" pitchFamily="34" charset="-122"/>
                <a:cs typeface="Calibri" pitchFamily="34" charset="-120"/>
              </a:rPr>
              <a:t>Valor esperado mensual (COP millones, 8.000 contactos)</a:t>
            </a:r>
            <a:endParaRPr lang="en-US" sz="1200" dirty="0"/>
          </a:p>
        </p:txBody>
      </p:sp>
      <p:graphicFrame>
        <p:nvGraphicFramePr>
          <p:cNvPr id="15" name="Table 1"/>
          <p:cNvGraphicFramePr>
            <a:graphicFrameLocks noGrp="1"/>
          </p:cNvGraphicFramePr>
          <p:nvPr>
            <p:extLst>
              <p:ext uri="{D42A27DB-BD31-4B8C-83A1-F6EECF244321}">
                <p14:modId xmlns:p14="http://schemas.microsoft.com/office/powerpoint/2010/main" val="1579011935"/>
              </p:ext>
            </p:extLst>
          </p:nvPr>
        </p:nvGraphicFramePr>
        <p:xfrm>
          <a:off x="7406640" y="1508760"/>
          <a:ext cx="4325112" cy="914400"/>
        </p:xfrm>
        <a:graphic>
          <a:graphicData uri="http://schemas.openxmlformats.org/drawingml/2006/table">
            <a:tbl>
              <a:tblPr/>
              <a:tblGrid>
                <a:gridCol w="502920"/>
                <a:gridCol w="594360"/>
                <a:gridCol w="594360"/>
                <a:gridCol w="594360"/>
                <a:gridCol w="822960"/>
                <a:gridCol w="1216152"/>
              </a:tblGrid>
              <a:tr h="246888">
                <a:tc>
                  <a:txBody>
                    <a:bodyPr/>
                    <a:lstStyle/>
                    <a:p>
                      <a:pPr indent="0" marL="0">
                        <a:buNone/>
                      </a:pPr>
                      <a:r>
                        <a:rPr lang="en-US" sz="1050" b="1" dirty="0">
                          <a:solidFill>
                            <a:srgbClr val="043F52"/>
                          </a:solidFill>
                          <a:latin typeface="Calibri" pitchFamily="34" charset="0"/>
                          <a:ea typeface="Calibri" pitchFamily="34" charset="-122"/>
                          <a:cs typeface="Calibri" pitchFamily="34" charset="-120"/>
                        </a:rPr>
                        <a:t>Alt.</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solidFill>
                      <a:srgbClr val="EEF8F7"/>
                    </a:solidFill>
                  </a:tcPr>
                </a:tc>
                <a:tc>
                  <a:txBody>
                    <a:bodyPr/>
                    <a:lstStyle/>
                    <a:p>
                      <a:pPr indent="0" marL="0">
                        <a:buNone/>
                      </a:pPr>
                      <a:r>
                        <a:rPr lang="en-US" sz="1050" b="1" dirty="0">
                          <a:solidFill>
                            <a:srgbClr val="043F52"/>
                          </a:solidFill>
                          <a:latin typeface="Calibri" pitchFamily="34" charset="0"/>
                          <a:ea typeface="Calibri" pitchFamily="34" charset="-122"/>
                          <a:cs typeface="Calibri" pitchFamily="34" charset="-120"/>
                        </a:rPr>
                        <a:t>Renov.</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solidFill>
                      <a:srgbClr val="EEF8F7"/>
                    </a:solidFill>
                  </a:tcPr>
                </a:tc>
                <a:tc>
                  <a:txBody>
                    <a:bodyPr/>
                    <a:lstStyle/>
                    <a:p>
                      <a:pPr indent="0" marL="0">
                        <a:buNone/>
                      </a:pPr>
                      <a:r>
                        <a:rPr lang="en-US" sz="1050" b="1" dirty="0">
                          <a:solidFill>
                            <a:srgbClr val="043F52"/>
                          </a:solidFill>
                          <a:latin typeface="Calibri" pitchFamily="34" charset="0"/>
                          <a:ea typeface="Calibri" pitchFamily="34" charset="-122"/>
                          <a:cs typeface="Calibri" pitchFamily="34" charset="-120"/>
                        </a:rPr>
                        <a:t>Mora</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solidFill>
                      <a:srgbClr val="EEF8F7"/>
                    </a:solidFill>
                  </a:tcPr>
                </a:tc>
                <a:tc>
                  <a:txBody>
                    <a:bodyPr/>
                    <a:lstStyle/>
                    <a:p>
                      <a:pPr indent="0" marL="0">
                        <a:buNone/>
                      </a:pPr>
                      <a:r>
                        <a:rPr lang="en-US" sz="1050" b="1" dirty="0">
                          <a:solidFill>
                            <a:srgbClr val="043F52"/>
                          </a:solidFill>
                          <a:latin typeface="Calibri" pitchFamily="34" charset="0"/>
                          <a:ea typeface="Calibri" pitchFamily="34" charset="-122"/>
                          <a:cs typeface="Calibri" pitchFamily="34" charset="-120"/>
                        </a:rPr>
                        <a:t>Bruto</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solidFill>
                      <a:srgbClr val="EEF8F7"/>
                    </a:solidFill>
                  </a:tcPr>
                </a:tc>
                <a:tc>
                  <a:txBody>
                    <a:bodyPr/>
                    <a:lstStyle/>
                    <a:p>
                      <a:pPr indent="0" marL="0">
                        <a:buNone/>
                      </a:pPr>
                      <a:r>
                        <a:rPr lang="en-US" sz="1050" b="1" dirty="0">
                          <a:solidFill>
                            <a:srgbClr val="043F52"/>
                          </a:solidFill>
                          <a:latin typeface="Calibri" pitchFamily="34" charset="0"/>
                          <a:ea typeface="Calibri" pitchFamily="34" charset="-122"/>
                          <a:cs typeface="Calibri" pitchFamily="34" charset="-120"/>
                        </a:rPr>
                        <a:t>Costo mora</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solidFill>
                      <a:srgbClr val="EEF8F7"/>
                    </a:solidFill>
                  </a:tcPr>
                </a:tc>
                <a:tc>
                  <a:txBody>
                    <a:bodyPr/>
                    <a:lstStyle/>
                    <a:p>
                      <a:pPr indent="0" marL="0">
                        <a:buNone/>
                      </a:pPr>
                      <a:r>
                        <a:rPr lang="en-US" sz="1050" b="1" dirty="0">
                          <a:solidFill>
                            <a:srgbClr val="043F52"/>
                          </a:solidFill>
                          <a:latin typeface="Calibri" pitchFamily="34" charset="0"/>
                          <a:ea typeface="Calibri" pitchFamily="34" charset="-122"/>
                          <a:cs typeface="Calibri" pitchFamily="34" charset="-120"/>
                        </a:rPr>
                        <a:t>Neto</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solidFill>
                      <a:srgbClr val="EEF8F7"/>
                    </a:solidFill>
                  </a:tcPr>
                </a:tc>
              </a:tr>
              <a:tr h="246888">
                <a:tc>
                  <a:txBody>
                    <a:bodyPr/>
                    <a:lstStyle/>
                    <a:p>
                      <a:pPr indent="0" marL="0">
                        <a:buNone/>
                      </a:pPr>
                      <a:r>
                        <a:rPr lang="en-US" sz="1050" dirty="0">
                          <a:solidFill>
                            <a:srgbClr val="043F52"/>
                          </a:solidFill>
                          <a:latin typeface="Calibri" pitchFamily="34" charset="0"/>
                          <a:ea typeface="Calibri" pitchFamily="34" charset="-122"/>
                          <a:cs typeface="Calibri" pitchFamily="34" charset="-120"/>
                        </a:rPr>
                        <a:t>Actual</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tcPr>
                </a:tc>
                <a:tc>
                  <a:txBody>
                    <a:bodyPr/>
                    <a:lstStyle/>
                    <a:p>
                      <a:pPr indent="0" marL="0">
                        <a:buNone/>
                      </a:pPr>
                      <a:r>
                        <a:rPr lang="en-US" sz="1050" dirty="0">
                          <a:solidFill>
                            <a:srgbClr val="043F52"/>
                          </a:solidFill>
                          <a:latin typeface="Calibri" pitchFamily="34" charset="0"/>
                          <a:ea typeface="Calibri" pitchFamily="34" charset="-122"/>
                          <a:cs typeface="Calibri" pitchFamily="34" charset="-120"/>
                        </a:rPr>
                        <a:t>288</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tcPr>
                </a:tc>
                <a:tc>
                  <a:txBody>
                    <a:bodyPr/>
                    <a:lstStyle/>
                    <a:p>
                      <a:pPr indent="0" marL="0">
                        <a:buNone/>
                      </a:pPr>
                      <a:r>
                        <a:rPr lang="en-US" sz="1050" dirty="0">
                          <a:solidFill>
                            <a:srgbClr val="043F52"/>
                          </a:solidFill>
                          <a:latin typeface="Calibri" pitchFamily="34" charset="0"/>
                          <a:ea typeface="Calibri" pitchFamily="34" charset="-122"/>
                          <a:cs typeface="Calibri" pitchFamily="34" charset="-120"/>
                        </a:rPr>
                        <a:t>5,1 %</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tcPr>
                </a:tc>
                <a:tc>
                  <a:txBody>
                    <a:bodyPr/>
                    <a:lstStyle/>
                    <a:p>
                      <a:pPr indent="0" marL="0">
                        <a:buNone/>
                      </a:pPr>
                      <a:r>
                        <a:rPr lang="en-US" sz="1050" dirty="0">
                          <a:solidFill>
                            <a:srgbClr val="043F52"/>
                          </a:solidFill>
                          <a:latin typeface="Calibri" pitchFamily="34" charset="0"/>
                          <a:ea typeface="Calibri" pitchFamily="34" charset="-122"/>
                          <a:cs typeface="Calibri" pitchFamily="34" charset="-120"/>
                        </a:rPr>
                        <a:t>121,0</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tcPr>
                </a:tc>
                <a:tc>
                  <a:txBody>
                    <a:bodyPr/>
                    <a:lstStyle/>
                    <a:p>
                      <a:pPr indent="0" marL="0">
                        <a:buNone/>
                      </a:pPr>
                      <a:r>
                        <a:rPr lang="en-US" sz="1050" dirty="0">
                          <a:solidFill>
                            <a:srgbClr val="043F52"/>
                          </a:solidFill>
                          <a:latin typeface="Calibri" pitchFamily="34" charset="0"/>
                          <a:ea typeface="Calibri" pitchFamily="34" charset="-122"/>
                          <a:cs typeface="Calibri" pitchFamily="34" charset="-120"/>
                        </a:rPr>
                        <a:t>26,4</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tcPr>
                </a:tc>
                <a:tc>
                  <a:txBody>
                    <a:bodyPr/>
                    <a:lstStyle/>
                    <a:p>
                      <a:pPr indent="0" marL="0">
                        <a:buNone/>
                      </a:pPr>
                      <a:r>
                        <a:rPr lang="en-US" sz="1050" dirty="0">
                          <a:solidFill>
                            <a:srgbClr val="043F52"/>
                          </a:solidFill>
                          <a:latin typeface="Calibri" pitchFamily="34" charset="0"/>
                          <a:ea typeface="Calibri" pitchFamily="34" charset="-122"/>
                          <a:cs typeface="Calibri" pitchFamily="34" charset="-120"/>
                        </a:rPr>
                        <a:t>94,5</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tcPr>
                </a:tc>
              </a:tr>
              <a:tr h="246888">
                <a:tc>
                  <a:txBody>
                    <a:bodyPr/>
                    <a:lstStyle/>
                    <a:p>
                      <a:pPr indent="0" marL="0">
                        <a:buNone/>
                      </a:pPr>
                      <a:r>
                        <a:rPr lang="en-US" sz="1050" dirty="0">
                          <a:solidFill>
                            <a:srgbClr val="043F52"/>
                          </a:solidFill>
                          <a:latin typeface="Calibri" pitchFamily="34" charset="0"/>
                          <a:ea typeface="Calibri" pitchFamily="34" charset="-122"/>
                          <a:cs typeface="Calibri" pitchFamily="34" charset="-120"/>
                        </a:rPr>
                        <a:t>A</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tcPr>
                </a:tc>
                <a:tc>
                  <a:txBody>
                    <a:bodyPr/>
                    <a:lstStyle/>
                    <a:p>
                      <a:pPr indent="0" marL="0">
                        <a:buNone/>
                      </a:pPr>
                      <a:r>
                        <a:rPr lang="en-US" sz="1050" dirty="0">
                          <a:solidFill>
                            <a:srgbClr val="043F52"/>
                          </a:solidFill>
                          <a:latin typeface="Calibri" pitchFamily="34" charset="0"/>
                          <a:ea typeface="Calibri" pitchFamily="34" charset="-122"/>
                          <a:cs typeface="Calibri" pitchFamily="34" charset="-120"/>
                        </a:rPr>
                        <a:t>752</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tcPr>
                </a:tc>
                <a:tc>
                  <a:txBody>
                    <a:bodyPr/>
                    <a:lstStyle/>
                    <a:p>
                      <a:pPr indent="0" marL="0">
                        <a:buNone/>
                      </a:pPr>
                      <a:r>
                        <a:rPr lang="en-US" sz="1050" dirty="0">
                          <a:solidFill>
                            <a:srgbClr val="043F52"/>
                          </a:solidFill>
                          <a:latin typeface="Calibri" pitchFamily="34" charset="0"/>
                          <a:ea typeface="Calibri" pitchFamily="34" charset="-122"/>
                          <a:cs typeface="Calibri" pitchFamily="34" charset="-120"/>
                        </a:rPr>
                        <a:t>7,2 %</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tcPr>
                </a:tc>
                <a:tc>
                  <a:txBody>
                    <a:bodyPr/>
                    <a:lstStyle/>
                    <a:p>
                      <a:pPr indent="0" marL="0">
                        <a:buNone/>
                      </a:pPr>
                      <a:r>
                        <a:rPr lang="en-US" sz="1050" dirty="0">
                          <a:solidFill>
                            <a:srgbClr val="043F52"/>
                          </a:solidFill>
                          <a:latin typeface="Calibri" pitchFamily="34" charset="0"/>
                          <a:ea typeface="Calibri" pitchFamily="34" charset="-122"/>
                          <a:cs typeface="Calibri" pitchFamily="34" charset="-120"/>
                        </a:rPr>
                        <a:t>315,8</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tcPr>
                </a:tc>
                <a:tc>
                  <a:txBody>
                    <a:bodyPr/>
                    <a:lstStyle/>
                    <a:p>
                      <a:pPr indent="0" marL="0">
                        <a:buNone/>
                      </a:pPr>
                      <a:r>
                        <a:rPr lang="en-US" sz="1050" dirty="0">
                          <a:solidFill>
                            <a:srgbClr val="043F52"/>
                          </a:solidFill>
                          <a:latin typeface="Calibri" pitchFamily="34" charset="0"/>
                          <a:ea typeface="Calibri" pitchFamily="34" charset="-122"/>
                          <a:cs typeface="Calibri" pitchFamily="34" charset="-120"/>
                        </a:rPr>
                        <a:t>97,5</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tcPr>
                </a:tc>
                <a:tc>
                  <a:txBody>
                    <a:bodyPr/>
                    <a:lstStyle/>
                    <a:p>
                      <a:pPr indent="0" marL="0">
                        <a:buNone/>
                      </a:pPr>
                      <a:r>
                        <a:rPr lang="en-US" sz="1050" dirty="0">
                          <a:solidFill>
                            <a:srgbClr val="043F52"/>
                          </a:solidFill>
                          <a:latin typeface="Calibri" pitchFamily="34" charset="0"/>
                          <a:ea typeface="Calibri" pitchFamily="34" charset="-122"/>
                          <a:cs typeface="Calibri" pitchFamily="34" charset="-120"/>
                        </a:rPr>
                        <a:t>218,4</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tcPr>
                </a:tc>
              </a:tr>
              <a:tr h="246888">
                <a:tc>
                  <a:txBody>
                    <a:bodyPr/>
                    <a:lstStyle/>
                    <a:p>
                      <a:pPr indent="0" marL="0">
                        <a:buNone/>
                      </a:pPr>
                      <a:r>
                        <a:rPr lang="en-US" sz="1050" dirty="0">
                          <a:solidFill>
                            <a:srgbClr val="043F52"/>
                          </a:solidFill>
                          <a:latin typeface="Calibri" pitchFamily="34" charset="0"/>
                          <a:ea typeface="Calibri" pitchFamily="34" charset="-122"/>
                          <a:cs typeface="Calibri" pitchFamily="34" charset="-120"/>
                        </a:rPr>
                        <a:t>B</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tcPr>
                </a:tc>
                <a:tc>
                  <a:txBody>
                    <a:bodyPr/>
                    <a:lstStyle/>
                    <a:p>
                      <a:pPr indent="0" marL="0">
                        <a:buNone/>
                      </a:pPr>
                      <a:r>
                        <a:rPr lang="en-US" sz="1050" dirty="0">
                          <a:solidFill>
                            <a:srgbClr val="043F52"/>
                          </a:solidFill>
                          <a:latin typeface="Calibri" pitchFamily="34" charset="0"/>
                          <a:ea typeface="Calibri" pitchFamily="34" charset="-122"/>
                          <a:cs typeface="Calibri" pitchFamily="34" charset="-120"/>
                        </a:rPr>
                        <a:t>704</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tcPr>
                </a:tc>
                <a:tc>
                  <a:txBody>
                    <a:bodyPr/>
                    <a:lstStyle/>
                    <a:p>
                      <a:pPr indent="0" marL="0">
                        <a:buNone/>
                      </a:pPr>
                      <a:r>
                        <a:rPr lang="en-US" sz="1050" dirty="0">
                          <a:solidFill>
                            <a:srgbClr val="043F52"/>
                          </a:solidFill>
                          <a:latin typeface="Calibri" pitchFamily="34" charset="0"/>
                          <a:ea typeface="Calibri" pitchFamily="34" charset="-122"/>
                          <a:cs typeface="Calibri" pitchFamily="34" charset="-120"/>
                        </a:rPr>
                        <a:t>4,6 %</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tcPr>
                </a:tc>
                <a:tc>
                  <a:txBody>
                    <a:bodyPr/>
                    <a:lstStyle/>
                    <a:p>
                      <a:pPr indent="0" marL="0">
                        <a:buNone/>
                      </a:pPr>
                      <a:r>
                        <a:rPr lang="en-US" sz="1050" dirty="0">
                          <a:solidFill>
                            <a:srgbClr val="043F52"/>
                          </a:solidFill>
                          <a:latin typeface="Calibri" pitchFamily="34" charset="0"/>
                          <a:ea typeface="Calibri" pitchFamily="34" charset="-122"/>
                          <a:cs typeface="Calibri" pitchFamily="34" charset="-120"/>
                        </a:rPr>
                        <a:t>295,7</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tcPr>
                </a:tc>
                <a:tc>
                  <a:txBody>
                    <a:bodyPr/>
                    <a:lstStyle/>
                    <a:p>
                      <a:pPr indent="0" marL="0">
                        <a:buNone/>
                      </a:pPr>
                      <a:r>
                        <a:rPr lang="en-US" sz="1050" dirty="0">
                          <a:solidFill>
                            <a:srgbClr val="043F52"/>
                          </a:solidFill>
                          <a:latin typeface="Calibri" pitchFamily="34" charset="0"/>
                          <a:ea typeface="Calibri" pitchFamily="34" charset="-122"/>
                          <a:cs typeface="Calibri" pitchFamily="34" charset="-120"/>
                        </a:rPr>
                        <a:t>58,3</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tcPr>
                </a:tc>
                <a:tc>
                  <a:txBody>
                    <a:bodyPr/>
                    <a:lstStyle/>
                    <a:p>
                      <a:pPr indent="0" marL="0">
                        <a:buNone/>
                      </a:pPr>
                      <a:r>
                        <a:rPr lang="en-US" sz="1050" dirty="0">
                          <a:solidFill>
                            <a:srgbClr val="043F52"/>
                          </a:solidFill>
                          <a:latin typeface="Calibri" pitchFamily="34" charset="0"/>
                          <a:ea typeface="Calibri" pitchFamily="34" charset="-122"/>
                          <a:cs typeface="Calibri" pitchFamily="34" charset="-120"/>
                        </a:rPr>
                        <a:t>237,4</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tcPr>
                </a:tc>
              </a:tr>
              <a:tr h="246888">
                <a:tc>
                  <a:txBody>
                    <a:bodyPr/>
                    <a:lstStyle/>
                    <a:p>
                      <a:pPr indent="0" marL="0">
                        <a:buNone/>
                      </a:pPr>
                      <a:r>
                        <a:rPr lang="en-US" sz="1050" dirty="0">
                          <a:solidFill>
                            <a:srgbClr val="043F52"/>
                          </a:solidFill>
                          <a:latin typeface="Calibri" pitchFamily="34" charset="0"/>
                          <a:ea typeface="Calibri" pitchFamily="34" charset="-122"/>
                          <a:cs typeface="Calibri" pitchFamily="34" charset="-120"/>
                        </a:rPr>
                        <a:t>D</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tcPr>
                </a:tc>
                <a:tc>
                  <a:txBody>
                    <a:bodyPr/>
                    <a:lstStyle/>
                    <a:p>
                      <a:pPr indent="0" marL="0">
                        <a:buNone/>
                      </a:pPr>
                      <a:r>
                        <a:rPr lang="en-US" sz="1050" dirty="0">
                          <a:solidFill>
                            <a:srgbClr val="043F52"/>
                          </a:solidFill>
                          <a:latin typeface="Calibri" pitchFamily="34" charset="0"/>
                          <a:ea typeface="Calibri" pitchFamily="34" charset="-122"/>
                          <a:cs typeface="Calibri" pitchFamily="34" charset="-120"/>
                        </a:rPr>
                        <a:t>632</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tcPr>
                </a:tc>
                <a:tc>
                  <a:txBody>
                    <a:bodyPr/>
                    <a:lstStyle/>
                    <a:p>
                      <a:pPr indent="0" marL="0">
                        <a:buNone/>
                      </a:pPr>
                      <a:r>
                        <a:rPr lang="en-US" sz="1050" dirty="0">
                          <a:solidFill>
                            <a:srgbClr val="043F52"/>
                          </a:solidFill>
                          <a:latin typeface="Calibri" pitchFamily="34" charset="0"/>
                          <a:ea typeface="Calibri" pitchFamily="34" charset="-122"/>
                          <a:cs typeface="Calibri" pitchFamily="34" charset="-120"/>
                        </a:rPr>
                        <a:t>5,1 %*</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tcPr>
                </a:tc>
                <a:tc>
                  <a:txBody>
                    <a:bodyPr/>
                    <a:lstStyle/>
                    <a:p>
                      <a:pPr indent="0" marL="0">
                        <a:buNone/>
                      </a:pPr>
                      <a:r>
                        <a:rPr lang="en-US" sz="1050" dirty="0">
                          <a:solidFill>
                            <a:srgbClr val="043F52"/>
                          </a:solidFill>
                          <a:latin typeface="Calibri" pitchFamily="34" charset="0"/>
                          <a:ea typeface="Calibri" pitchFamily="34" charset="-122"/>
                          <a:cs typeface="Calibri" pitchFamily="34" charset="-120"/>
                        </a:rPr>
                        <a:t>265,4</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tcPr>
                </a:tc>
                <a:tc>
                  <a:txBody>
                    <a:bodyPr/>
                    <a:lstStyle/>
                    <a:p>
                      <a:pPr indent="0" marL="0">
                        <a:buNone/>
                      </a:pPr>
                      <a:r>
                        <a:rPr lang="en-US" sz="1050" dirty="0">
                          <a:solidFill>
                            <a:srgbClr val="043F52"/>
                          </a:solidFill>
                          <a:latin typeface="Calibri" pitchFamily="34" charset="0"/>
                          <a:ea typeface="Calibri" pitchFamily="34" charset="-122"/>
                          <a:cs typeface="Calibri" pitchFamily="34" charset="-120"/>
                        </a:rPr>
                        <a:t>58,0</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tcPr>
                </a:tc>
                <a:tc>
                  <a:txBody>
                    <a:bodyPr/>
                    <a:lstStyle/>
                    <a:p>
                      <a:pPr indent="0" marL="0">
                        <a:buNone/>
                      </a:pPr>
                      <a:r>
                        <a:rPr lang="en-US" sz="1050" dirty="0">
                          <a:solidFill>
                            <a:srgbClr val="043F52"/>
                          </a:solidFill>
                          <a:latin typeface="Calibri" pitchFamily="34" charset="0"/>
                          <a:ea typeface="Calibri" pitchFamily="34" charset="-122"/>
                          <a:cs typeface="Calibri" pitchFamily="34" charset="-120"/>
                        </a:rPr>
                        <a:t>207,4</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tcPr>
                </a:tc>
              </a:tr>
              <a:tr h="246888">
                <a:tc>
                  <a:txBody>
                    <a:bodyPr/>
                    <a:lstStyle/>
                    <a:p>
                      <a:pPr indent="0" marL="0">
                        <a:buNone/>
                      </a:pPr>
                      <a:r>
                        <a:rPr lang="en-US" sz="1050" dirty="0">
                          <a:solidFill>
                            <a:srgbClr val="043F52"/>
                          </a:solidFill>
                          <a:latin typeface="Calibri" pitchFamily="34" charset="0"/>
                          <a:ea typeface="Calibri" pitchFamily="34" charset="-122"/>
                          <a:cs typeface="Calibri" pitchFamily="34" charset="-120"/>
                        </a:rPr>
                        <a:t>C</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tcPr>
                </a:tc>
                <a:tc>
                  <a:txBody>
                    <a:bodyPr/>
                    <a:lstStyle/>
                    <a:p>
                      <a:pPr indent="0" marL="0">
                        <a:buNone/>
                      </a:pPr>
                      <a:r>
                        <a:rPr lang="en-US" sz="1050" dirty="0">
                          <a:solidFill>
                            <a:srgbClr val="043F52"/>
                          </a:solidFill>
                          <a:latin typeface="Calibri" pitchFamily="34" charset="0"/>
                          <a:ea typeface="Calibri" pitchFamily="34" charset="-122"/>
                          <a:cs typeface="Calibri" pitchFamily="34" charset="-120"/>
                        </a:rPr>
                        <a:t>1.184</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tcPr>
                </a:tc>
                <a:tc>
                  <a:txBody>
                    <a:bodyPr/>
                    <a:lstStyle/>
                    <a:p>
                      <a:pPr indent="0" marL="0">
                        <a:buNone/>
                      </a:pPr>
                      <a:r>
                        <a:rPr lang="en-US" sz="1050" dirty="0">
                          <a:solidFill>
                            <a:srgbClr val="043F52"/>
                          </a:solidFill>
                          <a:latin typeface="Calibri" pitchFamily="34" charset="0"/>
                          <a:ea typeface="Calibri" pitchFamily="34" charset="-122"/>
                          <a:cs typeface="Calibri" pitchFamily="34" charset="-120"/>
                        </a:rPr>
                        <a:t>6,4 %</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tcPr>
                </a:tc>
                <a:tc>
                  <a:txBody>
                    <a:bodyPr/>
                    <a:lstStyle/>
                    <a:p>
                      <a:pPr indent="0" marL="0">
                        <a:buNone/>
                      </a:pPr>
                      <a:r>
                        <a:rPr lang="en-US" sz="1050" dirty="0">
                          <a:solidFill>
                            <a:srgbClr val="043F52"/>
                          </a:solidFill>
                          <a:latin typeface="Calibri" pitchFamily="34" charset="0"/>
                          <a:ea typeface="Calibri" pitchFamily="34" charset="-122"/>
                          <a:cs typeface="Calibri" pitchFamily="34" charset="-120"/>
                        </a:rPr>
                        <a:t>497,3</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tcPr>
                </a:tc>
                <a:tc>
                  <a:txBody>
                    <a:bodyPr/>
                    <a:lstStyle/>
                    <a:p>
                      <a:pPr indent="0" marL="0">
                        <a:buNone/>
                      </a:pPr>
                      <a:r>
                        <a:rPr lang="en-US" sz="1050" dirty="0">
                          <a:solidFill>
                            <a:srgbClr val="043F52"/>
                          </a:solidFill>
                          <a:latin typeface="Calibri" pitchFamily="34" charset="0"/>
                          <a:ea typeface="Calibri" pitchFamily="34" charset="-122"/>
                          <a:cs typeface="Calibri" pitchFamily="34" charset="-120"/>
                        </a:rPr>
                        <a:t>136,4</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tcPr>
                </a:tc>
                <a:tc>
                  <a:txBody>
                    <a:bodyPr/>
                    <a:lstStyle/>
                    <a:p>
                      <a:pPr indent="0" marL="0">
                        <a:buNone/>
                      </a:pPr>
                      <a:r>
                        <a:rPr lang="en-US" sz="1050" dirty="0">
                          <a:solidFill>
                            <a:srgbClr val="043F52"/>
                          </a:solidFill>
                          <a:latin typeface="Calibri" pitchFamily="34" charset="0"/>
                          <a:ea typeface="Calibri" pitchFamily="34" charset="-122"/>
                          <a:cs typeface="Calibri" pitchFamily="34" charset="-120"/>
                        </a:rPr>
                        <a:t>360,9 (no confiable)</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tcPr>
                </a:tc>
              </a:tr>
            </a:tbl>
          </a:graphicData>
        </a:graphic>
      </p:graphicFrame>
      <p:sp>
        <p:nvSpPr>
          <p:cNvPr id="8" name="Text 4"/>
          <p:cNvSpPr txBox="1"/>
          <p:nvPr/>
        </p:nvSpPr>
        <p:spPr>
          <a:xfrm>
            <a:off x="7406640" y="3108960"/>
            <a:ext cx="4325112" cy="685800"/>
          </a:xfrm>
          <a:prstGeom prst="rect">
            <a:avLst/>
          </a:prstGeom>
          <a:noFill/>
          <a:ln/>
        </p:spPr>
        <p:txBody>
          <a:bodyPr wrap="square" lIns="0" tIns="0" rIns="0" bIns="0" rtlCol="0" anchor="ctr"/>
          <a:lstStyle/>
          <a:p>
            <a:pPr indent="0" marL="0">
              <a:buNone/>
            </a:pPr>
            <a:r>
              <a:rPr lang="en-US" sz="900" dirty="0">
                <a:solidFill>
                  <a:srgbClr val="4A6A72"/>
                </a:solidFill>
                <a:latin typeface="Calibri" pitchFamily="34" charset="0"/>
                <a:ea typeface="Calibri" pitchFamily="34" charset="-122"/>
                <a:cs typeface="Calibri" pitchFamily="34" charset="-120"/>
              </a:rPr>
              <a:t>* Mora no reportada para D; se asume la de la herramienta actual. Valor incremental de D si +3,1 pp es uplift de conversión: 248 × 328 k = 81 M/mes. Sensibilidad B vs. A con pérdida por mora de 1,0 / 1,8 / 2,5 / 3,5 M: 263/237/215/182 vs. 262/218/181/126.</a:t>
            </a:r>
            <a:endParaRPr lang="en-US" sz="900" dirty="0"/>
          </a:p>
        </p:txBody>
      </p:sp>
      <p:sp>
        <p:nvSpPr>
          <p:cNvPr id="9" name="Text 5"/>
          <p:cNvSpPr txBox="1"/>
          <p:nvPr/>
        </p:nvSpPr>
        <p:spPr>
          <a:xfrm>
            <a:off x="457200" y="3840480"/>
            <a:ext cx="5486400" cy="292608"/>
          </a:xfrm>
          <a:prstGeom prst="rect">
            <a:avLst/>
          </a:prstGeom>
          <a:noFill/>
          <a:ln/>
        </p:spPr>
        <p:txBody>
          <a:bodyPr wrap="square" lIns="0" tIns="0" rIns="0" bIns="0" rtlCol="0" anchor="ctr"/>
          <a:lstStyle/>
          <a:p>
            <a:pPr indent="0" marL="0">
              <a:buNone/>
            </a:pPr>
            <a:r>
              <a:rPr lang="en-US" sz="1200" b="1" dirty="0">
                <a:solidFill>
                  <a:srgbClr val="043F52"/>
                </a:solidFill>
                <a:latin typeface="Calibri" pitchFamily="34" charset="0"/>
                <a:ea typeface="Calibri" pitchFamily="34" charset="-122"/>
                <a:cs typeface="Calibri" pitchFamily="34" charset="-120"/>
              </a:rPr>
              <a:t>Tamaños de muestra (α 5 %, potencia 80 %) y costo del holdout</a:t>
            </a:r>
            <a:endParaRPr lang="en-US" sz="1200" dirty="0"/>
          </a:p>
        </p:txBody>
      </p:sp>
      <p:graphicFrame>
        <p:nvGraphicFramePr>
          <p:cNvPr id="22" name="Table 2"/>
          <p:cNvGraphicFramePr>
            <a:graphicFrameLocks noGrp="1"/>
          </p:cNvGraphicFramePr>
          <p:nvPr>
            <p:extLst>
              <p:ext uri="{D42A27DB-BD31-4B8C-83A1-F6EECF244321}">
                <p14:modId xmlns:p14="http://schemas.microsoft.com/office/powerpoint/2010/main" val="1579011935"/>
              </p:ext>
            </p:extLst>
          </p:nvPr>
        </p:nvGraphicFramePr>
        <p:xfrm>
          <a:off x="457200" y="4160520"/>
          <a:ext cx="5212080" cy="914400"/>
        </p:xfrm>
        <a:graphic>
          <a:graphicData uri="http://schemas.openxmlformats.org/drawingml/2006/table">
            <a:tbl>
              <a:tblPr/>
              <a:tblGrid>
                <a:gridCol w="2240280"/>
                <a:gridCol w="1554480"/>
                <a:gridCol w="1417320"/>
              </a:tblGrid>
              <a:tr h="219456">
                <a:tc>
                  <a:txBody>
                    <a:bodyPr/>
                    <a:lstStyle/>
                    <a:p>
                      <a:pPr indent="0" marL="0">
                        <a:buNone/>
                      </a:pPr>
                      <a:r>
                        <a:rPr lang="en-US" sz="1050" b="1" dirty="0">
                          <a:solidFill>
                            <a:srgbClr val="043F52"/>
                          </a:solidFill>
                          <a:latin typeface="Calibri" pitchFamily="34" charset="0"/>
                          <a:ea typeface="Calibri" pitchFamily="34" charset="-122"/>
                          <a:cs typeface="Calibri" pitchFamily="34" charset="-120"/>
                        </a:rPr>
                        <a:t>Hipótesis</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solidFill>
                      <a:srgbClr val="EEF8F7"/>
                    </a:solidFill>
                  </a:tcPr>
                </a:tc>
                <a:tc>
                  <a:txBody>
                    <a:bodyPr/>
                    <a:lstStyle/>
                    <a:p>
                      <a:pPr indent="0" marL="0">
                        <a:buNone/>
                      </a:pPr>
                      <a:r>
                        <a:rPr lang="en-US" sz="1050" b="1" dirty="0">
                          <a:solidFill>
                            <a:srgbClr val="043F52"/>
                          </a:solidFill>
                          <a:latin typeface="Calibri" pitchFamily="34" charset="0"/>
                          <a:ea typeface="Calibri" pitchFamily="34" charset="-122"/>
                          <a:cs typeface="Calibri" pitchFamily="34" charset="-120"/>
                        </a:rPr>
                        <a:t>n</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solidFill>
                      <a:srgbClr val="EEF8F7"/>
                    </a:solidFill>
                  </a:tcPr>
                </a:tc>
                <a:tc>
                  <a:txBody>
                    <a:bodyPr/>
                    <a:lstStyle/>
                    <a:p>
                      <a:pPr indent="0" marL="0">
                        <a:buNone/>
                      </a:pPr>
                      <a:r>
                        <a:rPr lang="en-US" sz="1050" b="1" dirty="0">
                          <a:solidFill>
                            <a:srgbClr val="043F52"/>
                          </a:solidFill>
                          <a:latin typeface="Calibri" pitchFamily="34" charset="0"/>
                          <a:ea typeface="Calibri" pitchFamily="34" charset="-122"/>
                          <a:cs typeface="Calibri" pitchFamily="34" charset="-120"/>
                        </a:rPr>
                        <a:t>Meses · costo</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solidFill>
                      <a:srgbClr val="EEF8F7"/>
                    </a:solidFill>
                  </a:tcPr>
                </a:tc>
              </a:tr>
              <a:tr h="219456">
                <a:tc>
                  <a:txBody>
                    <a:bodyPr/>
                    <a:lstStyle/>
                    <a:p>
                      <a:pPr indent="0" marL="0">
                        <a:buNone/>
                      </a:pPr>
                      <a:r>
                        <a:rPr lang="en-US" sz="1050" dirty="0">
                          <a:solidFill>
                            <a:srgbClr val="043F52"/>
                          </a:solidFill>
                          <a:latin typeface="Calibri" pitchFamily="34" charset="0"/>
                          <a:ea typeface="Calibri" pitchFamily="34" charset="-122"/>
                          <a:cs typeface="Calibri" pitchFamily="34" charset="-120"/>
                        </a:rPr>
                        <a:t>Conv. 3,6 % a 4,5 / 5,4 / 7,2 %</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tcPr>
                </a:tc>
                <a:tc>
                  <a:txBody>
                    <a:bodyPr/>
                    <a:lstStyle/>
                    <a:p>
                      <a:pPr indent="0" marL="0">
                        <a:buNone/>
                      </a:pPr>
                      <a:r>
                        <a:rPr lang="en-US" sz="1050" dirty="0">
                          <a:solidFill>
                            <a:srgbClr val="043F52"/>
                          </a:solidFill>
                          <a:latin typeface="Calibri" pitchFamily="34" charset="0"/>
                          <a:ea typeface="Calibri" pitchFamily="34" charset="-122"/>
                          <a:cs typeface="Calibri" pitchFamily="34" charset="-120"/>
                        </a:rPr>
                        <a:t>7.530 / 2.081 / 618 / brazo</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tcPr>
                </a:tc>
                <a:tc>
                  <a:txBody>
                    <a:bodyPr/>
                    <a:lstStyle/>
                    <a:p>
                      <a:pPr indent="0" marL="0">
                        <a:buNone/>
                      </a:pPr>
                      <a:r>
                        <a:rPr lang="en-US" sz="1050" dirty="0">
                          <a:solidFill>
                            <a:srgbClr val="043F52"/>
                          </a:solidFill>
                          <a:latin typeface="Calibri" pitchFamily="34" charset="0"/>
                          <a:ea typeface="Calibri" pitchFamily="34" charset="-122"/>
                          <a:cs typeface="Calibri" pitchFamily="34" charset="-120"/>
                        </a:rPr>
                        <a:t>2 / 1 / 1 meses</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tcPr>
                </a:tc>
              </a:tr>
              <a:tr h="219456">
                <a:tc>
                  <a:txBody>
                    <a:bodyPr/>
                    <a:lstStyle/>
                    <a:p>
                      <a:pPr indent="0" marL="0">
                        <a:buNone/>
                      </a:pPr>
                      <a:r>
                        <a:rPr lang="en-US" sz="1050" dirty="0">
                          <a:solidFill>
                            <a:srgbClr val="043F52"/>
                          </a:solidFill>
                          <a:latin typeface="Calibri" pitchFamily="34" charset="0"/>
                          <a:ea typeface="Calibri" pitchFamily="34" charset="-122"/>
                          <a:cs typeface="Calibri" pitchFamily="34" charset="-120"/>
                        </a:rPr>
                        <a:t>Mora 5,1 % a 7,2 % (renovados)</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tcPr>
                </a:tc>
                <a:tc>
                  <a:txBody>
                    <a:bodyPr/>
                    <a:lstStyle/>
                    <a:p>
                      <a:pPr indent="0" marL="0">
                        <a:buNone/>
                      </a:pPr>
                      <a:r>
                        <a:rPr lang="en-US" sz="1050" dirty="0">
                          <a:solidFill>
                            <a:srgbClr val="043F52"/>
                          </a:solidFill>
                          <a:latin typeface="Calibri" pitchFamily="34" charset="0"/>
                          <a:ea typeface="Calibri" pitchFamily="34" charset="-122"/>
                          <a:cs typeface="Calibri" pitchFamily="34" charset="-120"/>
                        </a:rPr>
                        <a:t>2.053 renovados por brazo</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tcPr>
                </a:tc>
                <a:tc>
                  <a:txBody>
                    <a:bodyPr/>
                    <a:lstStyle/>
                    <a:p>
                      <a:pPr indent="0" marL="0">
                        <a:buNone/>
                      </a:pPr>
                      <a:r>
                        <a:rPr lang="en-US" sz="1050" dirty="0">
                          <a:solidFill>
                            <a:srgbClr val="043F52"/>
                          </a:solidFill>
                          <a:latin typeface="Calibri" pitchFamily="34" charset="0"/>
                          <a:ea typeface="Calibri" pitchFamily="34" charset="-122"/>
                          <a:cs typeface="Calibri" pitchFamily="34" charset="-120"/>
                        </a:rPr>
                        <a:t>fuera del piloto</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tcPr>
                </a:tc>
              </a:tr>
              <a:tr h="219456">
                <a:tc>
                  <a:txBody>
                    <a:bodyPr/>
                    <a:lstStyle/>
                    <a:p>
                      <a:pPr indent="0" marL="0">
                        <a:buNone/>
                      </a:pPr>
                      <a:r>
                        <a:rPr lang="en-US" sz="1050" dirty="0">
                          <a:solidFill>
                            <a:srgbClr val="043F52"/>
                          </a:solidFill>
                          <a:latin typeface="Calibri" pitchFamily="34" charset="0"/>
                          <a:ea typeface="Calibri" pitchFamily="34" charset="-122"/>
                          <a:cs typeface="Calibri" pitchFamily="34" charset="-120"/>
                        </a:rPr>
                        <a:t>Holdout 5 %, +1,7 pp (conservador)</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tcPr>
                </a:tc>
                <a:tc>
                  <a:txBody>
                    <a:bodyPr/>
                    <a:lstStyle/>
                    <a:p>
                      <a:pPr indent="0" marL="0">
                        <a:buNone/>
                      </a:pPr>
                      <a:r>
                        <a:rPr lang="en-US" sz="1050" dirty="0">
                          <a:solidFill>
                            <a:srgbClr val="043F52"/>
                          </a:solidFill>
                          <a:latin typeface="Calibri" pitchFamily="34" charset="0"/>
                          <a:ea typeface="Calibri" pitchFamily="34" charset="-122"/>
                          <a:cs typeface="Calibri" pitchFamily="34" charset="-120"/>
                        </a:rPr>
                        <a:t>1.856 en holdout</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tcPr>
                </a:tc>
                <a:tc>
                  <a:txBody>
                    <a:bodyPr/>
                    <a:lstStyle/>
                    <a:p>
                      <a:pPr indent="0" marL="0">
                        <a:buNone/>
                      </a:pPr>
                      <a:r>
                        <a:rPr lang="en-US" sz="1050" dirty="0">
                          <a:solidFill>
                            <a:srgbClr val="043F52"/>
                          </a:solidFill>
                          <a:latin typeface="Calibri" pitchFamily="34" charset="0"/>
                          <a:ea typeface="Calibri" pitchFamily="34" charset="-122"/>
                          <a:cs typeface="Calibri" pitchFamily="34" charset="-120"/>
                        </a:rPr>
                        <a:t>2,3 meses · 4,6 M/mes</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tcPr>
                </a:tc>
              </a:tr>
              <a:tr h="219456">
                <a:tc>
                  <a:txBody>
                    <a:bodyPr/>
                    <a:lstStyle/>
                    <a:p>
                      <a:pPr indent="0" marL="0">
                        <a:buNone/>
                      </a:pPr>
                      <a:r>
                        <a:rPr lang="en-US" sz="1050" dirty="0">
                          <a:solidFill>
                            <a:srgbClr val="043F52"/>
                          </a:solidFill>
                          <a:latin typeface="Calibri" pitchFamily="34" charset="0"/>
                          <a:ea typeface="Calibri" pitchFamily="34" charset="-122"/>
                          <a:cs typeface="Calibri" pitchFamily="34" charset="-120"/>
                        </a:rPr>
                        <a:t>Holdout 5 %, +3,8 pp (plausible, B)</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tcPr>
                </a:tc>
                <a:tc>
                  <a:txBody>
                    <a:bodyPr/>
                    <a:lstStyle/>
                    <a:p>
                      <a:pPr indent="0" marL="0">
                        <a:buNone/>
                      </a:pPr>
                      <a:r>
                        <a:rPr lang="en-US" sz="1050" dirty="0">
                          <a:solidFill>
                            <a:srgbClr val="043F52"/>
                          </a:solidFill>
                          <a:latin typeface="Calibri" pitchFamily="34" charset="0"/>
                          <a:ea typeface="Calibri" pitchFamily="34" charset="-122"/>
                          <a:cs typeface="Calibri" pitchFamily="34" charset="-120"/>
                        </a:rPr>
                        <a:t>444 en holdout</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tcPr>
                </a:tc>
                <a:tc>
                  <a:txBody>
                    <a:bodyPr/>
                    <a:lstStyle/>
                    <a:p>
                      <a:pPr indent="0" marL="0">
                        <a:buNone/>
                      </a:pPr>
                      <a:r>
                        <a:rPr lang="en-US" sz="1050" dirty="0">
                          <a:solidFill>
                            <a:srgbClr val="043F52"/>
                          </a:solidFill>
                          <a:latin typeface="Calibri" pitchFamily="34" charset="0"/>
                          <a:ea typeface="Calibri" pitchFamily="34" charset="-122"/>
                          <a:cs typeface="Calibri" pitchFamily="34" charset="-120"/>
                        </a:rPr>
                        <a:t>0,6 meses · 10,3 M/mes</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tcPr>
                </a:tc>
              </a:tr>
              <a:tr h="219456">
                <a:tc>
                  <a:txBody>
                    <a:bodyPr/>
                    <a:lstStyle/>
                    <a:p>
                      <a:pPr indent="0" marL="0">
                        <a:buNone/>
                      </a:pPr>
                      <a:r>
                        <a:rPr lang="en-US" sz="1050" dirty="0">
                          <a:solidFill>
                            <a:srgbClr val="043F52"/>
                          </a:solidFill>
                          <a:latin typeface="Calibri" pitchFamily="34" charset="0"/>
                          <a:ea typeface="Calibri" pitchFamily="34" charset="-122"/>
                          <a:cs typeface="Calibri" pitchFamily="34" charset="-120"/>
                        </a:rPr>
                        <a:t>Holdout 4 / 6 %, +2,5 pp</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tcPr>
                </a:tc>
                <a:tc>
                  <a:txBody>
                    <a:bodyPr/>
                    <a:lstStyle/>
                    <a:p>
                      <a:pPr indent="0" marL="0">
                        <a:buNone/>
                      </a:pPr>
                      <a:r>
                        <a:rPr lang="en-US" sz="1050" dirty="0">
                          <a:solidFill>
                            <a:srgbClr val="043F52"/>
                          </a:solidFill>
                          <a:latin typeface="Calibri" pitchFamily="34" charset="0"/>
                          <a:ea typeface="Calibri" pitchFamily="34" charset="-122"/>
                          <a:cs typeface="Calibri" pitchFamily="34" charset="-120"/>
                        </a:rPr>
                        <a:t>790 / 1.053 en holdout</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tcPr>
                </a:tc>
                <a:tc>
                  <a:txBody>
                    <a:bodyPr/>
                    <a:lstStyle/>
                    <a:p>
                      <a:pPr indent="0" marL="0">
                        <a:buNone/>
                      </a:pPr>
                      <a:r>
                        <a:rPr lang="en-US" sz="1050" dirty="0">
                          <a:solidFill>
                            <a:srgbClr val="043F52"/>
                          </a:solidFill>
                          <a:latin typeface="Calibri" pitchFamily="34" charset="0"/>
                          <a:ea typeface="Calibri" pitchFamily="34" charset="-122"/>
                          <a:cs typeface="Calibri" pitchFamily="34" charset="-120"/>
                        </a:rPr>
                        <a:t>1,0 / 1,3 m · 6,7 M/mes</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tcPr>
                </a:tc>
              </a:tr>
              <a:tr h="219456">
                <a:tc>
                  <a:txBody>
                    <a:bodyPr/>
                    <a:lstStyle/>
                    <a:p>
                      <a:pPr indent="0" marL="0">
                        <a:buNone/>
                      </a:pPr>
                      <a:r>
                        <a:rPr lang="en-US" sz="1050" dirty="0">
                          <a:solidFill>
                            <a:srgbClr val="043F52"/>
                          </a:solidFill>
                          <a:latin typeface="Calibri" pitchFamily="34" charset="0"/>
                          <a:ea typeface="Calibri" pitchFamily="34" charset="-122"/>
                          <a:cs typeface="Calibri" pitchFamily="34" charset="-120"/>
                        </a:rPr>
                        <a:t>A − B reportada (8.000 c/u)</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tcPr>
                </a:tc>
                <a:tc>
                  <a:txBody>
                    <a:bodyPr/>
                    <a:lstStyle/>
                    <a:p>
                      <a:pPr indent="0" marL="0">
                        <a:buNone/>
                      </a:pPr>
                      <a:r>
                        <a:rPr lang="en-US" sz="1050" dirty="0">
                          <a:solidFill>
                            <a:srgbClr val="043F52"/>
                          </a:solidFill>
                          <a:latin typeface="Calibri" pitchFamily="34" charset="0"/>
                          <a:ea typeface="Calibri" pitchFamily="34" charset="-122"/>
                          <a:cs typeface="Calibri" pitchFamily="34" charset="-120"/>
                        </a:rPr>
                        <a:t>conv. z 1,32 (p 0,19)</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tcPr>
                </a:tc>
                <a:tc>
                  <a:txBody>
                    <a:bodyPr/>
                    <a:lstStyle/>
                    <a:p>
                      <a:pPr indent="0" marL="0">
                        <a:buNone/>
                      </a:pPr>
                      <a:r>
                        <a:rPr lang="en-US" sz="1050" dirty="0">
                          <a:solidFill>
                            <a:srgbClr val="043F52"/>
                          </a:solidFill>
                          <a:latin typeface="Calibri" pitchFamily="34" charset="0"/>
                          <a:ea typeface="Calibri" pitchFamily="34" charset="-122"/>
                          <a:cs typeface="Calibri" pitchFamily="34" charset="-120"/>
                        </a:rPr>
                        <a:t>mora z 2,11 (p 0,03)</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tcPr>
                </a:tc>
              </a:tr>
            </a:tbl>
          </a:graphicData>
        </a:graphic>
      </p:graphicFrame>
      <p:sp>
        <p:nvSpPr>
          <p:cNvPr id="11" name="Text 6"/>
          <p:cNvSpPr txBox="1"/>
          <p:nvPr/>
        </p:nvSpPr>
        <p:spPr>
          <a:xfrm>
            <a:off x="5943600" y="3840480"/>
            <a:ext cx="5760720" cy="292608"/>
          </a:xfrm>
          <a:prstGeom prst="rect">
            <a:avLst/>
          </a:prstGeom>
          <a:noFill/>
          <a:ln/>
        </p:spPr>
        <p:txBody>
          <a:bodyPr wrap="square" lIns="0" tIns="0" rIns="0" bIns="0" rtlCol="0" anchor="ctr"/>
          <a:lstStyle/>
          <a:p>
            <a:pPr indent="0" marL="0">
              <a:buNone/>
            </a:pPr>
            <a:r>
              <a:rPr lang="en-US" sz="1200" b="1" dirty="0">
                <a:solidFill>
                  <a:srgbClr val="043F52"/>
                </a:solidFill>
                <a:latin typeface="Calibri" pitchFamily="34" charset="0"/>
                <a:ea typeface="Calibri" pitchFamily="34" charset="-122"/>
                <a:cs typeface="Calibri" pitchFamily="34" charset="-120"/>
              </a:rPr>
              <a:t>Variables excluidas del ranking, por motivo</a:t>
            </a:r>
            <a:endParaRPr lang="en-US" sz="1200" dirty="0"/>
          </a:p>
        </p:txBody>
      </p:sp>
      <p:graphicFrame>
        <p:nvGraphicFramePr>
          <p:cNvPr id="29" name="Table 3"/>
          <p:cNvGraphicFramePr>
            <a:graphicFrameLocks noGrp="1"/>
          </p:cNvGraphicFramePr>
          <p:nvPr>
            <p:extLst>
              <p:ext uri="{D42A27DB-BD31-4B8C-83A1-F6EECF244321}">
                <p14:modId xmlns:p14="http://schemas.microsoft.com/office/powerpoint/2010/main" val="1579011935"/>
              </p:ext>
            </p:extLst>
          </p:nvPr>
        </p:nvGraphicFramePr>
        <p:xfrm>
          <a:off x="5943600" y="4160520"/>
          <a:ext cx="5788152" cy="914400"/>
        </p:xfrm>
        <a:graphic>
          <a:graphicData uri="http://schemas.openxmlformats.org/drawingml/2006/table">
            <a:tbl>
              <a:tblPr/>
              <a:tblGrid>
                <a:gridCol w="1143000"/>
                <a:gridCol w="3108960"/>
                <a:gridCol w="1536192"/>
              </a:tblGrid>
              <a:tr h="329184">
                <a:tc>
                  <a:txBody>
                    <a:bodyPr/>
                    <a:lstStyle/>
                    <a:p>
                      <a:pPr indent="0" marL="0">
                        <a:buNone/>
                      </a:pPr>
                      <a:r>
                        <a:rPr lang="en-US" sz="1050" b="1" dirty="0">
                          <a:solidFill>
                            <a:srgbClr val="043F52"/>
                          </a:solidFill>
                          <a:latin typeface="Calibri" pitchFamily="34" charset="0"/>
                          <a:ea typeface="Calibri" pitchFamily="34" charset="-122"/>
                          <a:cs typeface="Calibri" pitchFamily="34" charset="-120"/>
                        </a:rPr>
                        <a:t>Motivo</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solidFill>
                      <a:srgbClr val="EEF8F7"/>
                    </a:solidFill>
                  </a:tcPr>
                </a:tc>
                <a:tc>
                  <a:txBody>
                    <a:bodyPr/>
                    <a:lstStyle/>
                    <a:p>
                      <a:pPr indent="0" marL="0">
                        <a:buNone/>
                      </a:pPr>
                      <a:r>
                        <a:rPr lang="en-US" sz="1050" b="1" dirty="0">
                          <a:solidFill>
                            <a:srgbClr val="043F52"/>
                          </a:solidFill>
                          <a:latin typeface="Calibri" pitchFamily="34" charset="0"/>
                          <a:ea typeface="Calibri" pitchFamily="34" charset="-122"/>
                          <a:cs typeface="Calibri" pitchFamily="34" charset="-120"/>
                        </a:rPr>
                        <a:t>Variables</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solidFill>
                      <a:srgbClr val="EEF8F7"/>
                    </a:solidFill>
                  </a:tcPr>
                </a:tc>
                <a:tc>
                  <a:txBody>
                    <a:bodyPr/>
                    <a:lstStyle/>
                    <a:p>
                      <a:pPr indent="0" marL="0">
                        <a:buNone/>
                      </a:pPr>
                      <a:r>
                        <a:rPr lang="en-US" sz="1050" b="1" dirty="0">
                          <a:solidFill>
                            <a:srgbClr val="043F52"/>
                          </a:solidFill>
                          <a:latin typeface="Calibri" pitchFamily="34" charset="0"/>
                          <a:ea typeface="Calibri" pitchFamily="34" charset="-122"/>
                          <a:cs typeface="Calibri" pitchFamily="34" charset="-120"/>
                        </a:rPr>
                        <a:t>Tratamiento</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solidFill>
                      <a:srgbClr val="EEF8F7"/>
                    </a:solidFill>
                  </a:tcPr>
                </a:tc>
              </a:tr>
              <a:tr h="329184">
                <a:tc>
                  <a:txBody>
                    <a:bodyPr/>
                    <a:lstStyle/>
                    <a:p>
                      <a:pPr indent="0" marL="0">
                        <a:buNone/>
                      </a:pPr>
                      <a:r>
                        <a:rPr lang="en-US" sz="1050" dirty="0">
                          <a:solidFill>
                            <a:srgbClr val="043F52"/>
                          </a:solidFill>
                          <a:latin typeface="Calibri" pitchFamily="34" charset="0"/>
                          <a:ea typeface="Calibri" pitchFamily="34" charset="-122"/>
                          <a:cs typeface="Calibri" pitchFamily="34" charset="-120"/>
                        </a:rPr>
                        <a:t>Fuga / resultado</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tcPr>
                </a:tc>
                <a:tc>
                  <a:txBody>
                    <a:bodyPr/>
                    <a:lstStyle/>
                    <a:p>
                      <a:pPr indent="0" marL="0">
                        <a:buNone/>
                      </a:pPr>
                      <a:r>
                        <a:rPr lang="en-US" sz="1050" dirty="0">
                          <a:solidFill>
                            <a:srgbClr val="043F52"/>
                          </a:solidFill>
                          <a:latin typeface="Calibri" pitchFamily="34" charset="0"/>
                          <a:ea typeface="Calibri" pitchFamily="34" charset="-122"/>
                          <a:cs typeface="Calibri" pitchFamily="34" charset="-120"/>
                        </a:rPr>
                        <a:t>resultado_gestion_30d, dias_hasta_renovacion, mora30_post_renovacion, renovo_30d</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tcPr>
                </a:tc>
                <a:tc>
                  <a:txBody>
                    <a:bodyPr/>
                    <a:lstStyle/>
                    <a:p>
                      <a:pPr indent="0" marL="0">
                        <a:buNone/>
                      </a:pPr>
                      <a:r>
                        <a:rPr lang="en-US" sz="1050" dirty="0">
                          <a:solidFill>
                            <a:srgbClr val="043F52"/>
                          </a:solidFill>
                          <a:latin typeface="Calibri" pitchFamily="34" charset="0"/>
                          <a:ea typeface="Calibri" pitchFamily="34" charset="-122"/>
                          <a:cs typeface="Calibri" pitchFamily="34" charset="-120"/>
                        </a:rPr>
                        <a:t>Solo como target o evaluación</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tcPr>
                </a:tc>
              </a:tr>
              <a:tr h="329184">
                <a:tc>
                  <a:txBody>
                    <a:bodyPr/>
                    <a:lstStyle/>
                    <a:p>
                      <a:pPr indent="0" marL="0">
                        <a:buNone/>
                      </a:pPr>
                      <a:r>
                        <a:rPr lang="en-US" sz="1050" dirty="0">
                          <a:solidFill>
                            <a:srgbClr val="043F52"/>
                          </a:solidFill>
                          <a:latin typeface="Calibri" pitchFamily="34" charset="0"/>
                          <a:ea typeface="Calibri" pitchFamily="34" charset="-122"/>
                          <a:cs typeface="Calibri" pitchFamily="34" charset="-120"/>
                        </a:rPr>
                        <a:t>Disponibilidad temporal</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tcPr>
                </a:tc>
                <a:tc>
                  <a:txBody>
                    <a:bodyPr/>
                    <a:lstStyle/>
                    <a:p>
                      <a:pPr indent="0" marL="0">
                        <a:buNone/>
                      </a:pPr>
                      <a:r>
                        <a:rPr lang="en-US" sz="1050" dirty="0">
                          <a:solidFill>
                            <a:srgbClr val="043F52"/>
                          </a:solidFill>
                          <a:latin typeface="Calibri" pitchFamily="34" charset="0"/>
                          <a:ea typeface="Calibri" pitchFamily="34" charset="-122"/>
                          <a:cs typeface="Calibri" pitchFamily="34" charset="-120"/>
                        </a:rPr>
                        <a:t>fecha_ultimo_contacto / dias_ultimo_contacto (51 en el mes, 1 &gt; corte); cuotas_pagadas_pct, monto_preaprobado</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tcPr>
                </a:tc>
                <a:tc>
                  <a:txBody>
                    <a:bodyPr/>
                    <a:lstStyle/>
                    <a:p>
                      <a:pPr indent="0" marL="0">
                        <a:buNone/>
                      </a:pPr>
                      <a:r>
                        <a:rPr lang="en-US" sz="1050" dirty="0">
                          <a:solidFill>
                            <a:srgbClr val="043F52"/>
                          </a:solidFill>
                          <a:latin typeface="Calibri" pitchFamily="34" charset="0"/>
                          <a:ea typeface="Calibri" pitchFamily="34" charset="-122"/>
                          <a:cs typeface="Calibri" pitchFamily="34" charset="-120"/>
                        </a:rPr>
                        <a:t>Fuera del set; sin costo (AUC 0,50–0,53); vuelven con timestamp</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tcPr>
                </a:tc>
              </a:tr>
              <a:tr h="329184">
                <a:tc>
                  <a:txBody>
                    <a:bodyPr/>
                    <a:lstStyle/>
                    <a:p>
                      <a:pPr indent="0" marL="0">
                        <a:buNone/>
                      </a:pPr>
                      <a:r>
                        <a:rPr lang="en-US" sz="1050" dirty="0">
                          <a:solidFill>
                            <a:srgbClr val="043F52"/>
                          </a:solidFill>
                          <a:latin typeface="Calibri" pitchFamily="34" charset="0"/>
                          <a:ea typeface="Calibri" pitchFamily="34" charset="-122"/>
                          <a:cs typeface="Calibri" pitchFamily="34" charset="-120"/>
                        </a:rPr>
                        <a:t>Calidad</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tcPr>
                </a:tc>
                <a:tc>
                  <a:txBody>
                    <a:bodyPr/>
                    <a:lstStyle/>
                    <a:p>
                      <a:pPr indent="0" marL="0">
                        <a:buNone/>
                      </a:pPr>
                      <a:r>
                        <a:rPr lang="en-US" sz="1050" dirty="0">
                          <a:solidFill>
                            <a:srgbClr val="043F52"/>
                          </a:solidFill>
                          <a:latin typeface="Calibri" pitchFamily="34" charset="0"/>
                          <a:ea typeface="Calibri" pitchFamily="34" charset="-122"/>
                          <a:cs typeface="Calibri" pitchFamily="34" charset="-120"/>
                        </a:rPr>
                        <a:t>max_mora_6m &lt; 0, saldo_ahorros &lt; 0, endeudamiento &gt; 1, duplicado; buró dentro de 150–950</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tcPr>
                </a:tc>
                <a:tc>
                  <a:txBody>
                    <a:bodyPr/>
                    <a:lstStyle/>
                    <a:p>
                      <a:pPr indent="0" marL="0">
                        <a:buNone/>
                      </a:pPr>
                      <a:r>
                        <a:rPr lang="en-US" sz="1050" dirty="0">
                          <a:solidFill>
                            <a:srgbClr val="043F52"/>
                          </a:solidFill>
                          <a:latin typeface="Calibri" pitchFamily="34" charset="0"/>
                          <a:ea typeface="Calibri" pitchFamily="34" charset="-122"/>
                          <a:cs typeface="Calibri" pitchFamily="34" charset="-120"/>
                        </a:rPr>
                        <a:t>Validar y corregir con registro; confirmar central y vigencia</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tcPr>
                </a:tc>
              </a:tr>
              <a:tr h="329184">
                <a:tc>
                  <a:txBody>
                    <a:bodyPr/>
                    <a:lstStyle/>
                    <a:p>
                      <a:pPr indent="0" marL="0">
                        <a:buNone/>
                      </a:pPr>
                      <a:r>
                        <a:rPr lang="en-US" sz="1050" dirty="0">
                          <a:solidFill>
                            <a:srgbClr val="043F52"/>
                          </a:solidFill>
                          <a:latin typeface="Calibri" pitchFamily="34" charset="0"/>
                          <a:ea typeface="Calibri" pitchFamily="34" charset="-122"/>
                          <a:cs typeface="Calibri" pitchFamily="34" charset="-120"/>
                        </a:rPr>
                        <a:t>Uso responsable y sesgo</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tcPr>
                </a:tc>
                <a:tc>
                  <a:txBody>
                    <a:bodyPr/>
                    <a:lstStyle/>
                    <a:p>
                      <a:pPr indent="0" marL="0">
                        <a:buNone/>
                      </a:pPr>
                      <a:r>
                        <a:rPr lang="en-US" sz="1050" dirty="0">
                          <a:solidFill>
                            <a:srgbClr val="043F52"/>
                          </a:solidFill>
                          <a:latin typeface="Calibri" pitchFamily="34" charset="0"/>
                          <a:ea typeface="Calibri" pitchFamily="34" charset="-122"/>
                          <a:cs typeface="Calibri" pitchFamily="34" charset="-120"/>
                        </a:rPr>
                        <a:t>recibe_remesas, contactabilidad_score, regional (solo capacidad), cliente_id</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tcPr>
                </a:tc>
                <a:tc>
                  <a:txBody>
                    <a:bodyPr/>
                    <a:lstStyle/>
                    <a:p>
                      <a:pPr indent="0" marL="0">
                        <a:buNone/>
                      </a:pPr>
                      <a:r>
                        <a:rPr lang="en-US" sz="1050" dirty="0">
                          <a:solidFill>
                            <a:srgbClr val="043F52"/>
                          </a:solidFill>
                          <a:latin typeface="Calibri" pitchFamily="34" charset="0"/>
                          <a:ea typeface="Calibri" pitchFamily="34" charset="-122"/>
                          <a:cs typeface="Calibri" pitchFamily="34" charset="-120"/>
                        </a:rPr>
                        <a:t>Fuera del score; grupos de equidad</a:t>
                      </a:r>
                      <a:endParaRPr lang="en-US" sz="1050" dirty="0">
                        <a:latin typeface="Calibri" charset="0"/>
                        <a:ea typeface="Calibri" charset="0"/>
                        <a:cs typeface="Calibri" charset="0"/>
                      </a:endParaRPr>
                    </a:p>
                  </a:txBody>
                  <a:tcPr marL="50800" marR="50800" marT="25400" marB="25400" anchor="ctr">
                    <a:lnL w="9525" cap="flat" cmpd="sng" algn="ctr">
                      <a:solidFill>
                        <a:srgbClr val="D6E8E6"/>
                      </a:solidFill>
                      <a:prstDash val="solid"/>
                      <a:round/>
                      <a:headEnd type="none" w="med" len="med"/>
                      <a:tailEnd type="none" w="med" len="med"/>
                    </a:lnL>
                    <a:lnR w="9525" cap="flat" cmpd="sng" algn="ctr">
                      <a:solidFill>
                        <a:srgbClr val="D6E8E6"/>
                      </a:solidFill>
                      <a:prstDash val="solid"/>
                      <a:round/>
                      <a:headEnd type="none" w="med" len="med"/>
                      <a:tailEnd type="none" w="med" len="med"/>
                    </a:lnR>
                    <a:lnT w="9525" cap="flat" cmpd="sng" algn="ctr">
                      <a:solidFill>
                        <a:srgbClr val="D6E8E6"/>
                      </a:solidFill>
                      <a:prstDash val="solid"/>
                      <a:round/>
                      <a:headEnd type="none" w="med" len="med"/>
                      <a:tailEnd type="none" w="med" len="med"/>
                    </a:lnT>
                    <a:lnB w="9525" cap="flat" cmpd="sng" algn="ctr">
                      <a:solidFill>
                        <a:srgbClr val="D6E8E6"/>
                      </a:solidFill>
                      <a:prstDash val="solid"/>
                      <a:round/>
                      <a:headEnd type="none" w="med" len="med"/>
                      <a:tailEnd type="none" w="med" len="med"/>
                    </a:lnB>
                  </a:tcPr>
                </a:tc>
              </a:tr>
            </a:tbl>
          </a:graphicData>
        </a:graphic>
      </p:graphicFrame>
      <p:sp>
        <p:nvSpPr>
          <p:cNvPr id="13" name="Text 7"/>
          <p:cNvSpPr txBox="1"/>
          <p:nvPr/>
        </p:nvSpPr>
        <p:spPr>
          <a:xfrm>
            <a:off x="457200" y="5870448"/>
            <a:ext cx="5212080" cy="502920"/>
          </a:xfrm>
          <a:prstGeom prst="rect">
            <a:avLst/>
          </a:prstGeom>
          <a:noFill/>
          <a:ln/>
        </p:spPr>
        <p:txBody>
          <a:bodyPr wrap="square" lIns="0" tIns="0" rIns="0" bIns="0" rtlCol="0" anchor="t"/>
          <a:lstStyle/>
          <a:p>
            <a:pPr indent="0" marL="0">
              <a:buNone/>
            </a:pPr>
            <a:r>
              <a:rPr lang="en-US" sz="800" i="1" dirty="0">
                <a:solidFill>
                  <a:srgbClr val="4A6A72"/>
                </a:solidFill>
                <a:latin typeface="Calibri" pitchFamily="34" charset="0"/>
                <a:ea typeface="Calibri" pitchFamily="34" charset="-122"/>
                <a:cs typeface="Calibri" pitchFamily="34" charset="-120"/>
              </a:rPr>
              <a:t>Código y cálculos: work/01_diagnostico.py, 02_modelos_fuga.py y 03_economia_capacidad_piloto.py sobre una copia del anexo; el original no se modificó (hash verificado). Jerga: SRM = sample ratio mismatch; CSI = índice de estabilidad por variable; CUPED = ajuste por covariable pre-periodo.</a:t>
            </a:r>
            <a:endParaRPr lang="en-US" sz="800" dirty="0"/>
          </a:p>
        </p:txBody>
      </p:sp>
      <p:sp>
        <p:nvSpPr>
          <p:cNvPr id="25" name="Slide Number Placeholder 0"/>
          <p:cNvSpPr>
            <a:spLocks noGrp="1"/>
          </p:cNvSpPr>
          <p:nvPr>
            <p:ph type="sldNum" sz="quarter" idx="4294967295"/>
          </p:nvPr>
        </p:nvSpPr>
        <p:spPr>
          <a:xfrm>
            <a:off x="11247120" y="6446520"/>
            <a:ext cx="54864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4A6A72"/>
                </a:solidFill>
              </a:defRPr>
            </a:lvl1pPr>
          </a:lstStyle>
          <a:p>
            <a:pPr algn="r"/>
            <a:fld id="{F7021451-1387-4CA6-816F-3879F97B5CBC}" type="slidenum">
              <a:rPr b="0" lang="en-US"/>
              <a:t>7</a:t>
            </a:fld>
            <a:endParaRPr lang="en-US"/>
          </a:p>
        </p:txBody>
      </p:sp>
    </p:spTree>
  </p:cSld>
  <p:clrMapOvr>
    <a:masterClrMapping/>
  </p:clrMapOvr>
</p:sld>
</file>

<file path=ppt/theme/theme1.xml><?xml version="1.0" encoding="utf-8"?>
<a:theme xmlns:a="http://schemas.openxmlformats.org/drawingml/2006/main" name="Dia pastel">
  <a:themeElements>
    <a:clrScheme name="Dia pastel">
      <a:dk1>
        <a:srgbClr val="043F52"/>
      </a:dk1>
      <a:lt1>
        <a:srgbClr val="FFFFFF"/>
      </a:lt1>
      <a:dk2>
        <a:srgbClr val="4A6A72"/>
      </a:dk2>
      <a:lt2>
        <a:srgbClr val="EEF8F7"/>
      </a:lt2>
      <a:accent1>
        <a:srgbClr val="009786"/>
      </a:accent1>
      <a:accent2>
        <a:srgbClr val="8670C0"/>
      </a:accent2>
      <a:accent3>
        <a:srgbClr val="BA673F"/>
      </a:accent3>
      <a:accent4>
        <a:srgbClr val="2B88C0"/>
      </a:accent4>
      <a:accent5>
        <a:srgbClr val="B4608A"/>
      </a:accent5>
      <a:accent6>
        <a:srgbClr val="A28218"/>
      </a:accent6>
      <a:hlink>
        <a:srgbClr val="005477"/>
      </a:hlink>
      <a:folHlink>
        <a:srgbClr val="005477"/>
      </a:folHlink>
    </a:clrScheme>
    <a:fontScheme name="Dia pastel">
      <a:majorFont>
        <a:latin typeface="Calibri"/>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Davinson Arteaga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Banco W - Priorizacion de renovaciones</dc:title>
  <dc:subject>PptxGenJS Presentation</dc:subject>
  <dc:creator>Davinson Arteaga</dc:creator>
  <cp:lastModifiedBy>Davinson Arteaga</cp:lastModifiedBy>
  <cp:revision>1</cp:revision>
  <dcterms:created xsi:type="dcterms:W3CDTF">2026-10-19T01:11:59Z</dcterms:created>
  <dcterms:modified xsi:type="dcterms:W3CDTF">2026-10-19T01:11:59Z</dcterms:modified>
</cp:coreProperties>
</file>